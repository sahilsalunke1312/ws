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1430000" cy="6445250"/>
  <p:notesSz cx="11430000" cy="6445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0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091C5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rgbClr val="1E2F6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091C5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rgbClr val="1E2F6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091C5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091C5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4" y="1257300"/>
            <a:ext cx="10255250" cy="1102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091C5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5025" y="2230437"/>
            <a:ext cx="4801870" cy="2749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rgbClr val="1E2F6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  <p:sp>
          <p:nvSpPr>
            <p:cNvPr id="5" name="object 5">
              <a:hlinkClick r:id="rId3"/>
            </p:cNvPr>
            <p:cNvSpPr/>
            <p:nvPr/>
          </p:nvSpPr>
          <p:spPr>
            <a:xfrm>
              <a:off x="9639299" y="5961129"/>
              <a:ext cx="1644650" cy="352425"/>
            </a:xfrm>
            <a:custGeom>
              <a:avLst/>
              <a:gdLst/>
              <a:ahLst/>
              <a:cxnLst/>
              <a:rect l="l" t="t" r="r" b="b"/>
              <a:pathLst>
                <a:path w="1644650" h="352425">
                  <a:moveTo>
                    <a:pt x="1644041" y="0"/>
                  </a:moveTo>
                  <a:lnTo>
                    <a:pt x="0" y="0"/>
                  </a:lnTo>
                  <a:lnTo>
                    <a:pt x="0" y="352294"/>
                  </a:lnTo>
                  <a:lnTo>
                    <a:pt x="1644041" y="352294"/>
                  </a:lnTo>
                  <a:lnTo>
                    <a:pt x="1644041" y="0"/>
                  </a:lnTo>
                  <a:close/>
                </a:path>
              </a:pathLst>
            </a:custGeom>
            <a:solidFill>
              <a:srgbClr val="0177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hlinkClick r:id="rId3"/>
            </p:cNvPr>
            <p:cNvSpPr/>
            <p:nvPr/>
          </p:nvSpPr>
          <p:spPr>
            <a:xfrm>
              <a:off x="9639299" y="5961129"/>
              <a:ext cx="1644650" cy="352425"/>
            </a:xfrm>
            <a:custGeom>
              <a:avLst/>
              <a:gdLst/>
              <a:ahLst/>
              <a:cxnLst/>
              <a:rect l="l" t="t" r="r" b="b"/>
              <a:pathLst>
                <a:path w="1644650" h="352425">
                  <a:moveTo>
                    <a:pt x="0" y="352294"/>
                  </a:moveTo>
                  <a:lnTo>
                    <a:pt x="1644041" y="352294"/>
                  </a:lnTo>
                  <a:lnTo>
                    <a:pt x="1644041" y="0"/>
                  </a:lnTo>
                  <a:lnTo>
                    <a:pt x="0" y="0"/>
                  </a:lnTo>
                  <a:lnTo>
                    <a:pt x="0" y="352294"/>
                  </a:lnTo>
                  <a:close/>
                </a:path>
              </a:pathLst>
            </a:custGeom>
            <a:ln w="15657">
              <a:solidFill>
                <a:srgbClr val="0177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87375" y="1661318"/>
            <a:ext cx="5480050" cy="157289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 marR="5080">
              <a:lnSpc>
                <a:spcPct val="110500"/>
              </a:lnSpc>
              <a:spcBef>
                <a:spcPts val="545"/>
              </a:spcBef>
            </a:pPr>
            <a:r>
              <a:rPr spc="254" dirty="0"/>
              <a:t>Planning</a:t>
            </a:r>
            <a:r>
              <a:rPr spc="-100" dirty="0"/>
              <a:t> </a:t>
            </a:r>
            <a:r>
              <a:rPr spc="260" dirty="0"/>
              <a:t>and</a:t>
            </a:r>
            <a:r>
              <a:rPr spc="-95" dirty="0"/>
              <a:t> </a:t>
            </a:r>
            <a:r>
              <a:rPr spc="185" dirty="0"/>
              <a:t>Preparation </a:t>
            </a:r>
            <a:r>
              <a:rPr lang="en-US" sz="2700" spc="90" dirty="0"/>
              <a:t>Sub</a:t>
            </a:r>
            <a:r>
              <a:rPr sz="2700" spc="90" dirty="0"/>
              <a:t>:</a:t>
            </a:r>
            <a:r>
              <a:rPr sz="2700" spc="-80" dirty="0"/>
              <a:t> </a:t>
            </a:r>
            <a:r>
              <a:rPr lang="en-US" sz="2700" spc="-80" dirty="0"/>
              <a:t>CL (</a:t>
            </a:r>
            <a:r>
              <a:rPr sz="2700" spc="114" dirty="0"/>
              <a:t>Information</a:t>
            </a:r>
            <a:r>
              <a:rPr sz="2700" spc="-75" dirty="0"/>
              <a:t> </a:t>
            </a:r>
            <a:r>
              <a:rPr sz="2700" spc="190" dirty="0"/>
              <a:t>Security</a:t>
            </a:r>
            <a:r>
              <a:rPr sz="2700" spc="-75" dirty="0"/>
              <a:t> </a:t>
            </a:r>
            <a:r>
              <a:rPr sz="2700" spc="150" dirty="0"/>
              <a:t>Policies </a:t>
            </a:r>
            <a:r>
              <a:rPr sz="2700" spc="195" dirty="0"/>
              <a:t>and</a:t>
            </a:r>
            <a:r>
              <a:rPr sz="2700" spc="-85" dirty="0"/>
              <a:t> </a:t>
            </a:r>
            <a:r>
              <a:rPr sz="2700" spc="175" dirty="0"/>
              <a:t>Strategies</a:t>
            </a:r>
            <a:r>
              <a:rPr lang="en-US" sz="2700" spc="175" dirty="0"/>
              <a:t>)</a:t>
            </a:r>
            <a:endParaRPr sz="2700" dirty="0"/>
          </a:p>
        </p:txBody>
      </p:sp>
      <p:sp>
        <p:nvSpPr>
          <p:cNvPr id="8" name="object 8"/>
          <p:cNvSpPr/>
          <p:nvPr/>
        </p:nvSpPr>
        <p:spPr>
          <a:xfrm>
            <a:off x="638175" y="41529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8175" y="44862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87375" y="3525837"/>
            <a:ext cx="4481195" cy="10839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40" dirty="0">
                <a:solidFill>
                  <a:srgbClr val="1E2F62"/>
                </a:solidFill>
                <a:latin typeface="Calibri"/>
                <a:cs typeface="Calibri"/>
              </a:rPr>
              <a:t>Topic</a:t>
            </a:r>
            <a:r>
              <a:rPr sz="1650" b="1" spc="-4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65" dirty="0">
                <a:solidFill>
                  <a:srgbClr val="1E2F62"/>
                </a:solidFill>
                <a:latin typeface="Calibri"/>
                <a:cs typeface="Calibri"/>
              </a:rPr>
              <a:t>5: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spc="145" dirty="0">
                <a:solidFill>
                  <a:srgbClr val="1E2F62"/>
                </a:solidFill>
                <a:latin typeface="Calibri"/>
                <a:cs typeface="Calibri"/>
              </a:rPr>
              <a:t>Planning</a:t>
            </a:r>
            <a:r>
              <a:rPr sz="1650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spc="150" dirty="0">
                <a:solidFill>
                  <a:srgbClr val="1E2F62"/>
                </a:solidFill>
                <a:latin typeface="Calibri"/>
                <a:cs typeface="Calibri"/>
              </a:rPr>
              <a:t>and</a:t>
            </a:r>
            <a:r>
              <a:rPr sz="1650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spc="105" dirty="0">
                <a:solidFill>
                  <a:srgbClr val="1E2F62"/>
                </a:solidFill>
                <a:latin typeface="Calibri"/>
                <a:cs typeface="Calibri"/>
              </a:rPr>
              <a:t>Preparation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50">
              <a:latin typeface="Calibri"/>
              <a:cs typeface="Calibri"/>
            </a:endParaRPr>
          </a:p>
          <a:p>
            <a:pPr marL="504825" lvl="1" indent="-229870">
              <a:lnSpc>
                <a:spcPct val="100000"/>
              </a:lnSpc>
              <a:buAutoNum type="arabicPeriod"/>
              <a:tabLst>
                <a:tab pos="504825" algn="l"/>
              </a:tabLst>
            </a:pPr>
            <a:r>
              <a:rPr sz="1350" spc="60" dirty="0">
                <a:solidFill>
                  <a:srgbClr val="1E2F62"/>
                </a:solidFill>
                <a:latin typeface="Calibri"/>
                <a:cs typeface="Calibri"/>
              </a:rPr>
              <a:t>Introduction</a:t>
            </a:r>
            <a:endParaRPr sz="1350">
              <a:latin typeface="Calibri"/>
              <a:cs typeface="Calibri"/>
            </a:endParaRPr>
          </a:p>
          <a:p>
            <a:pPr marL="547370" lvl="1" indent="-260985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547370" algn="l"/>
              </a:tabLst>
            </a:pPr>
            <a:r>
              <a:rPr sz="1350" spc="85" dirty="0">
                <a:solidFill>
                  <a:srgbClr val="1E2F62"/>
                </a:solidFill>
                <a:latin typeface="Calibri"/>
                <a:cs typeface="Calibri"/>
              </a:rPr>
              <a:t>Objectives</a:t>
            </a:r>
            <a:r>
              <a:rPr sz="1350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350" spc="70" dirty="0">
                <a:solidFill>
                  <a:srgbClr val="1E2F62"/>
                </a:solidFill>
                <a:latin typeface="Calibri"/>
                <a:cs typeface="Calibri"/>
              </a:rPr>
              <a:t>of</a:t>
            </a:r>
            <a:r>
              <a:rPr sz="1350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350" spc="70" dirty="0">
                <a:solidFill>
                  <a:srgbClr val="1E2F62"/>
                </a:solidFill>
                <a:latin typeface="Calibri"/>
                <a:cs typeface="Calibri"/>
              </a:rPr>
              <a:t>Policies,</a:t>
            </a:r>
            <a:r>
              <a:rPr sz="1350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350" spc="90" dirty="0">
                <a:solidFill>
                  <a:srgbClr val="1E2F62"/>
                </a:solidFill>
                <a:latin typeface="Calibri"/>
                <a:cs typeface="Calibri"/>
              </a:rPr>
              <a:t>Standards,</a:t>
            </a:r>
            <a:r>
              <a:rPr sz="1350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350" spc="95" dirty="0">
                <a:solidFill>
                  <a:srgbClr val="1E2F62"/>
                </a:solidFill>
                <a:latin typeface="Calibri"/>
                <a:cs typeface="Calibri"/>
              </a:rPr>
              <a:t>and</a:t>
            </a:r>
            <a:r>
              <a:rPr sz="1350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350" spc="85" dirty="0">
                <a:solidFill>
                  <a:srgbClr val="1E2F62"/>
                </a:solidFill>
                <a:latin typeface="Calibri"/>
                <a:cs typeface="Calibri"/>
              </a:rPr>
              <a:t>Procedures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pc="-210" dirty="0">
                <a:solidFill>
                  <a:srgbClr val="091B53"/>
                </a:solidFill>
              </a:rPr>
              <a:t>5.1</a:t>
            </a:r>
            <a:r>
              <a:rPr spc="-100" dirty="0">
                <a:solidFill>
                  <a:srgbClr val="091B53"/>
                </a:solidFill>
              </a:rPr>
              <a:t> </a:t>
            </a:r>
            <a:r>
              <a:rPr spc="190" dirty="0">
                <a:solidFill>
                  <a:srgbClr val="091B53"/>
                </a:solidFill>
              </a:rPr>
              <a:t>Introduction</a:t>
            </a:r>
            <a:r>
              <a:rPr spc="-100" dirty="0">
                <a:solidFill>
                  <a:srgbClr val="091B53"/>
                </a:solidFill>
              </a:rPr>
              <a:t> </a:t>
            </a:r>
            <a:r>
              <a:rPr spc="345" dirty="0">
                <a:solidFill>
                  <a:srgbClr val="091B53"/>
                </a:solidFill>
              </a:rPr>
              <a:t>–</a:t>
            </a:r>
            <a:r>
              <a:rPr spc="-100" dirty="0">
                <a:solidFill>
                  <a:srgbClr val="091B53"/>
                </a:solidFill>
              </a:rPr>
              <a:t> </a:t>
            </a:r>
            <a:r>
              <a:rPr spc="250" dirty="0">
                <a:solidFill>
                  <a:srgbClr val="091B53"/>
                </a:solidFill>
              </a:rPr>
              <a:t>Planning</a:t>
            </a:r>
            <a:r>
              <a:rPr spc="-95" dirty="0">
                <a:solidFill>
                  <a:srgbClr val="091B53"/>
                </a:solidFill>
              </a:rPr>
              <a:t> </a:t>
            </a:r>
            <a:r>
              <a:rPr spc="254" dirty="0">
                <a:solidFill>
                  <a:srgbClr val="091B53"/>
                </a:solidFill>
              </a:rPr>
              <a:t>and</a:t>
            </a:r>
            <a:r>
              <a:rPr spc="-100" dirty="0">
                <a:solidFill>
                  <a:srgbClr val="091B53"/>
                </a:solidFill>
              </a:rPr>
              <a:t> </a:t>
            </a:r>
            <a:r>
              <a:rPr spc="180" dirty="0">
                <a:solidFill>
                  <a:srgbClr val="091B53"/>
                </a:solidFill>
              </a:rPr>
              <a:t>Preparation</a:t>
            </a: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000" spc="180" dirty="0">
                <a:solidFill>
                  <a:srgbClr val="83C1FA"/>
                </a:solidFill>
              </a:rPr>
              <a:t>What</a:t>
            </a:r>
            <a:r>
              <a:rPr sz="2000" spc="-50" dirty="0">
                <a:solidFill>
                  <a:srgbClr val="83C1FA"/>
                </a:solidFill>
              </a:rPr>
              <a:t> </a:t>
            </a:r>
            <a:r>
              <a:rPr sz="2000" spc="114" dirty="0">
                <a:solidFill>
                  <a:srgbClr val="83C1FA"/>
                </a:solidFill>
              </a:rPr>
              <a:t>is</a:t>
            </a:r>
            <a:r>
              <a:rPr sz="2000" spc="-50" dirty="0">
                <a:solidFill>
                  <a:srgbClr val="83C1FA"/>
                </a:solidFill>
              </a:rPr>
              <a:t> </a:t>
            </a:r>
            <a:r>
              <a:rPr sz="2000" spc="155" dirty="0">
                <a:solidFill>
                  <a:srgbClr val="83C1FA"/>
                </a:solidFill>
              </a:rPr>
              <a:t>Planning</a:t>
            </a:r>
            <a:r>
              <a:rPr sz="2000" spc="-50" dirty="0">
                <a:solidFill>
                  <a:srgbClr val="83C1FA"/>
                </a:solidFill>
              </a:rPr>
              <a:t> </a:t>
            </a:r>
            <a:r>
              <a:rPr sz="2000" spc="100" dirty="0">
                <a:solidFill>
                  <a:srgbClr val="83C1FA"/>
                </a:solidFill>
              </a:rPr>
              <a:t>in</a:t>
            </a:r>
            <a:r>
              <a:rPr sz="2000" spc="-50" dirty="0">
                <a:solidFill>
                  <a:srgbClr val="83C1FA"/>
                </a:solidFill>
              </a:rPr>
              <a:t> </a:t>
            </a:r>
            <a:r>
              <a:rPr sz="2000" spc="100" dirty="0">
                <a:solidFill>
                  <a:srgbClr val="83C1FA"/>
                </a:solidFill>
              </a:rPr>
              <a:t>Information</a:t>
            </a:r>
            <a:r>
              <a:rPr sz="2000" spc="-50" dirty="0">
                <a:solidFill>
                  <a:srgbClr val="83C1FA"/>
                </a:solidFill>
              </a:rPr>
              <a:t> </a:t>
            </a:r>
            <a:r>
              <a:rPr sz="2000" spc="145" dirty="0">
                <a:solidFill>
                  <a:srgbClr val="83C1FA"/>
                </a:solidFill>
              </a:rPr>
              <a:t>Security?</a:t>
            </a:r>
            <a:endParaRPr sz="2000"/>
          </a:p>
        </p:txBody>
      </p:sp>
      <p:sp>
        <p:nvSpPr>
          <p:cNvPr id="3" name="object 3"/>
          <p:cNvSpPr/>
          <p:nvPr/>
        </p:nvSpPr>
        <p:spPr>
          <a:xfrm>
            <a:off x="600074" y="2590799"/>
            <a:ext cx="3295650" cy="1257300"/>
          </a:xfrm>
          <a:custGeom>
            <a:avLst/>
            <a:gdLst/>
            <a:ahLst/>
            <a:cxnLst/>
            <a:rect l="l" t="t" r="r" b="b"/>
            <a:pathLst>
              <a:path w="3295650" h="1257300">
                <a:moveTo>
                  <a:pt x="3175505" y="1257299"/>
                </a:moveTo>
                <a:lnTo>
                  <a:pt x="120144" y="1257299"/>
                </a:lnTo>
                <a:lnTo>
                  <a:pt x="111782" y="1256476"/>
                </a:lnTo>
                <a:lnTo>
                  <a:pt x="71578" y="1244280"/>
                </a:lnTo>
                <a:lnTo>
                  <a:pt x="31692" y="1213667"/>
                </a:lnTo>
                <a:lnTo>
                  <a:pt x="6557" y="1170119"/>
                </a:lnTo>
                <a:lnTo>
                  <a:pt x="0" y="1137155"/>
                </a:lnTo>
                <a:lnTo>
                  <a:pt x="0" y="1128712"/>
                </a:lnTo>
                <a:lnTo>
                  <a:pt x="0" y="120144"/>
                </a:lnTo>
                <a:lnTo>
                  <a:pt x="13019" y="71578"/>
                </a:lnTo>
                <a:lnTo>
                  <a:pt x="43632" y="31691"/>
                </a:lnTo>
                <a:lnTo>
                  <a:pt x="87179" y="6557"/>
                </a:lnTo>
                <a:lnTo>
                  <a:pt x="120144" y="0"/>
                </a:lnTo>
                <a:lnTo>
                  <a:pt x="3175505" y="0"/>
                </a:lnTo>
                <a:lnTo>
                  <a:pt x="3224070" y="13018"/>
                </a:lnTo>
                <a:lnTo>
                  <a:pt x="3263957" y="43632"/>
                </a:lnTo>
                <a:lnTo>
                  <a:pt x="3289092" y="87179"/>
                </a:lnTo>
                <a:lnTo>
                  <a:pt x="3295649" y="120144"/>
                </a:lnTo>
                <a:lnTo>
                  <a:pt x="3295649" y="1137155"/>
                </a:lnTo>
                <a:lnTo>
                  <a:pt x="3282629" y="1185720"/>
                </a:lnTo>
                <a:lnTo>
                  <a:pt x="3252016" y="1225607"/>
                </a:lnTo>
                <a:lnTo>
                  <a:pt x="3208469" y="1250742"/>
                </a:lnTo>
                <a:lnTo>
                  <a:pt x="3183867" y="1256476"/>
                </a:lnTo>
                <a:lnTo>
                  <a:pt x="3175505" y="1257299"/>
                </a:lnTo>
                <a:close/>
              </a:path>
            </a:pathLst>
          </a:custGeom>
          <a:solidFill>
            <a:srgbClr val="CDE6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8824" y="2744787"/>
            <a:ext cx="2886710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25" dirty="0">
                <a:solidFill>
                  <a:srgbClr val="1D2F62"/>
                </a:solidFill>
                <a:latin typeface="Calibri"/>
                <a:cs typeface="Calibri"/>
              </a:rPr>
              <a:t>Planning</a:t>
            </a:r>
            <a:endParaRPr sz="1650">
              <a:latin typeface="Calibri"/>
              <a:cs typeface="Calibri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spc="95" dirty="0">
                <a:solidFill>
                  <a:srgbClr val="1D2F62"/>
                </a:solidFill>
                <a:latin typeface="Calibri"/>
                <a:cs typeface="Calibri"/>
              </a:rPr>
              <a:t>Planning</a:t>
            </a:r>
            <a:r>
              <a:rPr sz="1350" spc="-2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110" dirty="0">
                <a:solidFill>
                  <a:srgbClr val="1D2F62"/>
                </a:solidFill>
                <a:latin typeface="Calibri"/>
                <a:cs typeface="Calibri"/>
              </a:rPr>
              <a:t>means</a:t>
            </a:r>
            <a:r>
              <a:rPr sz="1350" spc="-2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85" dirty="0">
                <a:solidFill>
                  <a:srgbClr val="1D2F62"/>
                </a:solidFill>
                <a:latin typeface="Calibri"/>
                <a:cs typeface="Calibri"/>
              </a:rPr>
              <a:t>thinking</a:t>
            </a:r>
            <a:r>
              <a:rPr sz="1350" spc="-2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60" dirty="0">
                <a:solidFill>
                  <a:srgbClr val="1D2F62"/>
                </a:solidFill>
                <a:latin typeface="Calibri"/>
                <a:cs typeface="Calibri"/>
              </a:rPr>
              <a:t>in</a:t>
            </a:r>
            <a:r>
              <a:rPr sz="1350" spc="-2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85" dirty="0">
                <a:solidFill>
                  <a:srgbClr val="1D2F62"/>
                </a:solidFill>
                <a:latin typeface="Calibri"/>
                <a:cs typeface="Calibri"/>
              </a:rPr>
              <a:t>advance about</a:t>
            </a:r>
            <a:r>
              <a:rPr sz="1350" spc="-2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85" dirty="0">
                <a:solidFill>
                  <a:srgbClr val="1D2F62"/>
                </a:solidFill>
                <a:latin typeface="Calibri"/>
                <a:cs typeface="Calibri"/>
              </a:rPr>
              <a:t>possible</a:t>
            </a:r>
            <a:r>
              <a:rPr sz="1350" spc="-2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90" dirty="0">
                <a:solidFill>
                  <a:srgbClr val="1D2F62"/>
                </a:solidFill>
                <a:latin typeface="Calibri"/>
                <a:cs typeface="Calibri"/>
              </a:rPr>
              <a:t>cyber</a:t>
            </a:r>
            <a:r>
              <a:rPr sz="1350" spc="-2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50" dirty="0">
                <a:solidFill>
                  <a:srgbClr val="1D2F62"/>
                </a:solidFill>
                <a:latin typeface="Calibri"/>
                <a:cs typeface="Calibri"/>
              </a:rPr>
              <a:t>risks.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67174" y="2590799"/>
            <a:ext cx="3295650" cy="1257300"/>
          </a:xfrm>
          <a:custGeom>
            <a:avLst/>
            <a:gdLst/>
            <a:ahLst/>
            <a:cxnLst/>
            <a:rect l="l" t="t" r="r" b="b"/>
            <a:pathLst>
              <a:path w="3295650" h="1257300">
                <a:moveTo>
                  <a:pt x="3175505" y="1257299"/>
                </a:moveTo>
                <a:lnTo>
                  <a:pt x="120144" y="1257299"/>
                </a:lnTo>
                <a:lnTo>
                  <a:pt x="111782" y="1256476"/>
                </a:lnTo>
                <a:lnTo>
                  <a:pt x="71578" y="1244280"/>
                </a:lnTo>
                <a:lnTo>
                  <a:pt x="31691" y="1213667"/>
                </a:lnTo>
                <a:lnTo>
                  <a:pt x="6557" y="1170119"/>
                </a:lnTo>
                <a:lnTo>
                  <a:pt x="0" y="1137155"/>
                </a:lnTo>
                <a:lnTo>
                  <a:pt x="0" y="1128712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1"/>
                </a:lnTo>
                <a:lnTo>
                  <a:pt x="87179" y="6557"/>
                </a:lnTo>
                <a:lnTo>
                  <a:pt x="120144" y="0"/>
                </a:lnTo>
                <a:lnTo>
                  <a:pt x="3175505" y="0"/>
                </a:lnTo>
                <a:lnTo>
                  <a:pt x="3224070" y="13018"/>
                </a:lnTo>
                <a:lnTo>
                  <a:pt x="3263957" y="43632"/>
                </a:lnTo>
                <a:lnTo>
                  <a:pt x="3289092" y="87179"/>
                </a:lnTo>
                <a:lnTo>
                  <a:pt x="3295649" y="120144"/>
                </a:lnTo>
                <a:lnTo>
                  <a:pt x="3295649" y="1137155"/>
                </a:lnTo>
                <a:lnTo>
                  <a:pt x="3282629" y="1185720"/>
                </a:lnTo>
                <a:lnTo>
                  <a:pt x="3252016" y="1225607"/>
                </a:lnTo>
                <a:lnTo>
                  <a:pt x="3208469" y="1250742"/>
                </a:lnTo>
                <a:lnTo>
                  <a:pt x="3183867" y="1256476"/>
                </a:lnTo>
                <a:lnTo>
                  <a:pt x="3175505" y="1257299"/>
                </a:lnTo>
                <a:close/>
              </a:path>
            </a:pathLst>
          </a:custGeom>
          <a:solidFill>
            <a:srgbClr val="CDE6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25925" y="2744787"/>
            <a:ext cx="2839720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95" dirty="0">
                <a:solidFill>
                  <a:srgbClr val="1D2F62"/>
                </a:solidFill>
                <a:latin typeface="Calibri"/>
                <a:cs typeface="Calibri"/>
              </a:rPr>
              <a:t>Preparation</a:t>
            </a:r>
            <a:endParaRPr sz="1650">
              <a:latin typeface="Calibri"/>
              <a:cs typeface="Calibri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spc="75" dirty="0">
                <a:solidFill>
                  <a:srgbClr val="1D2F62"/>
                </a:solidFill>
                <a:latin typeface="Calibri"/>
                <a:cs typeface="Calibri"/>
              </a:rPr>
              <a:t>Preparation</a:t>
            </a:r>
            <a:r>
              <a:rPr sz="1350" spc="-3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110" dirty="0">
                <a:solidFill>
                  <a:srgbClr val="1D2F62"/>
                </a:solidFill>
                <a:latin typeface="Calibri"/>
                <a:cs typeface="Calibri"/>
              </a:rPr>
              <a:t>means</a:t>
            </a:r>
            <a:r>
              <a:rPr sz="1350" spc="-3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100" dirty="0">
                <a:solidFill>
                  <a:srgbClr val="1D2F62"/>
                </a:solidFill>
                <a:latin typeface="Calibri"/>
                <a:cs typeface="Calibri"/>
              </a:rPr>
              <a:t>getting</a:t>
            </a:r>
            <a:r>
              <a:rPr sz="1350" spc="-3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75" dirty="0">
                <a:solidFill>
                  <a:srgbClr val="1D2F62"/>
                </a:solidFill>
                <a:latin typeface="Calibri"/>
                <a:cs typeface="Calibri"/>
              </a:rPr>
              <a:t>ready</a:t>
            </a:r>
            <a:r>
              <a:rPr sz="1350" spc="-3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40" dirty="0">
                <a:solidFill>
                  <a:srgbClr val="1D2F62"/>
                </a:solidFill>
                <a:latin typeface="Calibri"/>
                <a:cs typeface="Calibri"/>
              </a:rPr>
              <a:t>to </a:t>
            </a:r>
            <a:r>
              <a:rPr sz="1350" spc="90" dirty="0">
                <a:solidFill>
                  <a:srgbClr val="1D2F62"/>
                </a:solidFill>
                <a:latin typeface="Calibri"/>
                <a:cs typeface="Calibri"/>
              </a:rPr>
              <a:t>stop</a:t>
            </a:r>
            <a:r>
              <a:rPr sz="1350" spc="-3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55" dirty="0">
                <a:solidFill>
                  <a:srgbClr val="1D2F62"/>
                </a:solidFill>
                <a:latin typeface="Calibri"/>
                <a:cs typeface="Calibri"/>
              </a:rPr>
              <a:t>or</a:t>
            </a:r>
            <a:r>
              <a:rPr sz="1350" spc="-2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80" dirty="0">
                <a:solidFill>
                  <a:srgbClr val="1D2F62"/>
                </a:solidFill>
                <a:latin typeface="Calibri"/>
                <a:cs typeface="Calibri"/>
              </a:rPr>
              <a:t>handle</a:t>
            </a:r>
            <a:r>
              <a:rPr sz="1350" spc="-2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90" dirty="0">
                <a:solidFill>
                  <a:srgbClr val="1D2F62"/>
                </a:solidFill>
                <a:latin typeface="Calibri"/>
                <a:cs typeface="Calibri"/>
              </a:rPr>
              <a:t>cyber</a:t>
            </a:r>
            <a:r>
              <a:rPr sz="1350" spc="-2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70" dirty="0">
                <a:solidFill>
                  <a:srgbClr val="1D2F62"/>
                </a:solidFill>
                <a:latin typeface="Calibri"/>
                <a:cs typeface="Calibri"/>
              </a:rPr>
              <a:t>attacks.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534274" y="2590799"/>
            <a:ext cx="3295650" cy="1257300"/>
          </a:xfrm>
          <a:custGeom>
            <a:avLst/>
            <a:gdLst/>
            <a:ahLst/>
            <a:cxnLst/>
            <a:rect l="l" t="t" r="r" b="b"/>
            <a:pathLst>
              <a:path w="3295650" h="1257300">
                <a:moveTo>
                  <a:pt x="3175504" y="1257299"/>
                </a:moveTo>
                <a:lnTo>
                  <a:pt x="120143" y="1257299"/>
                </a:lnTo>
                <a:lnTo>
                  <a:pt x="111781" y="1256476"/>
                </a:lnTo>
                <a:lnTo>
                  <a:pt x="71578" y="1244280"/>
                </a:lnTo>
                <a:lnTo>
                  <a:pt x="31692" y="1213667"/>
                </a:lnTo>
                <a:lnTo>
                  <a:pt x="6557" y="1170119"/>
                </a:lnTo>
                <a:lnTo>
                  <a:pt x="0" y="1128712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1"/>
                </a:lnTo>
                <a:lnTo>
                  <a:pt x="87178" y="6557"/>
                </a:lnTo>
                <a:lnTo>
                  <a:pt x="120143" y="0"/>
                </a:lnTo>
                <a:lnTo>
                  <a:pt x="3175504" y="0"/>
                </a:lnTo>
                <a:lnTo>
                  <a:pt x="3224070" y="13018"/>
                </a:lnTo>
                <a:lnTo>
                  <a:pt x="3263957" y="43632"/>
                </a:lnTo>
                <a:lnTo>
                  <a:pt x="3289091" y="87179"/>
                </a:lnTo>
                <a:lnTo>
                  <a:pt x="3295649" y="120144"/>
                </a:lnTo>
                <a:lnTo>
                  <a:pt x="3295649" y="1137155"/>
                </a:lnTo>
                <a:lnTo>
                  <a:pt x="3282629" y="1185720"/>
                </a:lnTo>
                <a:lnTo>
                  <a:pt x="3252016" y="1225607"/>
                </a:lnTo>
                <a:lnTo>
                  <a:pt x="3208469" y="1250742"/>
                </a:lnTo>
                <a:lnTo>
                  <a:pt x="3175504" y="1257299"/>
                </a:lnTo>
                <a:close/>
              </a:path>
            </a:pathLst>
          </a:custGeom>
          <a:solidFill>
            <a:srgbClr val="CDE6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693025" y="2744787"/>
            <a:ext cx="2714625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10" dirty="0">
                <a:solidFill>
                  <a:srgbClr val="1D2F62"/>
                </a:solidFill>
                <a:latin typeface="Calibri"/>
                <a:cs typeface="Calibri"/>
              </a:rPr>
              <a:t>Protection</a:t>
            </a:r>
            <a:endParaRPr sz="1650">
              <a:latin typeface="Calibri"/>
              <a:cs typeface="Calibri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dirty="0">
                <a:solidFill>
                  <a:srgbClr val="1D2F62"/>
                </a:solidFill>
                <a:latin typeface="Calibri"/>
                <a:cs typeface="Calibri"/>
              </a:rPr>
              <a:t>It</a:t>
            </a:r>
            <a:r>
              <a:rPr sz="1350" spc="-1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90" dirty="0">
                <a:solidFill>
                  <a:srgbClr val="1D2F62"/>
                </a:solidFill>
                <a:latin typeface="Calibri"/>
                <a:cs typeface="Calibri"/>
              </a:rPr>
              <a:t>helps</a:t>
            </a:r>
            <a:r>
              <a:rPr sz="1350" spc="-1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90" dirty="0">
                <a:solidFill>
                  <a:srgbClr val="1D2F62"/>
                </a:solidFill>
                <a:latin typeface="Calibri"/>
                <a:cs typeface="Calibri"/>
              </a:rPr>
              <a:t>an</a:t>
            </a:r>
            <a:r>
              <a:rPr sz="1350" spc="-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70" dirty="0">
                <a:solidFill>
                  <a:srgbClr val="1D2F62"/>
                </a:solidFill>
                <a:latin typeface="Calibri"/>
                <a:cs typeface="Calibri"/>
              </a:rPr>
              <a:t>organization</a:t>
            </a:r>
            <a:r>
              <a:rPr sz="1350" spc="-1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80" dirty="0">
                <a:solidFill>
                  <a:srgbClr val="1D2F62"/>
                </a:solidFill>
                <a:latin typeface="Calibri"/>
                <a:cs typeface="Calibri"/>
              </a:rPr>
              <a:t>protect</a:t>
            </a:r>
            <a:r>
              <a:rPr sz="1350" spc="-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45" dirty="0">
                <a:solidFill>
                  <a:srgbClr val="1D2F62"/>
                </a:solidFill>
                <a:latin typeface="Calibri"/>
                <a:cs typeface="Calibri"/>
              </a:rPr>
              <a:t>its </a:t>
            </a:r>
            <a:r>
              <a:rPr sz="1350" spc="80" dirty="0">
                <a:solidFill>
                  <a:srgbClr val="1D2F62"/>
                </a:solidFill>
                <a:latin typeface="Calibri"/>
                <a:cs typeface="Calibri"/>
              </a:rPr>
              <a:t>important</a:t>
            </a:r>
            <a:r>
              <a:rPr sz="1350" spc="-1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35" dirty="0">
                <a:solidFill>
                  <a:srgbClr val="1D2F62"/>
                </a:solidFill>
                <a:latin typeface="Calibri"/>
                <a:cs typeface="Calibri"/>
              </a:rPr>
              <a:t>data.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7374" y="4083050"/>
            <a:ext cx="4249420" cy="9067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65" dirty="0">
                <a:solidFill>
                  <a:srgbClr val="F578DE"/>
                </a:solidFill>
                <a:latin typeface="Calibri"/>
                <a:cs typeface="Calibri"/>
              </a:rPr>
              <a:t>Simple</a:t>
            </a:r>
            <a:r>
              <a:rPr sz="2000" b="1" spc="-60" dirty="0">
                <a:solidFill>
                  <a:srgbClr val="F578DE"/>
                </a:solidFill>
                <a:latin typeface="Calibri"/>
                <a:cs typeface="Calibri"/>
              </a:rPr>
              <a:t> </a:t>
            </a:r>
            <a:r>
              <a:rPr sz="2000" b="1" spc="125" dirty="0">
                <a:solidFill>
                  <a:srgbClr val="F578DE"/>
                </a:solidFill>
                <a:latin typeface="Calibri"/>
                <a:cs typeface="Calibri"/>
              </a:rPr>
              <a:t>Meaning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50" b="1" spc="114" dirty="0">
                <a:solidFill>
                  <a:srgbClr val="1D2F62"/>
                </a:solidFill>
                <a:latin typeface="Calibri"/>
                <a:cs typeface="Calibri"/>
              </a:rPr>
              <a:t>"Be</a:t>
            </a:r>
            <a:r>
              <a:rPr sz="1650" b="1" spc="-5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20" dirty="0">
                <a:solidFill>
                  <a:srgbClr val="1D2F62"/>
                </a:solidFill>
                <a:latin typeface="Calibri"/>
                <a:cs typeface="Calibri"/>
              </a:rPr>
              <a:t>ready</a:t>
            </a:r>
            <a:r>
              <a:rPr sz="1650" b="1" spc="-5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14" dirty="0">
                <a:solidFill>
                  <a:srgbClr val="1D2F62"/>
                </a:solidFill>
                <a:latin typeface="Calibri"/>
                <a:cs typeface="Calibri"/>
              </a:rPr>
              <a:t>before</a:t>
            </a:r>
            <a:r>
              <a:rPr sz="1650" b="1" spc="-5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45" dirty="0">
                <a:solidFill>
                  <a:srgbClr val="1D2F62"/>
                </a:solidFill>
                <a:latin typeface="Calibri"/>
                <a:cs typeface="Calibri"/>
              </a:rPr>
              <a:t>a</a:t>
            </a:r>
            <a:r>
              <a:rPr sz="1650" b="1" spc="-5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50" dirty="0">
                <a:solidFill>
                  <a:srgbClr val="1D2F62"/>
                </a:solidFill>
                <a:latin typeface="Calibri"/>
                <a:cs typeface="Calibri"/>
              </a:rPr>
              <a:t>cyber</a:t>
            </a:r>
            <a:r>
              <a:rPr sz="1650" b="1" spc="-5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45" dirty="0">
                <a:solidFill>
                  <a:srgbClr val="1D2F62"/>
                </a:solidFill>
                <a:latin typeface="Calibri"/>
                <a:cs typeface="Calibri"/>
              </a:rPr>
              <a:t>attack</a:t>
            </a:r>
            <a:r>
              <a:rPr sz="1650" b="1" spc="-5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95" dirty="0">
                <a:solidFill>
                  <a:srgbClr val="1D2F62"/>
                </a:solidFill>
                <a:latin typeface="Calibri"/>
                <a:cs typeface="Calibri"/>
              </a:rPr>
              <a:t>happens."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504471" y="5839696"/>
            <a:ext cx="1830705" cy="532765"/>
            <a:chOff x="9504471" y="5839696"/>
            <a:chExt cx="1830705" cy="53276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0244" y="5926074"/>
              <a:ext cx="1754504" cy="4191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512299" y="5847525"/>
              <a:ext cx="1800860" cy="516890"/>
            </a:xfrm>
            <a:custGeom>
              <a:avLst/>
              <a:gdLst/>
              <a:ahLst/>
              <a:cxnLst/>
              <a:rect l="l" t="t" r="r" b="b"/>
              <a:pathLst>
                <a:path w="1800859" h="516889">
                  <a:moveTo>
                    <a:pt x="1800616" y="0"/>
                  </a:moveTo>
                  <a:lnTo>
                    <a:pt x="0" y="0"/>
                  </a:lnTo>
                  <a:lnTo>
                    <a:pt x="0" y="516698"/>
                  </a:lnTo>
                  <a:lnTo>
                    <a:pt x="1800616" y="516698"/>
                  </a:lnTo>
                  <a:lnTo>
                    <a:pt x="1800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512299" y="5847525"/>
              <a:ext cx="1800860" cy="516890"/>
            </a:xfrm>
            <a:custGeom>
              <a:avLst/>
              <a:gdLst/>
              <a:ahLst/>
              <a:cxnLst/>
              <a:rect l="l" t="t" r="r" b="b"/>
              <a:pathLst>
                <a:path w="1800859" h="516889">
                  <a:moveTo>
                    <a:pt x="0" y="516698"/>
                  </a:moveTo>
                  <a:lnTo>
                    <a:pt x="1800616" y="516698"/>
                  </a:lnTo>
                  <a:lnTo>
                    <a:pt x="1800616" y="0"/>
                  </a:lnTo>
                  <a:lnTo>
                    <a:pt x="0" y="0"/>
                  </a:lnTo>
                  <a:lnTo>
                    <a:pt x="0" y="516698"/>
                  </a:lnTo>
                  <a:close/>
                </a:path>
              </a:pathLst>
            </a:custGeom>
            <a:ln w="1565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7374" y="815975"/>
            <a:ext cx="8711565" cy="107696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pc="330" dirty="0">
                <a:solidFill>
                  <a:srgbClr val="091B53"/>
                </a:solidFill>
              </a:rPr>
              <a:t>Why</a:t>
            </a:r>
            <a:r>
              <a:rPr spc="-95" dirty="0">
                <a:solidFill>
                  <a:srgbClr val="091B53"/>
                </a:solidFill>
              </a:rPr>
              <a:t> </a:t>
            </a:r>
            <a:r>
              <a:rPr spc="250" dirty="0">
                <a:solidFill>
                  <a:srgbClr val="091B53"/>
                </a:solidFill>
              </a:rPr>
              <a:t>Planning</a:t>
            </a:r>
            <a:r>
              <a:rPr spc="-95" dirty="0">
                <a:solidFill>
                  <a:srgbClr val="091B53"/>
                </a:solidFill>
              </a:rPr>
              <a:t> </a:t>
            </a:r>
            <a:r>
              <a:rPr spc="254" dirty="0">
                <a:solidFill>
                  <a:srgbClr val="091B53"/>
                </a:solidFill>
              </a:rPr>
              <a:t>and</a:t>
            </a:r>
            <a:r>
              <a:rPr spc="-95" dirty="0">
                <a:solidFill>
                  <a:srgbClr val="091B53"/>
                </a:solidFill>
              </a:rPr>
              <a:t> </a:t>
            </a:r>
            <a:r>
              <a:rPr spc="190" dirty="0">
                <a:solidFill>
                  <a:srgbClr val="091B53"/>
                </a:solidFill>
              </a:rPr>
              <a:t>Preparation</a:t>
            </a:r>
            <a:r>
              <a:rPr spc="-95" dirty="0">
                <a:solidFill>
                  <a:srgbClr val="091B53"/>
                </a:solidFill>
              </a:rPr>
              <a:t> </a:t>
            </a:r>
            <a:r>
              <a:rPr spc="180" dirty="0">
                <a:solidFill>
                  <a:srgbClr val="091B53"/>
                </a:solidFill>
              </a:rPr>
              <a:t>is</a:t>
            </a:r>
            <a:r>
              <a:rPr spc="-95" dirty="0">
                <a:solidFill>
                  <a:srgbClr val="091B53"/>
                </a:solidFill>
              </a:rPr>
              <a:t> </a:t>
            </a:r>
            <a:r>
              <a:rPr spc="195" dirty="0">
                <a:solidFill>
                  <a:srgbClr val="091B53"/>
                </a:solidFill>
              </a:rPr>
              <a:t>Important</a:t>
            </a: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000" spc="150" dirty="0">
                <a:solidFill>
                  <a:srgbClr val="83C1FA"/>
                </a:solidFill>
              </a:rPr>
              <a:t>Key</a:t>
            </a:r>
            <a:r>
              <a:rPr sz="2000" spc="-55" dirty="0">
                <a:solidFill>
                  <a:srgbClr val="83C1FA"/>
                </a:solidFill>
              </a:rPr>
              <a:t> </a:t>
            </a:r>
            <a:r>
              <a:rPr sz="2000" spc="125" dirty="0">
                <a:solidFill>
                  <a:srgbClr val="83C1FA"/>
                </a:solidFill>
              </a:rPr>
              <a:t>Points</a:t>
            </a:r>
            <a:endParaRPr sz="2000"/>
          </a:p>
        </p:txBody>
      </p:sp>
      <p:sp>
        <p:nvSpPr>
          <p:cNvPr id="3" name="object 3"/>
          <p:cNvSpPr/>
          <p:nvPr/>
        </p:nvSpPr>
        <p:spPr>
          <a:xfrm>
            <a:off x="600074" y="2162174"/>
            <a:ext cx="390525" cy="381000"/>
          </a:xfrm>
          <a:custGeom>
            <a:avLst/>
            <a:gdLst/>
            <a:ahLst/>
            <a:cxnLst/>
            <a:rect l="l" t="t" r="r" b="b"/>
            <a:pathLst>
              <a:path w="390525" h="381000">
                <a:moveTo>
                  <a:pt x="270380" y="380999"/>
                </a:moveTo>
                <a:lnTo>
                  <a:pt x="120144" y="380999"/>
                </a:lnTo>
                <a:lnTo>
                  <a:pt x="111782" y="380175"/>
                </a:lnTo>
                <a:lnTo>
                  <a:pt x="71578" y="367980"/>
                </a:lnTo>
                <a:lnTo>
                  <a:pt x="31692" y="337366"/>
                </a:lnTo>
                <a:lnTo>
                  <a:pt x="6557" y="293820"/>
                </a:lnTo>
                <a:lnTo>
                  <a:pt x="0" y="260855"/>
                </a:lnTo>
                <a:lnTo>
                  <a:pt x="0" y="252412"/>
                </a:lnTo>
                <a:lnTo>
                  <a:pt x="0" y="120144"/>
                </a:lnTo>
                <a:lnTo>
                  <a:pt x="13019" y="71578"/>
                </a:lnTo>
                <a:lnTo>
                  <a:pt x="43632" y="31691"/>
                </a:lnTo>
                <a:lnTo>
                  <a:pt x="87179" y="6557"/>
                </a:lnTo>
                <a:lnTo>
                  <a:pt x="120144" y="0"/>
                </a:lnTo>
                <a:lnTo>
                  <a:pt x="270380" y="0"/>
                </a:lnTo>
                <a:lnTo>
                  <a:pt x="318946" y="13018"/>
                </a:lnTo>
                <a:lnTo>
                  <a:pt x="358832" y="43632"/>
                </a:lnTo>
                <a:lnTo>
                  <a:pt x="383967" y="87179"/>
                </a:lnTo>
                <a:lnTo>
                  <a:pt x="390524" y="120144"/>
                </a:lnTo>
                <a:lnTo>
                  <a:pt x="390524" y="260855"/>
                </a:lnTo>
                <a:lnTo>
                  <a:pt x="377505" y="309420"/>
                </a:lnTo>
                <a:lnTo>
                  <a:pt x="346892" y="349307"/>
                </a:lnTo>
                <a:lnTo>
                  <a:pt x="303345" y="374442"/>
                </a:lnTo>
                <a:lnTo>
                  <a:pt x="278742" y="380175"/>
                </a:lnTo>
                <a:lnTo>
                  <a:pt x="270380" y="380999"/>
                </a:lnTo>
                <a:close/>
              </a:path>
            </a:pathLst>
          </a:custGeom>
          <a:solidFill>
            <a:srgbClr val="CDE6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44587" y="2201862"/>
            <a:ext cx="5913120" cy="31972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70" dirty="0">
                <a:solidFill>
                  <a:srgbClr val="1D2F62"/>
                </a:solidFill>
                <a:latin typeface="Calibri"/>
                <a:cs typeface="Calibri"/>
              </a:rPr>
              <a:t>Cyber</a:t>
            </a:r>
            <a:r>
              <a:rPr sz="1650" b="1" spc="-3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45" dirty="0">
                <a:solidFill>
                  <a:srgbClr val="1D2F62"/>
                </a:solidFill>
                <a:latin typeface="Calibri"/>
                <a:cs typeface="Calibri"/>
              </a:rPr>
              <a:t>crimes</a:t>
            </a:r>
            <a:r>
              <a:rPr sz="1650" b="1" spc="-3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00" dirty="0">
                <a:solidFill>
                  <a:srgbClr val="1D2F62"/>
                </a:solidFill>
                <a:latin typeface="Calibri"/>
                <a:cs typeface="Calibri"/>
              </a:rPr>
              <a:t>are</a:t>
            </a:r>
            <a:r>
              <a:rPr sz="1650" b="1" spc="-3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25" dirty="0">
                <a:solidFill>
                  <a:srgbClr val="1D2F62"/>
                </a:solidFill>
                <a:latin typeface="Calibri"/>
                <a:cs typeface="Calibri"/>
              </a:rPr>
              <a:t>increasing</a:t>
            </a:r>
            <a:r>
              <a:rPr sz="1650" b="1" spc="-3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40" dirty="0">
                <a:solidFill>
                  <a:srgbClr val="1D2F62"/>
                </a:solidFill>
                <a:latin typeface="Calibri"/>
                <a:cs typeface="Calibri"/>
              </a:rPr>
              <a:t>daily.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80"/>
              </a:spcBef>
            </a:pP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50" b="1" spc="120" dirty="0">
                <a:solidFill>
                  <a:srgbClr val="1D2F62"/>
                </a:solidFill>
                <a:latin typeface="Calibri"/>
                <a:cs typeface="Calibri"/>
              </a:rPr>
              <a:t>Organizations</a:t>
            </a:r>
            <a:r>
              <a:rPr sz="1650" b="1" spc="-3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05" dirty="0">
                <a:solidFill>
                  <a:srgbClr val="1D2F62"/>
                </a:solidFill>
                <a:latin typeface="Calibri"/>
                <a:cs typeface="Calibri"/>
              </a:rPr>
              <a:t>store</a:t>
            </a:r>
            <a:r>
              <a:rPr sz="1650" b="1" spc="-3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10" dirty="0">
                <a:solidFill>
                  <a:srgbClr val="1D2F62"/>
                </a:solidFill>
                <a:latin typeface="Calibri"/>
                <a:cs typeface="Calibri"/>
              </a:rPr>
              <a:t>sensitive</a:t>
            </a:r>
            <a:r>
              <a:rPr sz="1650" b="1" spc="-3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70" dirty="0">
                <a:solidFill>
                  <a:srgbClr val="1D2F62"/>
                </a:solidFill>
                <a:latin typeface="Calibri"/>
                <a:cs typeface="Calibri"/>
              </a:rPr>
              <a:t>data.</a:t>
            </a:r>
            <a:endParaRPr sz="1650">
              <a:latin typeface="Calibri"/>
              <a:cs typeface="Calibri"/>
            </a:endParaRPr>
          </a:p>
          <a:p>
            <a:pPr marL="12700" marR="5080">
              <a:lnSpc>
                <a:spcPts val="5780"/>
              </a:lnSpc>
              <a:spcBef>
                <a:spcPts val="750"/>
              </a:spcBef>
            </a:pPr>
            <a:r>
              <a:rPr sz="1650" b="1" spc="135" dirty="0">
                <a:solidFill>
                  <a:srgbClr val="1D2F62"/>
                </a:solidFill>
                <a:latin typeface="Calibri"/>
                <a:cs typeface="Calibri"/>
              </a:rPr>
              <a:t>Hackers</a:t>
            </a:r>
            <a:r>
              <a:rPr sz="1650" b="1" spc="-3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20" dirty="0">
                <a:solidFill>
                  <a:srgbClr val="1D2F62"/>
                </a:solidFill>
                <a:latin typeface="Calibri"/>
                <a:cs typeface="Calibri"/>
              </a:rPr>
              <a:t>target</a:t>
            </a:r>
            <a:r>
              <a:rPr sz="1650" b="1" spc="-3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14" dirty="0">
                <a:solidFill>
                  <a:srgbClr val="1D2F62"/>
                </a:solidFill>
                <a:latin typeface="Calibri"/>
                <a:cs typeface="Calibri"/>
              </a:rPr>
              <a:t>banks,</a:t>
            </a:r>
            <a:r>
              <a:rPr sz="1650" b="1" spc="-3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30" dirty="0">
                <a:solidFill>
                  <a:srgbClr val="1D2F62"/>
                </a:solidFill>
                <a:latin typeface="Calibri"/>
                <a:cs typeface="Calibri"/>
              </a:rPr>
              <a:t>companies,</a:t>
            </a:r>
            <a:r>
              <a:rPr sz="1650" b="1" spc="-3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40" dirty="0">
                <a:solidFill>
                  <a:srgbClr val="1D2F62"/>
                </a:solidFill>
                <a:latin typeface="Calibri"/>
                <a:cs typeface="Calibri"/>
              </a:rPr>
              <a:t>and</a:t>
            </a:r>
            <a:r>
              <a:rPr sz="1650" b="1" spc="-3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35" dirty="0">
                <a:solidFill>
                  <a:srgbClr val="1D2F62"/>
                </a:solidFill>
                <a:latin typeface="Calibri"/>
                <a:cs typeface="Calibri"/>
              </a:rPr>
              <a:t>government</a:t>
            </a:r>
            <a:r>
              <a:rPr sz="1650" b="1" spc="-3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95" dirty="0">
                <a:solidFill>
                  <a:srgbClr val="1D2F62"/>
                </a:solidFill>
                <a:latin typeface="Calibri"/>
                <a:cs typeface="Calibri"/>
              </a:rPr>
              <a:t>offices. </a:t>
            </a:r>
            <a:r>
              <a:rPr sz="1650" b="1" spc="130" dirty="0">
                <a:solidFill>
                  <a:srgbClr val="1D2F62"/>
                </a:solidFill>
                <a:latin typeface="Calibri"/>
                <a:cs typeface="Calibri"/>
              </a:rPr>
              <a:t>Proper</a:t>
            </a:r>
            <a:r>
              <a:rPr sz="1650" b="1" spc="-3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25" dirty="0">
                <a:solidFill>
                  <a:srgbClr val="1D2F62"/>
                </a:solidFill>
                <a:latin typeface="Calibri"/>
                <a:cs typeface="Calibri"/>
              </a:rPr>
              <a:t>planning</a:t>
            </a:r>
            <a:r>
              <a:rPr sz="1650" b="1" spc="-3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40" dirty="0">
                <a:solidFill>
                  <a:srgbClr val="1D2F62"/>
                </a:solidFill>
                <a:latin typeface="Calibri"/>
                <a:cs typeface="Calibri"/>
              </a:rPr>
              <a:t>reduces</a:t>
            </a:r>
            <a:r>
              <a:rPr sz="1650" b="1" spc="-3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25" dirty="0">
                <a:solidFill>
                  <a:srgbClr val="1D2F62"/>
                </a:solidFill>
                <a:latin typeface="Calibri"/>
                <a:cs typeface="Calibri"/>
              </a:rPr>
              <a:t>damage.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50" b="1" dirty="0">
                <a:solidFill>
                  <a:srgbClr val="1D2F62"/>
                </a:solidFill>
                <a:latin typeface="Calibri"/>
                <a:cs typeface="Calibri"/>
              </a:rPr>
              <a:t>It</a:t>
            </a:r>
            <a:r>
              <a:rPr sz="1650" b="1" spc="-3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25" dirty="0">
                <a:solidFill>
                  <a:srgbClr val="1D2F62"/>
                </a:solidFill>
                <a:latin typeface="Calibri"/>
                <a:cs typeface="Calibri"/>
              </a:rPr>
              <a:t>helps</a:t>
            </a:r>
            <a:r>
              <a:rPr sz="1650" b="1" spc="-3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75" dirty="0">
                <a:solidFill>
                  <a:srgbClr val="1D2F62"/>
                </a:solidFill>
                <a:latin typeface="Calibri"/>
                <a:cs typeface="Calibri"/>
              </a:rPr>
              <a:t>follow</a:t>
            </a:r>
            <a:r>
              <a:rPr sz="1650" b="1" spc="-3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35" dirty="0">
                <a:solidFill>
                  <a:srgbClr val="1D2F62"/>
                </a:solidFill>
                <a:latin typeface="Calibri"/>
                <a:cs typeface="Calibri"/>
              </a:rPr>
              <a:t>cyber</a:t>
            </a:r>
            <a:r>
              <a:rPr sz="1650" b="1" spc="-3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90" dirty="0">
                <a:solidFill>
                  <a:srgbClr val="1D2F62"/>
                </a:solidFill>
                <a:latin typeface="Calibri"/>
                <a:cs typeface="Calibri"/>
              </a:rPr>
              <a:t>laws</a:t>
            </a:r>
            <a:r>
              <a:rPr sz="1650" b="1" spc="-3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70" dirty="0">
                <a:solidFill>
                  <a:srgbClr val="1D2F62"/>
                </a:solidFill>
                <a:latin typeface="Calibri"/>
                <a:cs typeface="Calibri"/>
              </a:rPr>
              <a:t>like</a:t>
            </a:r>
            <a:r>
              <a:rPr sz="1650" b="1" spc="-3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25" dirty="0">
                <a:solidFill>
                  <a:srgbClr val="1D2F62"/>
                </a:solidFill>
                <a:latin typeface="Calibri"/>
                <a:cs typeface="Calibri"/>
              </a:rPr>
              <a:t>the</a:t>
            </a:r>
            <a:r>
              <a:rPr sz="1650" b="1" spc="-3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40" dirty="0">
                <a:solidFill>
                  <a:srgbClr val="1D2F62"/>
                </a:solidFill>
                <a:latin typeface="Calibri"/>
                <a:cs typeface="Calibri"/>
              </a:rPr>
              <a:t>IT</a:t>
            </a:r>
            <a:r>
              <a:rPr sz="1650" b="1" spc="-3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70" dirty="0">
                <a:solidFill>
                  <a:srgbClr val="1D2F62"/>
                </a:solidFill>
                <a:latin typeface="Calibri"/>
                <a:cs typeface="Calibri"/>
              </a:rPr>
              <a:t>Act</a:t>
            </a:r>
            <a:r>
              <a:rPr sz="1650" b="1" spc="-3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75" dirty="0">
                <a:solidFill>
                  <a:srgbClr val="1D2F62"/>
                </a:solidFill>
                <a:latin typeface="Calibri"/>
                <a:cs typeface="Calibri"/>
              </a:rPr>
              <a:t>2000.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0074" y="2886074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270380" y="390524"/>
                </a:moveTo>
                <a:lnTo>
                  <a:pt x="120144" y="390524"/>
                </a:lnTo>
                <a:lnTo>
                  <a:pt x="111782" y="389701"/>
                </a:lnTo>
                <a:lnTo>
                  <a:pt x="71578" y="377505"/>
                </a:lnTo>
                <a:lnTo>
                  <a:pt x="31692" y="346892"/>
                </a:lnTo>
                <a:lnTo>
                  <a:pt x="6557" y="303345"/>
                </a:lnTo>
                <a:lnTo>
                  <a:pt x="0" y="270380"/>
                </a:lnTo>
                <a:lnTo>
                  <a:pt x="0" y="261937"/>
                </a:lnTo>
                <a:lnTo>
                  <a:pt x="0" y="120144"/>
                </a:lnTo>
                <a:lnTo>
                  <a:pt x="13019" y="71578"/>
                </a:lnTo>
                <a:lnTo>
                  <a:pt x="43632" y="31691"/>
                </a:lnTo>
                <a:lnTo>
                  <a:pt x="87179" y="6557"/>
                </a:lnTo>
                <a:lnTo>
                  <a:pt x="120144" y="0"/>
                </a:lnTo>
                <a:lnTo>
                  <a:pt x="270380" y="0"/>
                </a:lnTo>
                <a:lnTo>
                  <a:pt x="318946" y="13018"/>
                </a:lnTo>
                <a:lnTo>
                  <a:pt x="358832" y="43632"/>
                </a:lnTo>
                <a:lnTo>
                  <a:pt x="383967" y="87179"/>
                </a:lnTo>
                <a:lnTo>
                  <a:pt x="390524" y="120144"/>
                </a:lnTo>
                <a:lnTo>
                  <a:pt x="390524" y="270380"/>
                </a:lnTo>
                <a:lnTo>
                  <a:pt x="377505" y="318945"/>
                </a:lnTo>
                <a:lnTo>
                  <a:pt x="346892" y="358832"/>
                </a:lnTo>
                <a:lnTo>
                  <a:pt x="303345" y="383967"/>
                </a:lnTo>
                <a:lnTo>
                  <a:pt x="278742" y="389701"/>
                </a:lnTo>
                <a:lnTo>
                  <a:pt x="270380" y="390524"/>
                </a:lnTo>
                <a:close/>
              </a:path>
            </a:pathLst>
          </a:custGeom>
          <a:solidFill>
            <a:srgbClr val="CDE6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0074" y="3619499"/>
            <a:ext cx="390525" cy="381000"/>
          </a:xfrm>
          <a:custGeom>
            <a:avLst/>
            <a:gdLst/>
            <a:ahLst/>
            <a:cxnLst/>
            <a:rect l="l" t="t" r="r" b="b"/>
            <a:pathLst>
              <a:path w="390525" h="381000">
                <a:moveTo>
                  <a:pt x="270380" y="380999"/>
                </a:moveTo>
                <a:lnTo>
                  <a:pt x="120144" y="380999"/>
                </a:lnTo>
                <a:lnTo>
                  <a:pt x="111782" y="380176"/>
                </a:lnTo>
                <a:lnTo>
                  <a:pt x="71578" y="367980"/>
                </a:lnTo>
                <a:lnTo>
                  <a:pt x="31692" y="337367"/>
                </a:lnTo>
                <a:lnTo>
                  <a:pt x="6557" y="293820"/>
                </a:lnTo>
                <a:lnTo>
                  <a:pt x="0" y="260855"/>
                </a:lnTo>
                <a:lnTo>
                  <a:pt x="0" y="252412"/>
                </a:lnTo>
                <a:lnTo>
                  <a:pt x="0" y="120144"/>
                </a:lnTo>
                <a:lnTo>
                  <a:pt x="13019" y="71578"/>
                </a:lnTo>
                <a:lnTo>
                  <a:pt x="43632" y="31691"/>
                </a:lnTo>
                <a:lnTo>
                  <a:pt x="87179" y="6556"/>
                </a:lnTo>
                <a:lnTo>
                  <a:pt x="120144" y="0"/>
                </a:lnTo>
                <a:lnTo>
                  <a:pt x="270380" y="0"/>
                </a:lnTo>
                <a:lnTo>
                  <a:pt x="318946" y="13018"/>
                </a:lnTo>
                <a:lnTo>
                  <a:pt x="358832" y="43632"/>
                </a:lnTo>
                <a:lnTo>
                  <a:pt x="383967" y="87178"/>
                </a:lnTo>
                <a:lnTo>
                  <a:pt x="390524" y="120144"/>
                </a:lnTo>
                <a:lnTo>
                  <a:pt x="390524" y="260855"/>
                </a:lnTo>
                <a:lnTo>
                  <a:pt x="377505" y="309420"/>
                </a:lnTo>
                <a:lnTo>
                  <a:pt x="346892" y="349307"/>
                </a:lnTo>
                <a:lnTo>
                  <a:pt x="303345" y="374442"/>
                </a:lnTo>
                <a:lnTo>
                  <a:pt x="278742" y="380176"/>
                </a:lnTo>
                <a:lnTo>
                  <a:pt x="270380" y="380999"/>
                </a:lnTo>
                <a:close/>
              </a:path>
            </a:pathLst>
          </a:custGeom>
          <a:solidFill>
            <a:srgbClr val="CDE6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0074" y="4343399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270380" y="390524"/>
                </a:moveTo>
                <a:lnTo>
                  <a:pt x="120144" y="390524"/>
                </a:lnTo>
                <a:lnTo>
                  <a:pt x="111782" y="389700"/>
                </a:lnTo>
                <a:lnTo>
                  <a:pt x="71578" y="377504"/>
                </a:lnTo>
                <a:lnTo>
                  <a:pt x="31692" y="346891"/>
                </a:lnTo>
                <a:lnTo>
                  <a:pt x="6557" y="303344"/>
                </a:lnTo>
                <a:lnTo>
                  <a:pt x="0" y="270380"/>
                </a:lnTo>
                <a:lnTo>
                  <a:pt x="0" y="261937"/>
                </a:lnTo>
                <a:lnTo>
                  <a:pt x="0" y="120144"/>
                </a:lnTo>
                <a:lnTo>
                  <a:pt x="13019" y="71578"/>
                </a:lnTo>
                <a:lnTo>
                  <a:pt x="43632" y="31691"/>
                </a:lnTo>
                <a:lnTo>
                  <a:pt x="87179" y="6556"/>
                </a:lnTo>
                <a:lnTo>
                  <a:pt x="120144" y="0"/>
                </a:lnTo>
                <a:lnTo>
                  <a:pt x="270380" y="0"/>
                </a:lnTo>
                <a:lnTo>
                  <a:pt x="318946" y="13018"/>
                </a:lnTo>
                <a:lnTo>
                  <a:pt x="358832" y="43632"/>
                </a:lnTo>
                <a:lnTo>
                  <a:pt x="383967" y="87178"/>
                </a:lnTo>
                <a:lnTo>
                  <a:pt x="390524" y="120144"/>
                </a:lnTo>
                <a:lnTo>
                  <a:pt x="390524" y="270380"/>
                </a:lnTo>
                <a:lnTo>
                  <a:pt x="377505" y="318945"/>
                </a:lnTo>
                <a:lnTo>
                  <a:pt x="346892" y="358832"/>
                </a:lnTo>
                <a:lnTo>
                  <a:pt x="303345" y="383966"/>
                </a:lnTo>
                <a:lnTo>
                  <a:pt x="278742" y="389700"/>
                </a:lnTo>
                <a:lnTo>
                  <a:pt x="270380" y="390524"/>
                </a:lnTo>
                <a:close/>
              </a:path>
            </a:pathLst>
          </a:custGeom>
          <a:solidFill>
            <a:srgbClr val="CDE6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0074" y="5076824"/>
            <a:ext cx="390525" cy="381000"/>
          </a:xfrm>
          <a:custGeom>
            <a:avLst/>
            <a:gdLst/>
            <a:ahLst/>
            <a:cxnLst/>
            <a:rect l="l" t="t" r="r" b="b"/>
            <a:pathLst>
              <a:path w="390525" h="381000">
                <a:moveTo>
                  <a:pt x="270380" y="380999"/>
                </a:moveTo>
                <a:lnTo>
                  <a:pt x="120144" y="380999"/>
                </a:lnTo>
                <a:lnTo>
                  <a:pt x="111782" y="380176"/>
                </a:lnTo>
                <a:lnTo>
                  <a:pt x="71578" y="367979"/>
                </a:lnTo>
                <a:lnTo>
                  <a:pt x="31692" y="337367"/>
                </a:lnTo>
                <a:lnTo>
                  <a:pt x="6557" y="293820"/>
                </a:lnTo>
                <a:lnTo>
                  <a:pt x="0" y="260855"/>
                </a:lnTo>
                <a:lnTo>
                  <a:pt x="0" y="252412"/>
                </a:lnTo>
                <a:lnTo>
                  <a:pt x="0" y="120144"/>
                </a:lnTo>
                <a:lnTo>
                  <a:pt x="13019" y="71578"/>
                </a:lnTo>
                <a:lnTo>
                  <a:pt x="43632" y="31691"/>
                </a:lnTo>
                <a:lnTo>
                  <a:pt x="87179" y="6556"/>
                </a:lnTo>
                <a:lnTo>
                  <a:pt x="120144" y="0"/>
                </a:lnTo>
                <a:lnTo>
                  <a:pt x="270380" y="0"/>
                </a:lnTo>
                <a:lnTo>
                  <a:pt x="318946" y="13018"/>
                </a:lnTo>
                <a:lnTo>
                  <a:pt x="358832" y="43632"/>
                </a:lnTo>
                <a:lnTo>
                  <a:pt x="383967" y="87179"/>
                </a:lnTo>
                <a:lnTo>
                  <a:pt x="390524" y="120144"/>
                </a:lnTo>
                <a:lnTo>
                  <a:pt x="390524" y="260855"/>
                </a:lnTo>
                <a:lnTo>
                  <a:pt x="377505" y="309421"/>
                </a:lnTo>
                <a:lnTo>
                  <a:pt x="346892" y="349307"/>
                </a:lnTo>
                <a:lnTo>
                  <a:pt x="303345" y="374441"/>
                </a:lnTo>
                <a:lnTo>
                  <a:pt x="278742" y="380176"/>
                </a:lnTo>
                <a:lnTo>
                  <a:pt x="270380" y="380999"/>
                </a:lnTo>
                <a:close/>
              </a:path>
            </a:pathLst>
          </a:custGeom>
          <a:solidFill>
            <a:srgbClr val="CDE6F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9580244" y="5926073"/>
            <a:ext cx="1754505" cy="421005"/>
            <a:chOff x="9580244" y="5926073"/>
            <a:chExt cx="1754505" cy="42100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601199" y="5939556"/>
              <a:ext cx="1691639" cy="399415"/>
            </a:xfrm>
            <a:custGeom>
              <a:avLst/>
              <a:gdLst/>
              <a:ahLst/>
              <a:cxnLst/>
              <a:rect l="l" t="t" r="r" b="b"/>
              <a:pathLst>
                <a:path w="1691640" h="399414">
                  <a:moveTo>
                    <a:pt x="1691013" y="0"/>
                  </a:moveTo>
                  <a:lnTo>
                    <a:pt x="0" y="0"/>
                  </a:lnTo>
                  <a:lnTo>
                    <a:pt x="0" y="399267"/>
                  </a:lnTo>
                  <a:lnTo>
                    <a:pt x="1691013" y="399267"/>
                  </a:lnTo>
                  <a:lnTo>
                    <a:pt x="16910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601199" y="5939556"/>
              <a:ext cx="1691639" cy="399415"/>
            </a:xfrm>
            <a:custGeom>
              <a:avLst/>
              <a:gdLst/>
              <a:ahLst/>
              <a:cxnLst/>
              <a:rect l="l" t="t" r="r" b="b"/>
              <a:pathLst>
                <a:path w="1691640" h="399414">
                  <a:moveTo>
                    <a:pt x="0" y="399267"/>
                  </a:moveTo>
                  <a:lnTo>
                    <a:pt x="1691013" y="399267"/>
                  </a:lnTo>
                  <a:lnTo>
                    <a:pt x="1691013" y="0"/>
                  </a:lnTo>
                  <a:lnTo>
                    <a:pt x="0" y="0"/>
                  </a:lnTo>
                  <a:lnTo>
                    <a:pt x="0" y="399267"/>
                  </a:lnTo>
                  <a:close/>
                </a:path>
              </a:pathLst>
            </a:custGeom>
            <a:ln w="1565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7375" y="1244600"/>
            <a:ext cx="533146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45" dirty="0"/>
              <a:t>Main</a:t>
            </a:r>
            <a:r>
              <a:rPr spc="-100" dirty="0"/>
              <a:t> </a:t>
            </a:r>
            <a:r>
              <a:rPr spc="195" dirty="0"/>
              <a:t>Activities</a:t>
            </a:r>
            <a:r>
              <a:rPr spc="-100" dirty="0"/>
              <a:t> </a:t>
            </a:r>
            <a:r>
              <a:rPr spc="155" dirty="0"/>
              <a:t>in</a:t>
            </a:r>
            <a:r>
              <a:rPr spc="-95" dirty="0"/>
              <a:t> </a:t>
            </a:r>
            <a:r>
              <a:rPr spc="245" dirty="0"/>
              <a:t>Planning</a:t>
            </a:r>
          </a:p>
        </p:txBody>
      </p:sp>
      <p:sp>
        <p:nvSpPr>
          <p:cNvPr id="3" name="object 3"/>
          <p:cNvSpPr/>
          <p:nvPr/>
        </p:nvSpPr>
        <p:spPr>
          <a:xfrm>
            <a:off x="600075" y="2724149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200" y="0"/>
                </a:moveTo>
                <a:lnTo>
                  <a:pt x="0" y="0"/>
                </a:lnTo>
                <a:lnTo>
                  <a:pt x="0" y="19050"/>
                </a:lnTo>
                <a:lnTo>
                  <a:pt x="5029200" y="19050"/>
                </a:lnTo>
                <a:lnTo>
                  <a:pt x="5029200" y="0"/>
                </a:lnTo>
                <a:close/>
              </a:path>
            </a:pathLst>
          </a:custGeom>
          <a:solidFill>
            <a:srgbClr val="83C1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800725" y="2724149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200" y="0"/>
                </a:moveTo>
                <a:lnTo>
                  <a:pt x="0" y="0"/>
                </a:lnTo>
                <a:lnTo>
                  <a:pt x="0" y="19050"/>
                </a:lnTo>
                <a:lnTo>
                  <a:pt x="5029200" y="19050"/>
                </a:lnTo>
                <a:lnTo>
                  <a:pt x="5029200" y="0"/>
                </a:lnTo>
                <a:close/>
              </a:path>
            </a:pathLst>
          </a:custGeom>
          <a:solidFill>
            <a:srgbClr val="83C1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0075" y="3686175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200" y="0"/>
                </a:moveTo>
                <a:lnTo>
                  <a:pt x="0" y="0"/>
                </a:lnTo>
                <a:lnTo>
                  <a:pt x="0" y="19050"/>
                </a:lnTo>
                <a:lnTo>
                  <a:pt x="5029200" y="19050"/>
                </a:lnTo>
                <a:lnTo>
                  <a:pt x="5029200" y="0"/>
                </a:lnTo>
                <a:close/>
              </a:path>
            </a:pathLst>
          </a:custGeom>
          <a:solidFill>
            <a:srgbClr val="83C1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00725" y="3686175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200" y="0"/>
                </a:moveTo>
                <a:lnTo>
                  <a:pt x="0" y="0"/>
                </a:lnTo>
                <a:lnTo>
                  <a:pt x="0" y="19050"/>
                </a:lnTo>
                <a:lnTo>
                  <a:pt x="5029200" y="19050"/>
                </a:lnTo>
                <a:lnTo>
                  <a:pt x="5029200" y="0"/>
                </a:lnTo>
                <a:close/>
              </a:path>
            </a:pathLst>
          </a:custGeom>
          <a:solidFill>
            <a:srgbClr val="83C1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0075" y="4648200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200" y="0"/>
                </a:moveTo>
                <a:lnTo>
                  <a:pt x="0" y="0"/>
                </a:lnTo>
                <a:lnTo>
                  <a:pt x="0" y="19050"/>
                </a:lnTo>
                <a:lnTo>
                  <a:pt x="5029200" y="19050"/>
                </a:lnTo>
                <a:lnTo>
                  <a:pt x="5029200" y="0"/>
                </a:lnTo>
                <a:close/>
              </a:path>
            </a:pathLst>
          </a:custGeom>
          <a:solidFill>
            <a:srgbClr val="83C1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00725" y="4648200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200" y="0"/>
                </a:moveTo>
                <a:lnTo>
                  <a:pt x="0" y="0"/>
                </a:lnTo>
                <a:lnTo>
                  <a:pt x="0" y="19050"/>
                </a:lnTo>
                <a:lnTo>
                  <a:pt x="5029200" y="19050"/>
                </a:lnTo>
                <a:lnTo>
                  <a:pt x="5029200" y="0"/>
                </a:lnTo>
                <a:close/>
              </a:path>
            </a:pathLst>
          </a:custGeom>
          <a:solidFill>
            <a:srgbClr val="83C1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66839" y="1854200"/>
            <a:ext cx="8307070" cy="31832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25"/>
              </a:spcBef>
            </a:pPr>
            <a:r>
              <a:rPr sz="2000" b="1" spc="125" dirty="0">
                <a:solidFill>
                  <a:srgbClr val="83C1FA"/>
                </a:solidFill>
                <a:latin typeface="Calibri"/>
                <a:cs typeface="Calibri"/>
              </a:rPr>
              <a:t>Important</a:t>
            </a:r>
            <a:r>
              <a:rPr sz="2000" b="1" spc="-45" dirty="0">
                <a:solidFill>
                  <a:srgbClr val="83C1FA"/>
                </a:solidFill>
                <a:latin typeface="Calibri"/>
                <a:cs typeface="Calibri"/>
              </a:rPr>
              <a:t> </a:t>
            </a:r>
            <a:r>
              <a:rPr sz="2000" b="1" spc="175" dirty="0">
                <a:solidFill>
                  <a:srgbClr val="83C1FA"/>
                </a:solidFill>
                <a:latin typeface="Calibri"/>
                <a:cs typeface="Calibri"/>
              </a:rPr>
              <a:t>Steps</a:t>
            </a:r>
            <a:endParaRPr sz="2000">
              <a:latin typeface="Calibri"/>
              <a:cs typeface="Calibri"/>
            </a:endParaRPr>
          </a:p>
          <a:p>
            <a:pPr marL="29209">
              <a:lnSpc>
                <a:spcPct val="100000"/>
              </a:lnSpc>
              <a:spcBef>
                <a:spcPts val="2075"/>
              </a:spcBef>
              <a:tabLst>
                <a:tab pos="5215890" algn="l"/>
              </a:tabLst>
            </a:pPr>
            <a:r>
              <a:rPr sz="1350" spc="-25" dirty="0">
                <a:solidFill>
                  <a:srgbClr val="1E2F62"/>
                </a:solidFill>
                <a:latin typeface="Calibri"/>
                <a:cs typeface="Calibri"/>
              </a:rPr>
              <a:t>01</a:t>
            </a:r>
            <a:r>
              <a:rPr sz="1350" dirty="0">
                <a:solidFill>
                  <a:srgbClr val="1E2F62"/>
                </a:solidFill>
                <a:latin typeface="Calibri"/>
                <a:cs typeface="Calibri"/>
              </a:rPr>
              <a:t>	</a:t>
            </a:r>
            <a:r>
              <a:rPr sz="1350" spc="95" dirty="0">
                <a:solidFill>
                  <a:srgbClr val="1E2F62"/>
                </a:solidFill>
                <a:latin typeface="Calibri"/>
                <a:cs typeface="Calibri"/>
              </a:rPr>
              <a:t>02</a:t>
            </a:r>
            <a:endParaRPr sz="1350">
              <a:latin typeface="Calibri"/>
              <a:cs typeface="Calibri"/>
            </a:endParaRPr>
          </a:p>
          <a:p>
            <a:pPr marL="33020">
              <a:lnSpc>
                <a:spcPct val="100000"/>
              </a:lnSpc>
              <a:spcBef>
                <a:spcPts val="1605"/>
              </a:spcBef>
              <a:tabLst>
                <a:tab pos="5233670" algn="l"/>
              </a:tabLst>
            </a:pPr>
            <a:r>
              <a:rPr sz="1650" b="1" spc="90" dirty="0">
                <a:solidFill>
                  <a:srgbClr val="1E2F62"/>
                </a:solidFill>
                <a:latin typeface="Calibri"/>
                <a:cs typeface="Calibri"/>
              </a:rPr>
              <a:t>Identify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20" dirty="0">
                <a:solidFill>
                  <a:srgbClr val="1E2F62"/>
                </a:solidFill>
                <a:latin typeface="Calibri"/>
                <a:cs typeface="Calibri"/>
              </a:rPr>
              <a:t>possible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75" dirty="0">
                <a:solidFill>
                  <a:srgbClr val="1E2F62"/>
                </a:solidFill>
                <a:latin typeface="Calibri"/>
                <a:cs typeface="Calibri"/>
              </a:rPr>
              <a:t>risks.</a:t>
            </a:r>
            <a:r>
              <a:rPr sz="1650" b="1" dirty="0">
                <a:solidFill>
                  <a:srgbClr val="1E2F62"/>
                </a:solidFill>
                <a:latin typeface="Calibri"/>
                <a:cs typeface="Calibri"/>
              </a:rPr>
              <a:t>	</a:t>
            </a:r>
            <a:r>
              <a:rPr sz="1650" b="1" spc="135" dirty="0">
                <a:solidFill>
                  <a:srgbClr val="1E2F62"/>
                </a:solidFill>
                <a:latin typeface="Calibri"/>
                <a:cs typeface="Calibri"/>
              </a:rPr>
              <a:t>Create</a:t>
            </a:r>
            <a:r>
              <a:rPr sz="1650" b="1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20" dirty="0">
                <a:solidFill>
                  <a:srgbClr val="1E2F62"/>
                </a:solidFill>
                <a:latin typeface="Calibri"/>
                <a:cs typeface="Calibri"/>
              </a:rPr>
              <a:t>security</a:t>
            </a:r>
            <a:r>
              <a:rPr sz="1650" b="1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90" dirty="0">
                <a:solidFill>
                  <a:srgbClr val="1E2F62"/>
                </a:solidFill>
                <a:latin typeface="Calibri"/>
                <a:cs typeface="Calibri"/>
              </a:rPr>
              <a:t>policies.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650">
              <a:latin typeface="Calibri"/>
              <a:cs typeface="Calibri"/>
            </a:endParaRPr>
          </a:p>
          <a:p>
            <a:pPr marL="13335">
              <a:lnSpc>
                <a:spcPct val="100000"/>
              </a:lnSpc>
              <a:tabLst>
                <a:tab pos="5211445" algn="l"/>
              </a:tabLst>
            </a:pPr>
            <a:r>
              <a:rPr sz="1350" spc="110" dirty="0">
                <a:solidFill>
                  <a:srgbClr val="1E2F62"/>
                </a:solidFill>
                <a:latin typeface="Calibri"/>
                <a:cs typeface="Calibri"/>
              </a:rPr>
              <a:t>03</a:t>
            </a:r>
            <a:r>
              <a:rPr sz="1350" dirty="0">
                <a:solidFill>
                  <a:srgbClr val="1E2F62"/>
                </a:solidFill>
                <a:latin typeface="Calibri"/>
                <a:cs typeface="Calibri"/>
              </a:rPr>
              <a:t>	</a:t>
            </a:r>
            <a:r>
              <a:rPr sz="1350" spc="125" dirty="0">
                <a:solidFill>
                  <a:srgbClr val="1E2F62"/>
                </a:solidFill>
                <a:latin typeface="Calibri"/>
                <a:cs typeface="Calibri"/>
              </a:rPr>
              <a:t>04</a:t>
            </a:r>
            <a:endParaRPr sz="1350">
              <a:latin typeface="Calibri"/>
              <a:cs typeface="Calibri"/>
            </a:endParaRPr>
          </a:p>
          <a:p>
            <a:pPr marL="33020">
              <a:lnSpc>
                <a:spcPct val="100000"/>
              </a:lnSpc>
              <a:spcBef>
                <a:spcPts val="1605"/>
              </a:spcBef>
              <a:tabLst>
                <a:tab pos="5233670" algn="l"/>
              </a:tabLst>
            </a:pPr>
            <a:r>
              <a:rPr sz="1650" b="1" spc="170" dirty="0">
                <a:solidFill>
                  <a:srgbClr val="1E2F62"/>
                </a:solidFill>
                <a:latin typeface="Calibri"/>
                <a:cs typeface="Calibri"/>
              </a:rPr>
              <a:t>Set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20" dirty="0">
                <a:solidFill>
                  <a:srgbClr val="1E2F62"/>
                </a:solidFill>
                <a:latin typeface="Calibri"/>
                <a:cs typeface="Calibri"/>
              </a:rPr>
              <a:t>security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00" dirty="0">
                <a:solidFill>
                  <a:srgbClr val="1E2F62"/>
                </a:solidFill>
                <a:latin typeface="Calibri"/>
                <a:cs typeface="Calibri"/>
              </a:rPr>
              <a:t>standards.</a:t>
            </a:r>
            <a:r>
              <a:rPr sz="1650" b="1" dirty="0">
                <a:solidFill>
                  <a:srgbClr val="1E2F62"/>
                </a:solidFill>
                <a:latin typeface="Calibri"/>
                <a:cs typeface="Calibri"/>
              </a:rPr>
              <a:t>	</a:t>
            </a:r>
            <a:r>
              <a:rPr sz="1650" b="1" spc="125" dirty="0">
                <a:solidFill>
                  <a:srgbClr val="1E2F62"/>
                </a:solidFill>
                <a:latin typeface="Calibri"/>
                <a:cs typeface="Calibri"/>
              </a:rPr>
              <a:t>Prepare</a:t>
            </a:r>
            <a:r>
              <a:rPr sz="1650" b="1" spc="-4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10" dirty="0">
                <a:solidFill>
                  <a:srgbClr val="1E2F62"/>
                </a:solidFill>
                <a:latin typeface="Calibri"/>
                <a:cs typeface="Calibri"/>
              </a:rPr>
              <a:t>procedures.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5209540" algn="l"/>
              </a:tabLst>
            </a:pPr>
            <a:r>
              <a:rPr sz="1350" spc="114" dirty="0">
                <a:solidFill>
                  <a:srgbClr val="1E2F62"/>
                </a:solidFill>
                <a:latin typeface="Calibri"/>
                <a:cs typeface="Calibri"/>
              </a:rPr>
              <a:t>05</a:t>
            </a:r>
            <a:r>
              <a:rPr sz="1350" dirty="0">
                <a:solidFill>
                  <a:srgbClr val="1E2F62"/>
                </a:solidFill>
                <a:latin typeface="Calibri"/>
                <a:cs typeface="Calibri"/>
              </a:rPr>
              <a:t>	</a:t>
            </a:r>
            <a:r>
              <a:rPr sz="1350" spc="145" dirty="0">
                <a:solidFill>
                  <a:srgbClr val="1E2F62"/>
                </a:solidFill>
                <a:latin typeface="Calibri"/>
                <a:cs typeface="Calibri"/>
              </a:rPr>
              <a:t>06</a:t>
            </a:r>
            <a:endParaRPr sz="1350">
              <a:latin typeface="Calibri"/>
              <a:cs typeface="Calibri"/>
            </a:endParaRPr>
          </a:p>
          <a:p>
            <a:pPr marL="33020">
              <a:lnSpc>
                <a:spcPct val="100000"/>
              </a:lnSpc>
              <a:spcBef>
                <a:spcPts val="1530"/>
              </a:spcBef>
              <a:tabLst>
                <a:tab pos="5233670" algn="l"/>
              </a:tabLst>
            </a:pPr>
            <a:r>
              <a:rPr sz="1650" b="1" spc="80" dirty="0">
                <a:solidFill>
                  <a:srgbClr val="1E2F62"/>
                </a:solidFill>
                <a:latin typeface="Calibri"/>
                <a:cs typeface="Calibri"/>
              </a:rPr>
              <a:t>Train</a:t>
            </a:r>
            <a:r>
              <a:rPr sz="1650" b="1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05" dirty="0">
                <a:solidFill>
                  <a:srgbClr val="1E2F62"/>
                </a:solidFill>
                <a:latin typeface="Calibri"/>
                <a:cs typeface="Calibri"/>
              </a:rPr>
              <a:t>employees.</a:t>
            </a:r>
            <a:r>
              <a:rPr sz="1650" b="1" dirty="0">
                <a:solidFill>
                  <a:srgbClr val="1E2F62"/>
                </a:solidFill>
                <a:latin typeface="Calibri"/>
                <a:cs typeface="Calibri"/>
              </a:rPr>
              <a:t>	</a:t>
            </a:r>
            <a:r>
              <a:rPr sz="1650" b="1" spc="135" dirty="0">
                <a:solidFill>
                  <a:srgbClr val="1E2F62"/>
                </a:solidFill>
                <a:latin typeface="Calibri"/>
                <a:cs typeface="Calibri"/>
              </a:rPr>
              <a:t>Create</a:t>
            </a:r>
            <a:r>
              <a:rPr sz="1650" b="1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14" dirty="0">
                <a:solidFill>
                  <a:srgbClr val="1E2F62"/>
                </a:solidFill>
                <a:latin typeface="Calibri"/>
                <a:cs typeface="Calibri"/>
              </a:rPr>
              <a:t>incident</a:t>
            </a:r>
            <a:r>
              <a:rPr sz="1650" b="1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35" dirty="0">
                <a:solidFill>
                  <a:srgbClr val="1E2F62"/>
                </a:solidFill>
                <a:latin typeface="Calibri"/>
                <a:cs typeface="Calibri"/>
              </a:rPr>
              <a:t>response</a:t>
            </a:r>
            <a:r>
              <a:rPr sz="1650" b="1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60" dirty="0">
                <a:solidFill>
                  <a:srgbClr val="1E2F62"/>
                </a:solidFill>
                <a:latin typeface="Calibri"/>
                <a:cs typeface="Calibri"/>
              </a:rPr>
              <a:t>plan.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517171" y="5873968"/>
            <a:ext cx="1818005" cy="485775"/>
            <a:chOff x="9517171" y="5873968"/>
            <a:chExt cx="1818005" cy="48577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524999" y="5881797"/>
              <a:ext cx="1753870" cy="469900"/>
            </a:xfrm>
            <a:custGeom>
              <a:avLst/>
              <a:gdLst/>
              <a:ahLst/>
              <a:cxnLst/>
              <a:rect l="l" t="t" r="r" b="b"/>
              <a:pathLst>
                <a:path w="1753870" h="469900">
                  <a:moveTo>
                    <a:pt x="1753643" y="0"/>
                  </a:moveTo>
                  <a:lnTo>
                    <a:pt x="0" y="0"/>
                  </a:lnTo>
                  <a:lnTo>
                    <a:pt x="0" y="469726"/>
                  </a:lnTo>
                  <a:lnTo>
                    <a:pt x="1753643" y="469726"/>
                  </a:lnTo>
                  <a:lnTo>
                    <a:pt x="17536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524999" y="5881797"/>
              <a:ext cx="1753870" cy="469900"/>
            </a:xfrm>
            <a:custGeom>
              <a:avLst/>
              <a:gdLst/>
              <a:ahLst/>
              <a:cxnLst/>
              <a:rect l="l" t="t" r="r" b="b"/>
              <a:pathLst>
                <a:path w="1753870" h="469900">
                  <a:moveTo>
                    <a:pt x="0" y="469726"/>
                  </a:moveTo>
                  <a:lnTo>
                    <a:pt x="1753643" y="469726"/>
                  </a:lnTo>
                  <a:lnTo>
                    <a:pt x="1753643" y="0"/>
                  </a:lnTo>
                  <a:lnTo>
                    <a:pt x="0" y="0"/>
                  </a:lnTo>
                  <a:lnTo>
                    <a:pt x="0" y="469726"/>
                  </a:lnTo>
                  <a:close/>
                </a:path>
              </a:pathLst>
            </a:custGeom>
            <a:ln w="1565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4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pc="285" dirty="0">
                <a:solidFill>
                  <a:srgbClr val="091B53"/>
                </a:solidFill>
              </a:rPr>
              <a:t>What</a:t>
            </a:r>
            <a:r>
              <a:rPr spc="-100" dirty="0">
                <a:solidFill>
                  <a:srgbClr val="091B53"/>
                </a:solidFill>
              </a:rPr>
              <a:t> </a:t>
            </a:r>
            <a:r>
              <a:rPr spc="180" dirty="0">
                <a:solidFill>
                  <a:srgbClr val="091B53"/>
                </a:solidFill>
              </a:rPr>
              <a:t>is</a:t>
            </a:r>
            <a:r>
              <a:rPr spc="-100" dirty="0">
                <a:solidFill>
                  <a:srgbClr val="091B53"/>
                </a:solidFill>
              </a:rPr>
              <a:t> </a:t>
            </a:r>
            <a:r>
              <a:rPr spc="229" dirty="0">
                <a:solidFill>
                  <a:srgbClr val="091B53"/>
                </a:solidFill>
              </a:rPr>
              <a:t>a</a:t>
            </a:r>
            <a:r>
              <a:rPr spc="-95" dirty="0">
                <a:solidFill>
                  <a:srgbClr val="091B53"/>
                </a:solidFill>
              </a:rPr>
              <a:t> </a:t>
            </a:r>
            <a:r>
              <a:rPr spc="245" dirty="0">
                <a:solidFill>
                  <a:srgbClr val="091B53"/>
                </a:solidFill>
              </a:rPr>
              <a:t>Security</a:t>
            </a:r>
            <a:r>
              <a:rPr spc="-100" dirty="0">
                <a:solidFill>
                  <a:srgbClr val="091B53"/>
                </a:solidFill>
              </a:rPr>
              <a:t> </a:t>
            </a:r>
            <a:r>
              <a:rPr spc="220" dirty="0">
                <a:solidFill>
                  <a:srgbClr val="091B53"/>
                </a:solidFill>
              </a:rPr>
              <a:t>Policy?</a:t>
            </a: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000" spc="100" dirty="0">
                <a:solidFill>
                  <a:srgbClr val="83C1FA"/>
                </a:solidFill>
              </a:rPr>
              <a:t>Definition</a:t>
            </a:r>
            <a:endParaRPr sz="2000"/>
          </a:p>
        </p:txBody>
      </p:sp>
      <p:grpSp>
        <p:nvGrpSpPr>
          <p:cNvPr id="3" name="object 3"/>
          <p:cNvGrpSpPr/>
          <p:nvPr/>
        </p:nvGrpSpPr>
        <p:grpSpPr>
          <a:xfrm>
            <a:off x="600074" y="2619374"/>
            <a:ext cx="3295650" cy="933450"/>
            <a:chOff x="600074" y="2619374"/>
            <a:chExt cx="3295650" cy="933450"/>
          </a:xfrm>
        </p:grpSpPr>
        <p:sp>
          <p:nvSpPr>
            <p:cNvPr id="4" name="object 4"/>
            <p:cNvSpPr/>
            <p:nvPr/>
          </p:nvSpPr>
          <p:spPr>
            <a:xfrm>
              <a:off x="609599" y="2628899"/>
              <a:ext cx="3276600" cy="914400"/>
            </a:xfrm>
            <a:custGeom>
              <a:avLst/>
              <a:gdLst/>
              <a:ahLst/>
              <a:cxnLst/>
              <a:rect l="l" t="t" r="r" b="b"/>
              <a:pathLst>
                <a:path w="3276600" h="914400">
                  <a:moveTo>
                    <a:pt x="3165354" y="914399"/>
                  </a:moveTo>
                  <a:lnTo>
                    <a:pt x="111244" y="914399"/>
                  </a:lnTo>
                  <a:lnTo>
                    <a:pt x="103502" y="913637"/>
                  </a:lnTo>
                  <a:lnTo>
                    <a:pt x="66276" y="902344"/>
                  </a:lnTo>
                  <a:lnTo>
                    <a:pt x="29344" y="873999"/>
                  </a:lnTo>
                  <a:lnTo>
                    <a:pt x="6071" y="833677"/>
                  </a:lnTo>
                  <a:lnTo>
                    <a:pt x="0" y="803154"/>
                  </a:lnTo>
                  <a:lnTo>
                    <a:pt x="0" y="795337"/>
                  </a:lnTo>
                  <a:lnTo>
                    <a:pt x="0" y="111244"/>
                  </a:lnTo>
                  <a:lnTo>
                    <a:pt x="12054" y="66276"/>
                  </a:lnTo>
                  <a:lnTo>
                    <a:pt x="40400" y="29344"/>
                  </a:lnTo>
                  <a:lnTo>
                    <a:pt x="80721" y="6071"/>
                  </a:lnTo>
                  <a:lnTo>
                    <a:pt x="111244" y="0"/>
                  </a:lnTo>
                  <a:lnTo>
                    <a:pt x="3165354" y="0"/>
                  </a:lnTo>
                  <a:lnTo>
                    <a:pt x="3210322" y="12054"/>
                  </a:lnTo>
                  <a:lnTo>
                    <a:pt x="3247254" y="40400"/>
                  </a:lnTo>
                  <a:lnTo>
                    <a:pt x="3270528" y="80721"/>
                  </a:lnTo>
                  <a:lnTo>
                    <a:pt x="3276599" y="111244"/>
                  </a:lnTo>
                  <a:lnTo>
                    <a:pt x="3276599" y="803154"/>
                  </a:lnTo>
                  <a:lnTo>
                    <a:pt x="3264544" y="848122"/>
                  </a:lnTo>
                  <a:lnTo>
                    <a:pt x="3236198" y="885054"/>
                  </a:lnTo>
                  <a:lnTo>
                    <a:pt x="3195877" y="908327"/>
                  </a:lnTo>
                  <a:lnTo>
                    <a:pt x="3173097" y="913637"/>
                  </a:lnTo>
                  <a:lnTo>
                    <a:pt x="3165354" y="914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9599" y="2628899"/>
              <a:ext cx="3276600" cy="914400"/>
            </a:xfrm>
            <a:custGeom>
              <a:avLst/>
              <a:gdLst/>
              <a:ahLst/>
              <a:cxnLst/>
              <a:rect l="l" t="t" r="r" b="b"/>
              <a:pathLst>
                <a:path w="3276600" h="914400">
                  <a:moveTo>
                    <a:pt x="0" y="795337"/>
                  </a:moveTo>
                  <a:lnTo>
                    <a:pt x="0" y="119062"/>
                  </a:lnTo>
                  <a:lnTo>
                    <a:pt x="0" y="111244"/>
                  </a:lnTo>
                  <a:lnTo>
                    <a:pt x="762" y="103502"/>
                  </a:lnTo>
                  <a:lnTo>
                    <a:pt x="12054" y="66276"/>
                  </a:lnTo>
                  <a:lnTo>
                    <a:pt x="34872" y="34872"/>
                  </a:lnTo>
                  <a:lnTo>
                    <a:pt x="40400" y="29344"/>
                  </a:lnTo>
                  <a:lnTo>
                    <a:pt x="46414" y="24408"/>
                  </a:lnTo>
                  <a:lnTo>
                    <a:pt x="52914" y="20065"/>
                  </a:lnTo>
                  <a:lnTo>
                    <a:pt x="59415" y="15721"/>
                  </a:lnTo>
                  <a:lnTo>
                    <a:pt x="95834" y="2287"/>
                  </a:lnTo>
                  <a:lnTo>
                    <a:pt x="111244" y="0"/>
                  </a:lnTo>
                  <a:lnTo>
                    <a:pt x="119062" y="0"/>
                  </a:lnTo>
                  <a:lnTo>
                    <a:pt x="3157537" y="0"/>
                  </a:lnTo>
                  <a:lnTo>
                    <a:pt x="3165354" y="0"/>
                  </a:lnTo>
                  <a:lnTo>
                    <a:pt x="3173097" y="762"/>
                  </a:lnTo>
                  <a:lnTo>
                    <a:pt x="3210322" y="12054"/>
                  </a:lnTo>
                  <a:lnTo>
                    <a:pt x="3223684" y="20065"/>
                  </a:lnTo>
                  <a:lnTo>
                    <a:pt x="3230184" y="24408"/>
                  </a:lnTo>
                  <a:lnTo>
                    <a:pt x="3256533" y="52914"/>
                  </a:lnTo>
                  <a:lnTo>
                    <a:pt x="3272786" y="88167"/>
                  </a:lnTo>
                  <a:lnTo>
                    <a:pt x="3274311" y="95834"/>
                  </a:lnTo>
                  <a:lnTo>
                    <a:pt x="3275837" y="103502"/>
                  </a:lnTo>
                  <a:lnTo>
                    <a:pt x="3276599" y="111244"/>
                  </a:lnTo>
                  <a:lnTo>
                    <a:pt x="3276599" y="119062"/>
                  </a:lnTo>
                  <a:lnTo>
                    <a:pt x="3276599" y="795337"/>
                  </a:lnTo>
                  <a:lnTo>
                    <a:pt x="3276599" y="803154"/>
                  </a:lnTo>
                  <a:lnTo>
                    <a:pt x="3275837" y="810897"/>
                  </a:lnTo>
                  <a:lnTo>
                    <a:pt x="3274311" y="818564"/>
                  </a:lnTo>
                  <a:lnTo>
                    <a:pt x="3272786" y="826232"/>
                  </a:lnTo>
                  <a:lnTo>
                    <a:pt x="3256533" y="861484"/>
                  </a:lnTo>
                  <a:lnTo>
                    <a:pt x="3230184" y="889990"/>
                  </a:lnTo>
                  <a:lnTo>
                    <a:pt x="3223684" y="894333"/>
                  </a:lnTo>
                  <a:lnTo>
                    <a:pt x="3217184" y="898677"/>
                  </a:lnTo>
                  <a:lnTo>
                    <a:pt x="3210322" y="902344"/>
                  </a:lnTo>
                  <a:lnTo>
                    <a:pt x="3203100" y="905336"/>
                  </a:lnTo>
                  <a:lnTo>
                    <a:pt x="3195877" y="908327"/>
                  </a:lnTo>
                  <a:lnTo>
                    <a:pt x="3188432" y="910586"/>
                  </a:lnTo>
                  <a:lnTo>
                    <a:pt x="3180764" y="912112"/>
                  </a:lnTo>
                  <a:lnTo>
                    <a:pt x="3173097" y="913637"/>
                  </a:lnTo>
                  <a:lnTo>
                    <a:pt x="3165354" y="914399"/>
                  </a:lnTo>
                  <a:lnTo>
                    <a:pt x="3157537" y="914399"/>
                  </a:lnTo>
                  <a:lnTo>
                    <a:pt x="119062" y="914399"/>
                  </a:lnTo>
                  <a:lnTo>
                    <a:pt x="111244" y="914399"/>
                  </a:lnTo>
                  <a:lnTo>
                    <a:pt x="103502" y="913637"/>
                  </a:lnTo>
                  <a:lnTo>
                    <a:pt x="66276" y="902344"/>
                  </a:lnTo>
                  <a:lnTo>
                    <a:pt x="52914" y="894333"/>
                  </a:lnTo>
                  <a:lnTo>
                    <a:pt x="46414" y="889990"/>
                  </a:lnTo>
                  <a:lnTo>
                    <a:pt x="20065" y="861484"/>
                  </a:lnTo>
                  <a:lnTo>
                    <a:pt x="15722" y="854984"/>
                  </a:lnTo>
                  <a:lnTo>
                    <a:pt x="12054" y="848122"/>
                  </a:lnTo>
                  <a:lnTo>
                    <a:pt x="9063" y="840900"/>
                  </a:lnTo>
                  <a:lnTo>
                    <a:pt x="6071" y="833677"/>
                  </a:lnTo>
                  <a:lnTo>
                    <a:pt x="3812" y="826232"/>
                  </a:lnTo>
                  <a:lnTo>
                    <a:pt x="2287" y="818565"/>
                  </a:lnTo>
                  <a:lnTo>
                    <a:pt x="762" y="810897"/>
                  </a:lnTo>
                  <a:lnTo>
                    <a:pt x="0" y="803154"/>
                  </a:lnTo>
                  <a:lnTo>
                    <a:pt x="0" y="795337"/>
                  </a:lnTo>
                  <a:close/>
                </a:path>
              </a:pathLst>
            </a:custGeom>
            <a:ln w="19049">
              <a:solidFill>
                <a:srgbClr val="B4CC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77874" y="2745740"/>
            <a:ext cx="223202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204" dirty="0">
                <a:solidFill>
                  <a:srgbClr val="1D2F62"/>
                </a:solidFill>
                <a:latin typeface="Calibri"/>
                <a:cs typeface="Calibri"/>
              </a:rPr>
              <a:t>A</a:t>
            </a:r>
            <a:r>
              <a:rPr sz="1350" spc="-3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80" dirty="0">
                <a:solidFill>
                  <a:srgbClr val="1D2F62"/>
                </a:solidFill>
                <a:latin typeface="Calibri"/>
                <a:cs typeface="Calibri"/>
              </a:rPr>
              <a:t>security</a:t>
            </a:r>
            <a:r>
              <a:rPr sz="1350" spc="-2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75" dirty="0">
                <a:solidFill>
                  <a:srgbClr val="1D2F62"/>
                </a:solidFill>
                <a:latin typeface="Calibri"/>
                <a:cs typeface="Calibri"/>
              </a:rPr>
              <a:t>policy</a:t>
            </a:r>
            <a:r>
              <a:rPr sz="1350" spc="-2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70" dirty="0">
                <a:solidFill>
                  <a:srgbClr val="1D2F62"/>
                </a:solidFill>
                <a:latin typeface="Calibri"/>
                <a:cs typeface="Calibri"/>
              </a:rPr>
              <a:t>is</a:t>
            </a:r>
            <a:r>
              <a:rPr sz="1350" spc="-2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80" dirty="0">
                <a:solidFill>
                  <a:srgbClr val="1D2F62"/>
                </a:solidFill>
                <a:latin typeface="Calibri"/>
                <a:cs typeface="Calibri"/>
              </a:rPr>
              <a:t>a</a:t>
            </a:r>
            <a:r>
              <a:rPr sz="1350" spc="-2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55" dirty="0">
                <a:solidFill>
                  <a:srgbClr val="1D2F62"/>
                </a:solidFill>
                <a:latin typeface="Calibri"/>
                <a:cs typeface="Calibri"/>
              </a:rPr>
              <a:t>written </a:t>
            </a:r>
            <a:r>
              <a:rPr sz="1350" spc="80" dirty="0">
                <a:solidFill>
                  <a:srgbClr val="1D2F62"/>
                </a:solidFill>
                <a:latin typeface="Calibri"/>
                <a:cs typeface="Calibri"/>
              </a:rPr>
              <a:t>document.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67174" y="2619374"/>
            <a:ext cx="3295650" cy="933450"/>
            <a:chOff x="4067174" y="2619374"/>
            <a:chExt cx="3295650" cy="933450"/>
          </a:xfrm>
        </p:grpSpPr>
        <p:sp>
          <p:nvSpPr>
            <p:cNvPr id="8" name="object 8"/>
            <p:cNvSpPr/>
            <p:nvPr/>
          </p:nvSpPr>
          <p:spPr>
            <a:xfrm>
              <a:off x="4076699" y="2628899"/>
              <a:ext cx="3276600" cy="914400"/>
            </a:xfrm>
            <a:custGeom>
              <a:avLst/>
              <a:gdLst/>
              <a:ahLst/>
              <a:cxnLst/>
              <a:rect l="l" t="t" r="r" b="b"/>
              <a:pathLst>
                <a:path w="3276600" h="914400">
                  <a:moveTo>
                    <a:pt x="3165355" y="914399"/>
                  </a:moveTo>
                  <a:lnTo>
                    <a:pt x="111244" y="914399"/>
                  </a:lnTo>
                  <a:lnTo>
                    <a:pt x="103502" y="913637"/>
                  </a:lnTo>
                  <a:lnTo>
                    <a:pt x="66276" y="902344"/>
                  </a:lnTo>
                  <a:lnTo>
                    <a:pt x="29344" y="873999"/>
                  </a:lnTo>
                  <a:lnTo>
                    <a:pt x="6071" y="833677"/>
                  </a:lnTo>
                  <a:lnTo>
                    <a:pt x="0" y="803154"/>
                  </a:lnTo>
                  <a:lnTo>
                    <a:pt x="0" y="795337"/>
                  </a:lnTo>
                  <a:lnTo>
                    <a:pt x="0" y="111244"/>
                  </a:lnTo>
                  <a:lnTo>
                    <a:pt x="12054" y="66276"/>
                  </a:lnTo>
                  <a:lnTo>
                    <a:pt x="40400" y="29344"/>
                  </a:lnTo>
                  <a:lnTo>
                    <a:pt x="80721" y="6071"/>
                  </a:lnTo>
                  <a:lnTo>
                    <a:pt x="111244" y="0"/>
                  </a:lnTo>
                  <a:lnTo>
                    <a:pt x="3165355" y="0"/>
                  </a:lnTo>
                  <a:lnTo>
                    <a:pt x="3210322" y="12054"/>
                  </a:lnTo>
                  <a:lnTo>
                    <a:pt x="3247255" y="40400"/>
                  </a:lnTo>
                  <a:lnTo>
                    <a:pt x="3270527" y="80721"/>
                  </a:lnTo>
                  <a:lnTo>
                    <a:pt x="3276600" y="111244"/>
                  </a:lnTo>
                  <a:lnTo>
                    <a:pt x="3276600" y="803154"/>
                  </a:lnTo>
                  <a:lnTo>
                    <a:pt x="3264544" y="848122"/>
                  </a:lnTo>
                  <a:lnTo>
                    <a:pt x="3236198" y="885054"/>
                  </a:lnTo>
                  <a:lnTo>
                    <a:pt x="3195877" y="908327"/>
                  </a:lnTo>
                  <a:lnTo>
                    <a:pt x="3173097" y="913637"/>
                  </a:lnTo>
                  <a:lnTo>
                    <a:pt x="3165355" y="914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76699" y="2628899"/>
              <a:ext cx="3276600" cy="914400"/>
            </a:xfrm>
            <a:custGeom>
              <a:avLst/>
              <a:gdLst/>
              <a:ahLst/>
              <a:cxnLst/>
              <a:rect l="l" t="t" r="r" b="b"/>
              <a:pathLst>
                <a:path w="3276600" h="914400">
                  <a:moveTo>
                    <a:pt x="0" y="795337"/>
                  </a:moveTo>
                  <a:lnTo>
                    <a:pt x="0" y="119062"/>
                  </a:lnTo>
                  <a:lnTo>
                    <a:pt x="0" y="111244"/>
                  </a:lnTo>
                  <a:lnTo>
                    <a:pt x="762" y="103502"/>
                  </a:lnTo>
                  <a:lnTo>
                    <a:pt x="12054" y="66276"/>
                  </a:lnTo>
                  <a:lnTo>
                    <a:pt x="34872" y="34872"/>
                  </a:lnTo>
                  <a:lnTo>
                    <a:pt x="40400" y="29344"/>
                  </a:lnTo>
                  <a:lnTo>
                    <a:pt x="46414" y="24408"/>
                  </a:lnTo>
                  <a:lnTo>
                    <a:pt x="52915" y="20065"/>
                  </a:lnTo>
                  <a:lnTo>
                    <a:pt x="59415" y="15721"/>
                  </a:lnTo>
                  <a:lnTo>
                    <a:pt x="95834" y="2287"/>
                  </a:lnTo>
                  <a:lnTo>
                    <a:pt x="111244" y="0"/>
                  </a:lnTo>
                  <a:lnTo>
                    <a:pt x="119062" y="0"/>
                  </a:lnTo>
                  <a:lnTo>
                    <a:pt x="3157537" y="0"/>
                  </a:lnTo>
                  <a:lnTo>
                    <a:pt x="3165355" y="0"/>
                  </a:lnTo>
                  <a:lnTo>
                    <a:pt x="3173097" y="762"/>
                  </a:lnTo>
                  <a:lnTo>
                    <a:pt x="3210322" y="12054"/>
                  </a:lnTo>
                  <a:lnTo>
                    <a:pt x="3223684" y="20065"/>
                  </a:lnTo>
                  <a:lnTo>
                    <a:pt x="3230184" y="24408"/>
                  </a:lnTo>
                  <a:lnTo>
                    <a:pt x="3236198" y="29344"/>
                  </a:lnTo>
                  <a:lnTo>
                    <a:pt x="3241727" y="34872"/>
                  </a:lnTo>
                  <a:lnTo>
                    <a:pt x="3247255" y="40400"/>
                  </a:lnTo>
                  <a:lnTo>
                    <a:pt x="3252190" y="46414"/>
                  </a:lnTo>
                  <a:lnTo>
                    <a:pt x="3256533" y="52914"/>
                  </a:lnTo>
                  <a:lnTo>
                    <a:pt x="3260876" y="59414"/>
                  </a:lnTo>
                  <a:lnTo>
                    <a:pt x="3274311" y="95834"/>
                  </a:lnTo>
                  <a:lnTo>
                    <a:pt x="3276600" y="111244"/>
                  </a:lnTo>
                  <a:lnTo>
                    <a:pt x="3276600" y="119062"/>
                  </a:lnTo>
                  <a:lnTo>
                    <a:pt x="3276600" y="795337"/>
                  </a:lnTo>
                  <a:lnTo>
                    <a:pt x="3276600" y="803154"/>
                  </a:lnTo>
                  <a:lnTo>
                    <a:pt x="3275837" y="810897"/>
                  </a:lnTo>
                  <a:lnTo>
                    <a:pt x="3274311" y="818564"/>
                  </a:lnTo>
                  <a:lnTo>
                    <a:pt x="3272786" y="826232"/>
                  </a:lnTo>
                  <a:lnTo>
                    <a:pt x="3256533" y="861484"/>
                  </a:lnTo>
                  <a:lnTo>
                    <a:pt x="3252190" y="867984"/>
                  </a:lnTo>
                  <a:lnTo>
                    <a:pt x="3223684" y="894333"/>
                  </a:lnTo>
                  <a:lnTo>
                    <a:pt x="3217183" y="898677"/>
                  </a:lnTo>
                  <a:lnTo>
                    <a:pt x="3180765" y="912112"/>
                  </a:lnTo>
                  <a:lnTo>
                    <a:pt x="3165355" y="914399"/>
                  </a:lnTo>
                  <a:lnTo>
                    <a:pt x="3157537" y="914399"/>
                  </a:lnTo>
                  <a:lnTo>
                    <a:pt x="119062" y="914399"/>
                  </a:lnTo>
                  <a:lnTo>
                    <a:pt x="111244" y="914399"/>
                  </a:lnTo>
                  <a:lnTo>
                    <a:pt x="103502" y="913637"/>
                  </a:lnTo>
                  <a:lnTo>
                    <a:pt x="66276" y="902344"/>
                  </a:lnTo>
                  <a:lnTo>
                    <a:pt x="52914" y="894333"/>
                  </a:lnTo>
                  <a:lnTo>
                    <a:pt x="46414" y="889990"/>
                  </a:lnTo>
                  <a:lnTo>
                    <a:pt x="20065" y="861484"/>
                  </a:lnTo>
                  <a:lnTo>
                    <a:pt x="15722" y="854984"/>
                  </a:lnTo>
                  <a:lnTo>
                    <a:pt x="12054" y="848122"/>
                  </a:lnTo>
                  <a:lnTo>
                    <a:pt x="9063" y="840900"/>
                  </a:lnTo>
                  <a:lnTo>
                    <a:pt x="6071" y="833677"/>
                  </a:lnTo>
                  <a:lnTo>
                    <a:pt x="3812" y="826232"/>
                  </a:lnTo>
                  <a:lnTo>
                    <a:pt x="2287" y="818565"/>
                  </a:lnTo>
                  <a:lnTo>
                    <a:pt x="762" y="810897"/>
                  </a:lnTo>
                  <a:lnTo>
                    <a:pt x="0" y="803154"/>
                  </a:lnTo>
                  <a:lnTo>
                    <a:pt x="0" y="795337"/>
                  </a:lnTo>
                  <a:close/>
                </a:path>
              </a:pathLst>
            </a:custGeom>
            <a:ln w="19049">
              <a:solidFill>
                <a:srgbClr val="B4CC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244975" y="2745740"/>
            <a:ext cx="238887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dirty="0">
                <a:solidFill>
                  <a:srgbClr val="1D2F62"/>
                </a:solidFill>
                <a:latin typeface="Calibri"/>
                <a:cs typeface="Calibri"/>
              </a:rPr>
              <a:t>It</a:t>
            </a:r>
            <a:r>
              <a:rPr sz="1350" spc="-1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80" dirty="0">
                <a:solidFill>
                  <a:srgbClr val="1D2F62"/>
                </a:solidFill>
                <a:latin typeface="Calibri"/>
                <a:cs typeface="Calibri"/>
              </a:rPr>
              <a:t>explains</a:t>
            </a:r>
            <a:r>
              <a:rPr sz="1350" spc="-1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70" dirty="0">
                <a:solidFill>
                  <a:srgbClr val="1D2F62"/>
                </a:solidFill>
                <a:latin typeface="Calibri"/>
                <a:cs typeface="Calibri"/>
              </a:rPr>
              <a:t>rules</a:t>
            </a:r>
            <a:r>
              <a:rPr sz="1350" spc="-1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50" dirty="0">
                <a:solidFill>
                  <a:srgbClr val="1D2F62"/>
                </a:solidFill>
                <a:latin typeface="Calibri"/>
                <a:cs typeface="Calibri"/>
              </a:rPr>
              <a:t>for</a:t>
            </a:r>
            <a:r>
              <a:rPr sz="1350" spc="-1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75" dirty="0">
                <a:solidFill>
                  <a:srgbClr val="1D2F62"/>
                </a:solidFill>
                <a:latin typeface="Calibri"/>
                <a:cs typeface="Calibri"/>
              </a:rPr>
              <a:t>protecting </a:t>
            </a:r>
            <a:r>
              <a:rPr sz="1350" spc="45" dirty="0">
                <a:solidFill>
                  <a:srgbClr val="1D2F62"/>
                </a:solidFill>
                <a:latin typeface="Calibri"/>
                <a:cs typeface="Calibri"/>
              </a:rPr>
              <a:t>information.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534274" y="2619374"/>
            <a:ext cx="3295650" cy="933450"/>
            <a:chOff x="7534274" y="2619374"/>
            <a:chExt cx="3295650" cy="933450"/>
          </a:xfrm>
        </p:grpSpPr>
        <p:sp>
          <p:nvSpPr>
            <p:cNvPr id="12" name="object 12"/>
            <p:cNvSpPr/>
            <p:nvPr/>
          </p:nvSpPr>
          <p:spPr>
            <a:xfrm>
              <a:off x="7543799" y="2628899"/>
              <a:ext cx="3276600" cy="914400"/>
            </a:xfrm>
            <a:custGeom>
              <a:avLst/>
              <a:gdLst/>
              <a:ahLst/>
              <a:cxnLst/>
              <a:rect l="l" t="t" r="r" b="b"/>
              <a:pathLst>
                <a:path w="3276600" h="914400">
                  <a:moveTo>
                    <a:pt x="3165354" y="914399"/>
                  </a:moveTo>
                  <a:lnTo>
                    <a:pt x="111244" y="914399"/>
                  </a:lnTo>
                  <a:lnTo>
                    <a:pt x="103501" y="913637"/>
                  </a:lnTo>
                  <a:lnTo>
                    <a:pt x="66276" y="902344"/>
                  </a:lnTo>
                  <a:lnTo>
                    <a:pt x="29344" y="873999"/>
                  </a:lnTo>
                  <a:lnTo>
                    <a:pt x="6071" y="833677"/>
                  </a:lnTo>
                  <a:lnTo>
                    <a:pt x="0" y="803154"/>
                  </a:lnTo>
                  <a:lnTo>
                    <a:pt x="0" y="795337"/>
                  </a:lnTo>
                  <a:lnTo>
                    <a:pt x="0" y="111244"/>
                  </a:lnTo>
                  <a:lnTo>
                    <a:pt x="12054" y="66276"/>
                  </a:lnTo>
                  <a:lnTo>
                    <a:pt x="40400" y="29344"/>
                  </a:lnTo>
                  <a:lnTo>
                    <a:pt x="80721" y="6071"/>
                  </a:lnTo>
                  <a:lnTo>
                    <a:pt x="111244" y="0"/>
                  </a:lnTo>
                  <a:lnTo>
                    <a:pt x="3165354" y="0"/>
                  </a:lnTo>
                  <a:lnTo>
                    <a:pt x="3210321" y="12054"/>
                  </a:lnTo>
                  <a:lnTo>
                    <a:pt x="3247253" y="40400"/>
                  </a:lnTo>
                  <a:lnTo>
                    <a:pt x="3270526" y="80721"/>
                  </a:lnTo>
                  <a:lnTo>
                    <a:pt x="3276598" y="111244"/>
                  </a:lnTo>
                  <a:lnTo>
                    <a:pt x="3276598" y="803154"/>
                  </a:lnTo>
                  <a:lnTo>
                    <a:pt x="3264543" y="848122"/>
                  </a:lnTo>
                  <a:lnTo>
                    <a:pt x="3236197" y="885054"/>
                  </a:lnTo>
                  <a:lnTo>
                    <a:pt x="3195876" y="908327"/>
                  </a:lnTo>
                  <a:lnTo>
                    <a:pt x="3173096" y="913637"/>
                  </a:lnTo>
                  <a:lnTo>
                    <a:pt x="3165354" y="914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43799" y="2628899"/>
              <a:ext cx="3276600" cy="914400"/>
            </a:xfrm>
            <a:custGeom>
              <a:avLst/>
              <a:gdLst/>
              <a:ahLst/>
              <a:cxnLst/>
              <a:rect l="l" t="t" r="r" b="b"/>
              <a:pathLst>
                <a:path w="3276600" h="914400">
                  <a:moveTo>
                    <a:pt x="0" y="795337"/>
                  </a:moveTo>
                  <a:lnTo>
                    <a:pt x="0" y="119062"/>
                  </a:lnTo>
                  <a:lnTo>
                    <a:pt x="0" y="111244"/>
                  </a:lnTo>
                  <a:lnTo>
                    <a:pt x="762" y="103502"/>
                  </a:lnTo>
                  <a:lnTo>
                    <a:pt x="12054" y="66276"/>
                  </a:lnTo>
                  <a:lnTo>
                    <a:pt x="34872" y="34872"/>
                  </a:lnTo>
                  <a:lnTo>
                    <a:pt x="40400" y="29344"/>
                  </a:lnTo>
                  <a:lnTo>
                    <a:pt x="46414" y="24408"/>
                  </a:lnTo>
                  <a:lnTo>
                    <a:pt x="52914" y="20065"/>
                  </a:lnTo>
                  <a:lnTo>
                    <a:pt x="59414" y="15721"/>
                  </a:lnTo>
                  <a:lnTo>
                    <a:pt x="95834" y="2287"/>
                  </a:lnTo>
                  <a:lnTo>
                    <a:pt x="111244" y="0"/>
                  </a:lnTo>
                  <a:lnTo>
                    <a:pt x="119062" y="0"/>
                  </a:lnTo>
                  <a:lnTo>
                    <a:pt x="3157537" y="0"/>
                  </a:lnTo>
                  <a:lnTo>
                    <a:pt x="3165354" y="0"/>
                  </a:lnTo>
                  <a:lnTo>
                    <a:pt x="3173096" y="762"/>
                  </a:lnTo>
                  <a:lnTo>
                    <a:pt x="3210321" y="12054"/>
                  </a:lnTo>
                  <a:lnTo>
                    <a:pt x="3241726" y="34872"/>
                  </a:lnTo>
                  <a:lnTo>
                    <a:pt x="3256532" y="52914"/>
                  </a:lnTo>
                  <a:lnTo>
                    <a:pt x="3260876" y="59414"/>
                  </a:lnTo>
                  <a:lnTo>
                    <a:pt x="3274311" y="95834"/>
                  </a:lnTo>
                  <a:lnTo>
                    <a:pt x="3276599" y="119062"/>
                  </a:lnTo>
                  <a:lnTo>
                    <a:pt x="3276599" y="795337"/>
                  </a:lnTo>
                  <a:lnTo>
                    <a:pt x="3270526" y="833677"/>
                  </a:lnTo>
                  <a:lnTo>
                    <a:pt x="3267535" y="840900"/>
                  </a:lnTo>
                  <a:lnTo>
                    <a:pt x="3264543" y="848122"/>
                  </a:lnTo>
                  <a:lnTo>
                    <a:pt x="3260876" y="854984"/>
                  </a:lnTo>
                  <a:lnTo>
                    <a:pt x="3256532" y="861484"/>
                  </a:lnTo>
                  <a:lnTo>
                    <a:pt x="3252189" y="867984"/>
                  </a:lnTo>
                  <a:lnTo>
                    <a:pt x="3223684" y="894333"/>
                  </a:lnTo>
                  <a:lnTo>
                    <a:pt x="3188431" y="910586"/>
                  </a:lnTo>
                  <a:lnTo>
                    <a:pt x="3165354" y="914399"/>
                  </a:lnTo>
                  <a:lnTo>
                    <a:pt x="3157537" y="914399"/>
                  </a:lnTo>
                  <a:lnTo>
                    <a:pt x="119062" y="914399"/>
                  </a:lnTo>
                  <a:lnTo>
                    <a:pt x="111244" y="914399"/>
                  </a:lnTo>
                  <a:lnTo>
                    <a:pt x="103501" y="913637"/>
                  </a:lnTo>
                  <a:lnTo>
                    <a:pt x="66276" y="902344"/>
                  </a:lnTo>
                  <a:lnTo>
                    <a:pt x="52914" y="894333"/>
                  </a:lnTo>
                  <a:lnTo>
                    <a:pt x="46414" y="889990"/>
                  </a:lnTo>
                  <a:lnTo>
                    <a:pt x="20065" y="861484"/>
                  </a:lnTo>
                  <a:lnTo>
                    <a:pt x="15722" y="854984"/>
                  </a:lnTo>
                  <a:lnTo>
                    <a:pt x="12054" y="848122"/>
                  </a:lnTo>
                  <a:lnTo>
                    <a:pt x="9062" y="840900"/>
                  </a:lnTo>
                  <a:lnTo>
                    <a:pt x="6071" y="833677"/>
                  </a:lnTo>
                  <a:lnTo>
                    <a:pt x="3812" y="826232"/>
                  </a:lnTo>
                  <a:lnTo>
                    <a:pt x="2287" y="818565"/>
                  </a:lnTo>
                  <a:lnTo>
                    <a:pt x="762" y="810897"/>
                  </a:lnTo>
                  <a:lnTo>
                    <a:pt x="0" y="803154"/>
                  </a:lnTo>
                  <a:lnTo>
                    <a:pt x="0" y="795337"/>
                  </a:lnTo>
                  <a:close/>
                </a:path>
              </a:pathLst>
            </a:custGeom>
            <a:ln w="19049">
              <a:solidFill>
                <a:srgbClr val="B4CC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712075" y="2745740"/>
            <a:ext cx="279527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dirty="0">
                <a:solidFill>
                  <a:srgbClr val="1D2F62"/>
                </a:solidFill>
                <a:latin typeface="Calibri"/>
                <a:cs typeface="Calibri"/>
              </a:rPr>
              <a:t>It</a:t>
            </a:r>
            <a:r>
              <a:rPr sz="1350" spc="-1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60" dirty="0">
                <a:solidFill>
                  <a:srgbClr val="1D2F62"/>
                </a:solidFill>
                <a:latin typeface="Calibri"/>
                <a:cs typeface="Calibri"/>
              </a:rPr>
              <a:t>tells</a:t>
            </a:r>
            <a:r>
              <a:rPr sz="1350" spc="-1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90" dirty="0">
                <a:solidFill>
                  <a:srgbClr val="1D2F62"/>
                </a:solidFill>
                <a:latin typeface="Calibri"/>
                <a:cs typeface="Calibri"/>
              </a:rPr>
              <a:t>employees</a:t>
            </a:r>
            <a:r>
              <a:rPr sz="1350" spc="-1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75" dirty="0">
                <a:solidFill>
                  <a:srgbClr val="1D2F62"/>
                </a:solidFill>
                <a:latin typeface="Calibri"/>
                <a:cs typeface="Calibri"/>
              </a:rPr>
              <a:t>what</a:t>
            </a:r>
            <a:r>
              <a:rPr sz="1350" spc="-1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85" dirty="0">
                <a:solidFill>
                  <a:srgbClr val="1D2F62"/>
                </a:solidFill>
                <a:latin typeface="Calibri"/>
                <a:cs typeface="Calibri"/>
              </a:rPr>
              <a:t>they</a:t>
            </a:r>
            <a:r>
              <a:rPr sz="1350" spc="-1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75" dirty="0">
                <a:solidFill>
                  <a:srgbClr val="1D2F62"/>
                </a:solidFill>
                <a:latin typeface="Calibri"/>
                <a:cs typeface="Calibri"/>
              </a:rPr>
              <a:t>should </a:t>
            </a:r>
            <a:r>
              <a:rPr sz="1350" spc="95" dirty="0">
                <a:solidFill>
                  <a:srgbClr val="1D2F62"/>
                </a:solidFill>
                <a:latin typeface="Calibri"/>
                <a:cs typeface="Calibri"/>
              </a:rPr>
              <a:t>and</a:t>
            </a:r>
            <a:r>
              <a:rPr sz="1350" spc="-2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85" dirty="0">
                <a:solidFill>
                  <a:srgbClr val="1D2F62"/>
                </a:solidFill>
                <a:latin typeface="Calibri"/>
                <a:cs typeface="Calibri"/>
              </a:rPr>
              <a:t>should</a:t>
            </a:r>
            <a:r>
              <a:rPr sz="1350" spc="-2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75" dirty="0">
                <a:solidFill>
                  <a:srgbClr val="1D2F62"/>
                </a:solidFill>
                <a:latin typeface="Calibri"/>
                <a:cs typeface="Calibri"/>
              </a:rPr>
              <a:t>not</a:t>
            </a:r>
            <a:r>
              <a:rPr sz="1350" spc="-2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25" dirty="0">
                <a:solidFill>
                  <a:srgbClr val="1D2F62"/>
                </a:solidFill>
                <a:latin typeface="Calibri"/>
                <a:cs typeface="Calibri"/>
              </a:rPr>
              <a:t>do.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7374" y="3787775"/>
            <a:ext cx="108331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60" dirty="0">
                <a:solidFill>
                  <a:srgbClr val="F578DE"/>
                </a:solidFill>
                <a:latin typeface="Calibri"/>
                <a:cs typeface="Calibri"/>
              </a:rPr>
              <a:t>Example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7374" y="4545012"/>
            <a:ext cx="168719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30" dirty="0">
                <a:solidFill>
                  <a:srgbClr val="091B53"/>
                </a:solidFill>
                <a:latin typeface="Calibri"/>
                <a:cs typeface="Calibri"/>
              </a:rPr>
              <a:t>Password</a:t>
            </a:r>
            <a:r>
              <a:rPr sz="1650" b="1" spc="-45" dirty="0">
                <a:solidFill>
                  <a:srgbClr val="091B53"/>
                </a:solidFill>
                <a:latin typeface="Calibri"/>
                <a:cs typeface="Calibri"/>
              </a:rPr>
              <a:t> </a:t>
            </a:r>
            <a:r>
              <a:rPr sz="1650" b="1" spc="65" dirty="0">
                <a:solidFill>
                  <a:srgbClr val="091B53"/>
                </a:solidFill>
                <a:latin typeface="Calibri"/>
                <a:cs typeface="Calibri"/>
              </a:rPr>
              <a:t>policy.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10732" y="4545012"/>
            <a:ext cx="217043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90" dirty="0">
                <a:solidFill>
                  <a:srgbClr val="091B53"/>
                </a:solidFill>
                <a:latin typeface="Calibri"/>
                <a:cs typeface="Calibri"/>
              </a:rPr>
              <a:t>Internet</a:t>
            </a:r>
            <a:r>
              <a:rPr sz="1650" b="1" spc="-35" dirty="0">
                <a:solidFill>
                  <a:srgbClr val="091B53"/>
                </a:solidFill>
                <a:latin typeface="Calibri"/>
                <a:cs typeface="Calibri"/>
              </a:rPr>
              <a:t> </a:t>
            </a:r>
            <a:r>
              <a:rPr sz="1650" b="1" spc="155" dirty="0">
                <a:solidFill>
                  <a:srgbClr val="091B53"/>
                </a:solidFill>
                <a:latin typeface="Calibri"/>
                <a:cs typeface="Calibri"/>
              </a:rPr>
              <a:t>usage</a:t>
            </a:r>
            <a:r>
              <a:rPr sz="1650" b="1" spc="-30" dirty="0">
                <a:solidFill>
                  <a:srgbClr val="091B53"/>
                </a:solidFill>
                <a:latin typeface="Calibri"/>
                <a:cs typeface="Calibri"/>
              </a:rPr>
              <a:t> </a:t>
            </a:r>
            <a:r>
              <a:rPr sz="1650" b="1" spc="65" dirty="0">
                <a:solidFill>
                  <a:srgbClr val="091B53"/>
                </a:solidFill>
                <a:latin typeface="Calibri"/>
                <a:cs typeface="Calibri"/>
              </a:rPr>
              <a:t>policy.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34089" y="4545012"/>
            <a:ext cx="1923414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25" dirty="0">
                <a:solidFill>
                  <a:srgbClr val="091B53"/>
                </a:solidFill>
                <a:latin typeface="Calibri"/>
                <a:cs typeface="Calibri"/>
              </a:rPr>
              <a:t>Email</a:t>
            </a:r>
            <a:r>
              <a:rPr sz="1650" b="1" spc="-35" dirty="0">
                <a:solidFill>
                  <a:srgbClr val="091B53"/>
                </a:solidFill>
                <a:latin typeface="Calibri"/>
                <a:cs typeface="Calibri"/>
              </a:rPr>
              <a:t> </a:t>
            </a:r>
            <a:r>
              <a:rPr sz="1650" b="1" spc="155" dirty="0">
                <a:solidFill>
                  <a:srgbClr val="091B53"/>
                </a:solidFill>
                <a:latin typeface="Calibri"/>
                <a:cs typeface="Calibri"/>
              </a:rPr>
              <a:t>usage</a:t>
            </a:r>
            <a:r>
              <a:rPr sz="1650" b="1" spc="-30" dirty="0">
                <a:solidFill>
                  <a:srgbClr val="091B53"/>
                </a:solidFill>
                <a:latin typeface="Calibri"/>
                <a:cs typeface="Calibri"/>
              </a:rPr>
              <a:t> </a:t>
            </a:r>
            <a:r>
              <a:rPr sz="1650" b="1" spc="65" dirty="0">
                <a:solidFill>
                  <a:srgbClr val="091B53"/>
                </a:solidFill>
                <a:latin typeface="Calibri"/>
                <a:cs typeface="Calibri"/>
              </a:rPr>
              <a:t>policy.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529871" y="5807337"/>
            <a:ext cx="1840230" cy="603250"/>
            <a:chOff x="9529871" y="5807337"/>
            <a:chExt cx="1840230" cy="60325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537699" y="5815166"/>
              <a:ext cx="1824355" cy="587375"/>
            </a:xfrm>
            <a:custGeom>
              <a:avLst/>
              <a:gdLst/>
              <a:ahLst/>
              <a:cxnLst/>
              <a:rect l="l" t="t" r="r" b="b"/>
              <a:pathLst>
                <a:path w="1824354" h="587375">
                  <a:moveTo>
                    <a:pt x="1824102" y="0"/>
                  </a:moveTo>
                  <a:lnTo>
                    <a:pt x="0" y="0"/>
                  </a:lnTo>
                  <a:lnTo>
                    <a:pt x="0" y="587157"/>
                  </a:lnTo>
                  <a:lnTo>
                    <a:pt x="1824102" y="587157"/>
                  </a:lnTo>
                  <a:lnTo>
                    <a:pt x="18241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537699" y="5815166"/>
              <a:ext cx="1824355" cy="587375"/>
            </a:xfrm>
            <a:custGeom>
              <a:avLst/>
              <a:gdLst/>
              <a:ahLst/>
              <a:cxnLst/>
              <a:rect l="l" t="t" r="r" b="b"/>
              <a:pathLst>
                <a:path w="1824354" h="587375">
                  <a:moveTo>
                    <a:pt x="0" y="587157"/>
                  </a:moveTo>
                  <a:lnTo>
                    <a:pt x="1824102" y="587157"/>
                  </a:lnTo>
                  <a:lnTo>
                    <a:pt x="1824102" y="0"/>
                  </a:lnTo>
                  <a:lnTo>
                    <a:pt x="0" y="0"/>
                  </a:lnTo>
                  <a:lnTo>
                    <a:pt x="0" y="587157"/>
                  </a:lnTo>
                  <a:close/>
                </a:path>
              </a:pathLst>
            </a:custGeom>
            <a:ln w="1565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7375" y="949325"/>
            <a:ext cx="5744845" cy="107696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pc="229" dirty="0"/>
              <a:t>Objectives</a:t>
            </a:r>
            <a:r>
              <a:rPr spc="-100" dirty="0"/>
              <a:t> </a:t>
            </a:r>
            <a:r>
              <a:rPr spc="170" dirty="0"/>
              <a:t>of</a:t>
            </a:r>
            <a:r>
              <a:rPr spc="-95" dirty="0"/>
              <a:t> </a:t>
            </a:r>
            <a:r>
              <a:rPr spc="245" dirty="0"/>
              <a:t>Security</a:t>
            </a:r>
            <a:r>
              <a:rPr spc="-95" dirty="0"/>
              <a:t> </a:t>
            </a:r>
            <a:r>
              <a:rPr spc="200" dirty="0"/>
              <a:t>Policy</a:t>
            </a: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000" spc="90" dirty="0">
                <a:solidFill>
                  <a:srgbClr val="83C1FA"/>
                </a:solidFill>
              </a:rPr>
              <a:t>Main</a:t>
            </a:r>
            <a:r>
              <a:rPr sz="2000" spc="-65" dirty="0">
                <a:solidFill>
                  <a:srgbClr val="83C1FA"/>
                </a:solidFill>
              </a:rPr>
              <a:t> </a:t>
            </a:r>
            <a:r>
              <a:rPr sz="2000" spc="130" dirty="0">
                <a:solidFill>
                  <a:srgbClr val="83C1FA"/>
                </a:solidFill>
              </a:rPr>
              <a:t>Objectives</a:t>
            </a:r>
            <a:endParaRPr sz="2000"/>
          </a:p>
        </p:txBody>
      </p:sp>
      <p:grpSp>
        <p:nvGrpSpPr>
          <p:cNvPr id="3" name="object 3"/>
          <p:cNvGrpSpPr/>
          <p:nvPr/>
        </p:nvGrpSpPr>
        <p:grpSpPr>
          <a:xfrm>
            <a:off x="600075" y="2295524"/>
            <a:ext cx="3295650" cy="1562100"/>
            <a:chOff x="600075" y="2295524"/>
            <a:chExt cx="3295650" cy="1562100"/>
          </a:xfrm>
        </p:grpSpPr>
        <p:sp>
          <p:nvSpPr>
            <p:cNvPr id="4" name="object 4"/>
            <p:cNvSpPr/>
            <p:nvPr/>
          </p:nvSpPr>
          <p:spPr>
            <a:xfrm>
              <a:off x="600075" y="2295524"/>
              <a:ext cx="3295650" cy="1562100"/>
            </a:xfrm>
            <a:custGeom>
              <a:avLst/>
              <a:gdLst/>
              <a:ahLst/>
              <a:cxnLst/>
              <a:rect l="l" t="t" r="r" b="b"/>
              <a:pathLst>
                <a:path w="3295650" h="1562100">
                  <a:moveTo>
                    <a:pt x="3175508" y="0"/>
                  </a:moveTo>
                  <a:lnTo>
                    <a:pt x="120144" y="0"/>
                  </a:lnTo>
                  <a:lnTo>
                    <a:pt x="111780" y="825"/>
                  </a:lnTo>
                  <a:lnTo>
                    <a:pt x="71575" y="13017"/>
                  </a:lnTo>
                  <a:lnTo>
                    <a:pt x="31690" y="43637"/>
                  </a:lnTo>
                  <a:lnTo>
                    <a:pt x="6558" y="87185"/>
                  </a:lnTo>
                  <a:lnTo>
                    <a:pt x="0" y="120142"/>
                  </a:lnTo>
                  <a:lnTo>
                    <a:pt x="0" y="1433512"/>
                  </a:lnTo>
                  <a:lnTo>
                    <a:pt x="0" y="1441958"/>
                  </a:lnTo>
                  <a:lnTo>
                    <a:pt x="13017" y="1490522"/>
                  </a:lnTo>
                  <a:lnTo>
                    <a:pt x="43630" y="1530400"/>
                  </a:lnTo>
                  <a:lnTo>
                    <a:pt x="87179" y="1555546"/>
                  </a:lnTo>
                  <a:lnTo>
                    <a:pt x="120144" y="1562100"/>
                  </a:lnTo>
                  <a:lnTo>
                    <a:pt x="3175508" y="1562100"/>
                  </a:lnTo>
                  <a:lnTo>
                    <a:pt x="3224072" y="1549082"/>
                  </a:lnTo>
                  <a:lnTo>
                    <a:pt x="3263963" y="1518462"/>
                  </a:lnTo>
                  <a:lnTo>
                    <a:pt x="3289096" y="1474914"/>
                  </a:lnTo>
                  <a:lnTo>
                    <a:pt x="3295650" y="1441958"/>
                  </a:lnTo>
                  <a:lnTo>
                    <a:pt x="3295650" y="120142"/>
                  </a:lnTo>
                  <a:lnTo>
                    <a:pt x="3282632" y="71577"/>
                  </a:lnTo>
                  <a:lnTo>
                    <a:pt x="3252012" y="31686"/>
                  </a:lnTo>
                  <a:lnTo>
                    <a:pt x="3208477" y="6553"/>
                  </a:lnTo>
                  <a:lnTo>
                    <a:pt x="3183864" y="825"/>
                  </a:lnTo>
                  <a:lnTo>
                    <a:pt x="3175508" y="0"/>
                  </a:lnTo>
                  <a:close/>
                </a:path>
              </a:pathLst>
            </a:custGeom>
            <a:solidFill>
              <a:srgbClr val="CEE6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1525" y="2466974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0"/>
                  </a:moveTo>
                  <a:lnTo>
                    <a:pt x="248751" y="0"/>
                  </a:lnTo>
                  <a:lnTo>
                    <a:pt x="240347" y="406"/>
                  </a:lnTo>
                  <a:lnTo>
                    <a:pt x="198739" y="6578"/>
                  </a:lnTo>
                  <a:lnTo>
                    <a:pt x="150976" y="22796"/>
                  </a:lnTo>
                  <a:lnTo>
                    <a:pt x="107294" y="48018"/>
                  </a:lnTo>
                  <a:lnTo>
                    <a:pt x="69368" y="81280"/>
                  </a:lnTo>
                  <a:lnTo>
                    <a:pt x="38660" y="121297"/>
                  </a:lnTo>
                  <a:lnTo>
                    <a:pt x="16351" y="166535"/>
                  </a:lnTo>
                  <a:lnTo>
                    <a:pt x="3299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83" y="315607"/>
                  </a:lnTo>
                  <a:lnTo>
                    <a:pt x="22800" y="363372"/>
                  </a:lnTo>
                  <a:lnTo>
                    <a:pt x="48022" y="407060"/>
                  </a:lnTo>
                  <a:lnTo>
                    <a:pt x="81280" y="444982"/>
                  </a:lnTo>
                  <a:lnTo>
                    <a:pt x="121300" y="475691"/>
                  </a:lnTo>
                  <a:lnTo>
                    <a:pt x="166538" y="497992"/>
                  </a:lnTo>
                  <a:lnTo>
                    <a:pt x="215265" y="511048"/>
                  </a:lnTo>
                  <a:lnTo>
                    <a:pt x="248751" y="514350"/>
                  </a:lnTo>
                  <a:lnTo>
                    <a:pt x="265598" y="514350"/>
                  </a:lnTo>
                  <a:lnTo>
                    <a:pt x="315610" y="507758"/>
                  </a:lnTo>
                  <a:lnTo>
                    <a:pt x="363373" y="491553"/>
                  </a:lnTo>
                  <a:lnTo>
                    <a:pt x="407055" y="466331"/>
                  </a:lnTo>
                  <a:lnTo>
                    <a:pt x="444981" y="433070"/>
                  </a:lnTo>
                  <a:lnTo>
                    <a:pt x="475689" y="393052"/>
                  </a:lnTo>
                  <a:lnTo>
                    <a:pt x="497998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49" y="150977"/>
                  </a:lnTo>
                  <a:lnTo>
                    <a:pt x="466328" y="107289"/>
                  </a:lnTo>
                  <a:lnTo>
                    <a:pt x="433070" y="69367"/>
                  </a:lnTo>
                  <a:lnTo>
                    <a:pt x="393049" y="38658"/>
                  </a:lnTo>
                  <a:lnTo>
                    <a:pt x="347811" y="16357"/>
                  </a:lnTo>
                  <a:lnTo>
                    <a:pt x="299085" y="3289"/>
                  </a:lnTo>
                  <a:lnTo>
                    <a:pt x="274002" y="406"/>
                  </a:lnTo>
                  <a:lnTo>
                    <a:pt x="265598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9361" y="2604724"/>
              <a:ext cx="201475" cy="24168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58825" y="3135312"/>
            <a:ext cx="231521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35" dirty="0">
                <a:solidFill>
                  <a:srgbClr val="1E2F62"/>
                </a:solidFill>
                <a:latin typeface="Calibri"/>
                <a:cs typeface="Calibri"/>
              </a:rPr>
              <a:t>Protect</a:t>
            </a:r>
            <a:r>
              <a:rPr sz="1650" b="1" spc="-4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55" dirty="0">
                <a:solidFill>
                  <a:srgbClr val="1E2F62"/>
                </a:solidFill>
                <a:latin typeface="Calibri"/>
                <a:cs typeface="Calibri"/>
              </a:rPr>
              <a:t>company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70" dirty="0">
                <a:solidFill>
                  <a:srgbClr val="1E2F62"/>
                </a:solidFill>
                <a:latin typeface="Calibri"/>
                <a:cs typeface="Calibri"/>
              </a:rPr>
              <a:t>data.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67175" y="2295524"/>
            <a:ext cx="3295650" cy="1562100"/>
            <a:chOff x="4067175" y="2295524"/>
            <a:chExt cx="3295650" cy="1562100"/>
          </a:xfrm>
        </p:grpSpPr>
        <p:sp>
          <p:nvSpPr>
            <p:cNvPr id="9" name="object 9"/>
            <p:cNvSpPr/>
            <p:nvPr/>
          </p:nvSpPr>
          <p:spPr>
            <a:xfrm>
              <a:off x="4067175" y="2295524"/>
              <a:ext cx="3295650" cy="1562100"/>
            </a:xfrm>
            <a:custGeom>
              <a:avLst/>
              <a:gdLst/>
              <a:ahLst/>
              <a:cxnLst/>
              <a:rect l="l" t="t" r="r" b="b"/>
              <a:pathLst>
                <a:path w="3295650" h="1562100">
                  <a:moveTo>
                    <a:pt x="3175508" y="0"/>
                  </a:moveTo>
                  <a:lnTo>
                    <a:pt x="120142" y="0"/>
                  </a:lnTo>
                  <a:lnTo>
                    <a:pt x="111785" y="825"/>
                  </a:lnTo>
                  <a:lnTo>
                    <a:pt x="71577" y="13017"/>
                  </a:lnTo>
                  <a:lnTo>
                    <a:pt x="31686" y="43637"/>
                  </a:lnTo>
                  <a:lnTo>
                    <a:pt x="6553" y="87185"/>
                  </a:lnTo>
                  <a:lnTo>
                    <a:pt x="0" y="120142"/>
                  </a:lnTo>
                  <a:lnTo>
                    <a:pt x="0" y="1433512"/>
                  </a:lnTo>
                  <a:lnTo>
                    <a:pt x="0" y="1441958"/>
                  </a:lnTo>
                  <a:lnTo>
                    <a:pt x="13017" y="1490522"/>
                  </a:lnTo>
                  <a:lnTo>
                    <a:pt x="43637" y="1530400"/>
                  </a:lnTo>
                  <a:lnTo>
                    <a:pt x="87172" y="1555546"/>
                  </a:lnTo>
                  <a:lnTo>
                    <a:pt x="120142" y="1562100"/>
                  </a:lnTo>
                  <a:lnTo>
                    <a:pt x="3175508" y="1562100"/>
                  </a:lnTo>
                  <a:lnTo>
                    <a:pt x="3224072" y="1549082"/>
                  </a:lnTo>
                  <a:lnTo>
                    <a:pt x="3263950" y="1518462"/>
                  </a:lnTo>
                  <a:lnTo>
                    <a:pt x="3289096" y="1474914"/>
                  </a:lnTo>
                  <a:lnTo>
                    <a:pt x="3295650" y="1441958"/>
                  </a:lnTo>
                  <a:lnTo>
                    <a:pt x="3295650" y="120142"/>
                  </a:lnTo>
                  <a:lnTo>
                    <a:pt x="3282632" y="71577"/>
                  </a:lnTo>
                  <a:lnTo>
                    <a:pt x="3252012" y="31686"/>
                  </a:lnTo>
                  <a:lnTo>
                    <a:pt x="3208477" y="6553"/>
                  </a:lnTo>
                  <a:lnTo>
                    <a:pt x="3183864" y="825"/>
                  </a:lnTo>
                  <a:lnTo>
                    <a:pt x="3175508" y="0"/>
                  </a:lnTo>
                  <a:close/>
                </a:path>
              </a:pathLst>
            </a:custGeom>
            <a:solidFill>
              <a:srgbClr val="CEE6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38625" y="2466974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7992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57"/>
                  </a:lnTo>
                  <a:lnTo>
                    <a:pt x="299085" y="3289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3721" y="2604271"/>
              <a:ext cx="186798" cy="24213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225925" y="3135312"/>
            <a:ext cx="2203450" cy="5492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sz="1650" b="1" spc="114" dirty="0">
                <a:solidFill>
                  <a:srgbClr val="1E2F62"/>
                </a:solidFill>
                <a:latin typeface="Calibri"/>
                <a:cs typeface="Calibri"/>
              </a:rPr>
              <a:t>Prevent</a:t>
            </a:r>
            <a:r>
              <a:rPr sz="1650" b="1" spc="-2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00" dirty="0">
                <a:solidFill>
                  <a:srgbClr val="1E2F62"/>
                </a:solidFill>
                <a:latin typeface="Calibri"/>
                <a:cs typeface="Calibri"/>
              </a:rPr>
              <a:t>unauthorized </a:t>
            </a:r>
            <a:r>
              <a:rPr sz="1650" b="1" spc="135" dirty="0">
                <a:solidFill>
                  <a:srgbClr val="1E2F62"/>
                </a:solidFill>
                <a:latin typeface="Calibri"/>
                <a:cs typeface="Calibri"/>
              </a:rPr>
              <a:t>access.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534275" y="2295524"/>
            <a:ext cx="3295650" cy="1562100"/>
            <a:chOff x="7534275" y="2295524"/>
            <a:chExt cx="3295650" cy="1562100"/>
          </a:xfrm>
        </p:grpSpPr>
        <p:sp>
          <p:nvSpPr>
            <p:cNvPr id="14" name="object 14"/>
            <p:cNvSpPr/>
            <p:nvPr/>
          </p:nvSpPr>
          <p:spPr>
            <a:xfrm>
              <a:off x="7534275" y="2295524"/>
              <a:ext cx="3295650" cy="1562100"/>
            </a:xfrm>
            <a:custGeom>
              <a:avLst/>
              <a:gdLst/>
              <a:ahLst/>
              <a:cxnLst/>
              <a:rect l="l" t="t" r="r" b="b"/>
              <a:pathLst>
                <a:path w="3295650" h="1562100">
                  <a:moveTo>
                    <a:pt x="3175508" y="0"/>
                  </a:moveTo>
                  <a:lnTo>
                    <a:pt x="120142" y="0"/>
                  </a:lnTo>
                  <a:lnTo>
                    <a:pt x="111785" y="825"/>
                  </a:lnTo>
                  <a:lnTo>
                    <a:pt x="71577" y="13017"/>
                  </a:lnTo>
                  <a:lnTo>
                    <a:pt x="31686" y="43637"/>
                  </a:lnTo>
                  <a:lnTo>
                    <a:pt x="6553" y="87185"/>
                  </a:lnTo>
                  <a:lnTo>
                    <a:pt x="0" y="120142"/>
                  </a:lnTo>
                  <a:lnTo>
                    <a:pt x="0" y="1433512"/>
                  </a:lnTo>
                  <a:lnTo>
                    <a:pt x="0" y="1441958"/>
                  </a:lnTo>
                  <a:lnTo>
                    <a:pt x="13017" y="1490522"/>
                  </a:lnTo>
                  <a:lnTo>
                    <a:pt x="43637" y="1530400"/>
                  </a:lnTo>
                  <a:lnTo>
                    <a:pt x="87172" y="1555546"/>
                  </a:lnTo>
                  <a:lnTo>
                    <a:pt x="120142" y="1562100"/>
                  </a:lnTo>
                  <a:lnTo>
                    <a:pt x="3175508" y="1562100"/>
                  </a:lnTo>
                  <a:lnTo>
                    <a:pt x="3224072" y="1549082"/>
                  </a:lnTo>
                  <a:lnTo>
                    <a:pt x="3263963" y="1518462"/>
                  </a:lnTo>
                  <a:lnTo>
                    <a:pt x="3289096" y="1474914"/>
                  </a:lnTo>
                  <a:lnTo>
                    <a:pt x="3295650" y="1441958"/>
                  </a:lnTo>
                  <a:lnTo>
                    <a:pt x="3295650" y="120142"/>
                  </a:lnTo>
                  <a:lnTo>
                    <a:pt x="3282632" y="71577"/>
                  </a:lnTo>
                  <a:lnTo>
                    <a:pt x="3252012" y="31686"/>
                  </a:lnTo>
                  <a:lnTo>
                    <a:pt x="3208477" y="6553"/>
                  </a:lnTo>
                  <a:lnTo>
                    <a:pt x="3183864" y="825"/>
                  </a:lnTo>
                  <a:lnTo>
                    <a:pt x="3175508" y="0"/>
                  </a:lnTo>
                  <a:close/>
                </a:path>
              </a:pathLst>
            </a:custGeom>
            <a:solidFill>
              <a:srgbClr val="CEE6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705725" y="2466974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7992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57"/>
                  </a:lnTo>
                  <a:lnTo>
                    <a:pt x="299085" y="3289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60517" y="2604724"/>
              <a:ext cx="207609" cy="24168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693025" y="3135312"/>
            <a:ext cx="1731645" cy="5492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sz="1650" b="1" spc="120" dirty="0">
                <a:solidFill>
                  <a:srgbClr val="1E2F62"/>
                </a:solidFill>
                <a:latin typeface="Calibri"/>
                <a:cs typeface="Calibri"/>
              </a:rPr>
              <a:t>Define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14" dirty="0">
                <a:solidFill>
                  <a:srgbClr val="1E2F62"/>
                </a:solidFill>
                <a:latin typeface="Calibri"/>
                <a:cs typeface="Calibri"/>
              </a:rPr>
              <a:t>employee </a:t>
            </a:r>
            <a:r>
              <a:rPr sz="1650" b="1" spc="85" dirty="0">
                <a:solidFill>
                  <a:srgbClr val="1E2F62"/>
                </a:solidFill>
                <a:latin typeface="Calibri"/>
                <a:cs typeface="Calibri"/>
              </a:rPr>
              <a:t>responsibilities.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00075" y="4029075"/>
            <a:ext cx="5029200" cy="1295400"/>
            <a:chOff x="600075" y="4029075"/>
            <a:chExt cx="5029200" cy="1295400"/>
          </a:xfrm>
        </p:grpSpPr>
        <p:sp>
          <p:nvSpPr>
            <p:cNvPr id="19" name="object 19"/>
            <p:cNvSpPr/>
            <p:nvPr/>
          </p:nvSpPr>
          <p:spPr>
            <a:xfrm>
              <a:off x="600075" y="4029075"/>
              <a:ext cx="5029200" cy="1295400"/>
            </a:xfrm>
            <a:custGeom>
              <a:avLst/>
              <a:gdLst/>
              <a:ahLst/>
              <a:cxnLst/>
              <a:rect l="l" t="t" r="r" b="b"/>
              <a:pathLst>
                <a:path w="5029200" h="1295400">
                  <a:moveTo>
                    <a:pt x="4909058" y="0"/>
                  </a:moveTo>
                  <a:lnTo>
                    <a:pt x="120144" y="0"/>
                  </a:lnTo>
                  <a:lnTo>
                    <a:pt x="111780" y="825"/>
                  </a:lnTo>
                  <a:lnTo>
                    <a:pt x="71575" y="13017"/>
                  </a:lnTo>
                  <a:lnTo>
                    <a:pt x="31690" y="43637"/>
                  </a:lnTo>
                  <a:lnTo>
                    <a:pt x="6558" y="87185"/>
                  </a:lnTo>
                  <a:lnTo>
                    <a:pt x="0" y="120142"/>
                  </a:lnTo>
                  <a:lnTo>
                    <a:pt x="0" y="1166813"/>
                  </a:lnTo>
                  <a:lnTo>
                    <a:pt x="0" y="1175256"/>
                  </a:lnTo>
                  <a:lnTo>
                    <a:pt x="13017" y="1223819"/>
                  </a:lnTo>
                  <a:lnTo>
                    <a:pt x="43630" y="1263705"/>
                  </a:lnTo>
                  <a:lnTo>
                    <a:pt x="87179" y="1288843"/>
                  </a:lnTo>
                  <a:lnTo>
                    <a:pt x="120144" y="1295401"/>
                  </a:lnTo>
                  <a:lnTo>
                    <a:pt x="4909058" y="1295401"/>
                  </a:lnTo>
                  <a:lnTo>
                    <a:pt x="4957622" y="1282378"/>
                  </a:lnTo>
                  <a:lnTo>
                    <a:pt x="4997513" y="1251764"/>
                  </a:lnTo>
                  <a:lnTo>
                    <a:pt x="5022646" y="1208217"/>
                  </a:lnTo>
                  <a:lnTo>
                    <a:pt x="5029200" y="1175256"/>
                  </a:lnTo>
                  <a:lnTo>
                    <a:pt x="5029200" y="120142"/>
                  </a:lnTo>
                  <a:lnTo>
                    <a:pt x="5016182" y="71577"/>
                  </a:lnTo>
                  <a:lnTo>
                    <a:pt x="4985562" y="31686"/>
                  </a:lnTo>
                  <a:lnTo>
                    <a:pt x="4942027" y="6553"/>
                  </a:lnTo>
                  <a:lnTo>
                    <a:pt x="4917414" y="825"/>
                  </a:lnTo>
                  <a:lnTo>
                    <a:pt x="4909058" y="0"/>
                  </a:lnTo>
                  <a:close/>
                </a:path>
              </a:pathLst>
            </a:custGeom>
            <a:solidFill>
              <a:srgbClr val="CEE6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71525" y="42005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0"/>
                  </a:moveTo>
                  <a:lnTo>
                    <a:pt x="248751" y="0"/>
                  </a:lnTo>
                  <a:lnTo>
                    <a:pt x="240347" y="406"/>
                  </a:lnTo>
                  <a:lnTo>
                    <a:pt x="198739" y="6578"/>
                  </a:lnTo>
                  <a:lnTo>
                    <a:pt x="150976" y="22796"/>
                  </a:lnTo>
                  <a:lnTo>
                    <a:pt x="107294" y="48018"/>
                  </a:lnTo>
                  <a:lnTo>
                    <a:pt x="69368" y="81280"/>
                  </a:lnTo>
                  <a:lnTo>
                    <a:pt x="38660" y="121297"/>
                  </a:lnTo>
                  <a:lnTo>
                    <a:pt x="16351" y="166535"/>
                  </a:lnTo>
                  <a:lnTo>
                    <a:pt x="3299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83" y="315607"/>
                  </a:lnTo>
                  <a:lnTo>
                    <a:pt x="22800" y="363372"/>
                  </a:lnTo>
                  <a:lnTo>
                    <a:pt x="48022" y="407060"/>
                  </a:lnTo>
                  <a:lnTo>
                    <a:pt x="81280" y="444982"/>
                  </a:lnTo>
                  <a:lnTo>
                    <a:pt x="121300" y="475691"/>
                  </a:lnTo>
                  <a:lnTo>
                    <a:pt x="166538" y="497992"/>
                  </a:lnTo>
                  <a:lnTo>
                    <a:pt x="215265" y="511048"/>
                  </a:lnTo>
                  <a:lnTo>
                    <a:pt x="248751" y="514350"/>
                  </a:lnTo>
                  <a:lnTo>
                    <a:pt x="265598" y="514350"/>
                  </a:lnTo>
                  <a:lnTo>
                    <a:pt x="315610" y="507758"/>
                  </a:lnTo>
                  <a:lnTo>
                    <a:pt x="363373" y="491553"/>
                  </a:lnTo>
                  <a:lnTo>
                    <a:pt x="407055" y="466331"/>
                  </a:lnTo>
                  <a:lnTo>
                    <a:pt x="444981" y="433070"/>
                  </a:lnTo>
                  <a:lnTo>
                    <a:pt x="475689" y="393052"/>
                  </a:lnTo>
                  <a:lnTo>
                    <a:pt x="497998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49" y="150977"/>
                  </a:lnTo>
                  <a:lnTo>
                    <a:pt x="466328" y="107289"/>
                  </a:lnTo>
                  <a:lnTo>
                    <a:pt x="433070" y="69367"/>
                  </a:lnTo>
                  <a:lnTo>
                    <a:pt x="393049" y="38658"/>
                  </a:lnTo>
                  <a:lnTo>
                    <a:pt x="347811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8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9274" y="4357261"/>
              <a:ext cx="241678" cy="203696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58825" y="4868862"/>
            <a:ext cx="244856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85" dirty="0">
                <a:solidFill>
                  <a:srgbClr val="1E2F62"/>
                </a:solidFill>
                <a:latin typeface="Calibri"/>
                <a:cs typeface="Calibri"/>
              </a:rPr>
              <a:t>Maintain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70" dirty="0">
                <a:solidFill>
                  <a:srgbClr val="1E2F62"/>
                </a:solidFill>
                <a:latin typeface="Calibri"/>
                <a:cs typeface="Calibri"/>
              </a:rPr>
              <a:t>confidentiality.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800725" y="4029075"/>
            <a:ext cx="5029200" cy="1295400"/>
            <a:chOff x="5800725" y="4029075"/>
            <a:chExt cx="5029200" cy="1295400"/>
          </a:xfrm>
        </p:grpSpPr>
        <p:sp>
          <p:nvSpPr>
            <p:cNvPr id="24" name="object 24"/>
            <p:cNvSpPr/>
            <p:nvPr/>
          </p:nvSpPr>
          <p:spPr>
            <a:xfrm>
              <a:off x="5800725" y="4029075"/>
              <a:ext cx="5029200" cy="1295400"/>
            </a:xfrm>
            <a:custGeom>
              <a:avLst/>
              <a:gdLst/>
              <a:ahLst/>
              <a:cxnLst/>
              <a:rect l="l" t="t" r="r" b="b"/>
              <a:pathLst>
                <a:path w="5029200" h="1295400">
                  <a:moveTo>
                    <a:pt x="4909058" y="0"/>
                  </a:moveTo>
                  <a:lnTo>
                    <a:pt x="120142" y="0"/>
                  </a:lnTo>
                  <a:lnTo>
                    <a:pt x="111785" y="825"/>
                  </a:lnTo>
                  <a:lnTo>
                    <a:pt x="71577" y="13017"/>
                  </a:lnTo>
                  <a:lnTo>
                    <a:pt x="31686" y="43637"/>
                  </a:lnTo>
                  <a:lnTo>
                    <a:pt x="6553" y="87185"/>
                  </a:lnTo>
                  <a:lnTo>
                    <a:pt x="0" y="120142"/>
                  </a:lnTo>
                  <a:lnTo>
                    <a:pt x="0" y="1166813"/>
                  </a:lnTo>
                  <a:lnTo>
                    <a:pt x="0" y="1175256"/>
                  </a:lnTo>
                  <a:lnTo>
                    <a:pt x="13017" y="1223819"/>
                  </a:lnTo>
                  <a:lnTo>
                    <a:pt x="43637" y="1263705"/>
                  </a:lnTo>
                  <a:lnTo>
                    <a:pt x="87172" y="1288843"/>
                  </a:lnTo>
                  <a:lnTo>
                    <a:pt x="120142" y="1295401"/>
                  </a:lnTo>
                  <a:lnTo>
                    <a:pt x="4909058" y="1295401"/>
                  </a:lnTo>
                  <a:lnTo>
                    <a:pt x="4957622" y="1282378"/>
                  </a:lnTo>
                  <a:lnTo>
                    <a:pt x="4997513" y="1251764"/>
                  </a:lnTo>
                  <a:lnTo>
                    <a:pt x="5022646" y="1208217"/>
                  </a:lnTo>
                  <a:lnTo>
                    <a:pt x="5029200" y="1175256"/>
                  </a:lnTo>
                  <a:lnTo>
                    <a:pt x="5029200" y="120142"/>
                  </a:lnTo>
                  <a:lnTo>
                    <a:pt x="5016182" y="71577"/>
                  </a:lnTo>
                  <a:lnTo>
                    <a:pt x="4985562" y="31686"/>
                  </a:lnTo>
                  <a:lnTo>
                    <a:pt x="4942027" y="6553"/>
                  </a:lnTo>
                  <a:lnTo>
                    <a:pt x="4917414" y="825"/>
                  </a:lnTo>
                  <a:lnTo>
                    <a:pt x="4909058" y="0"/>
                  </a:lnTo>
                  <a:close/>
                </a:path>
              </a:pathLst>
            </a:custGeom>
            <a:solidFill>
              <a:srgbClr val="CEE6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72175" y="42005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78" y="393052"/>
                  </a:lnTo>
                  <a:lnTo>
                    <a:pt x="497992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58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9924" y="4356448"/>
              <a:ext cx="241682" cy="20516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959475" y="4868862"/>
            <a:ext cx="267589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00" dirty="0">
                <a:solidFill>
                  <a:srgbClr val="1E2F62"/>
                </a:solidFill>
                <a:latin typeface="Calibri"/>
                <a:cs typeface="Calibri"/>
              </a:rPr>
              <a:t>Follow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14" dirty="0">
                <a:solidFill>
                  <a:srgbClr val="1E2F62"/>
                </a:solidFill>
                <a:latin typeface="Calibri"/>
                <a:cs typeface="Calibri"/>
              </a:rPr>
              <a:t>legal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95" dirty="0">
                <a:solidFill>
                  <a:srgbClr val="1E2F62"/>
                </a:solidFill>
                <a:latin typeface="Calibri"/>
                <a:cs typeface="Calibri"/>
              </a:rPr>
              <a:t>requirements.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466371" y="5835868"/>
            <a:ext cx="1868805" cy="536575"/>
            <a:chOff x="9466371" y="5835868"/>
            <a:chExt cx="1868805" cy="536575"/>
          </a:xfrm>
        </p:grpSpPr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9677399" y="5917984"/>
              <a:ext cx="1612900" cy="446405"/>
            </a:xfrm>
            <a:custGeom>
              <a:avLst/>
              <a:gdLst/>
              <a:ahLst/>
              <a:cxnLst/>
              <a:rect l="l" t="t" r="r" b="b"/>
              <a:pathLst>
                <a:path w="1612900" h="446404">
                  <a:moveTo>
                    <a:pt x="1612726" y="0"/>
                  </a:moveTo>
                  <a:lnTo>
                    <a:pt x="0" y="0"/>
                  </a:lnTo>
                  <a:lnTo>
                    <a:pt x="0" y="446239"/>
                  </a:lnTo>
                  <a:lnTo>
                    <a:pt x="1612726" y="446239"/>
                  </a:lnTo>
                  <a:lnTo>
                    <a:pt x="16127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677399" y="5917984"/>
              <a:ext cx="1612900" cy="446405"/>
            </a:xfrm>
            <a:custGeom>
              <a:avLst/>
              <a:gdLst/>
              <a:ahLst/>
              <a:cxnLst/>
              <a:rect l="l" t="t" r="r" b="b"/>
              <a:pathLst>
                <a:path w="1612900" h="446404">
                  <a:moveTo>
                    <a:pt x="0" y="446239"/>
                  </a:moveTo>
                  <a:lnTo>
                    <a:pt x="1612726" y="446239"/>
                  </a:lnTo>
                  <a:lnTo>
                    <a:pt x="1612726" y="0"/>
                  </a:lnTo>
                  <a:lnTo>
                    <a:pt x="0" y="0"/>
                  </a:lnTo>
                  <a:lnTo>
                    <a:pt x="0" y="446239"/>
                  </a:lnTo>
                  <a:close/>
                </a:path>
              </a:pathLst>
            </a:custGeom>
            <a:ln w="1565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474199" y="5843697"/>
              <a:ext cx="399415" cy="469900"/>
            </a:xfrm>
            <a:custGeom>
              <a:avLst/>
              <a:gdLst/>
              <a:ahLst/>
              <a:cxnLst/>
              <a:rect l="l" t="t" r="r" b="b"/>
              <a:pathLst>
                <a:path w="399415" h="469900">
                  <a:moveTo>
                    <a:pt x="399267" y="0"/>
                  </a:moveTo>
                  <a:lnTo>
                    <a:pt x="0" y="0"/>
                  </a:lnTo>
                  <a:lnTo>
                    <a:pt x="0" y="469726"/>
                  </a:lnTo>
                  <a:lnTo>
                    <a:pt x="399267" y="469726"/>
                  </a:lnTo>
                  <a:lnTo>
                    <a:pt x="3992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474199" y="5843697"/>
              <a:ext cx="399415" cy="469900"/>
            </a:xfrm>
            <a:custGeom>
              <a:avLst/>
              <a:gdLst/>
              <a:ahLst/>
              <a:cxnLst/>
              <a:rect l="l" t="t" r="r" b="b"/>
              <a:pathLst>
                <a:path w="399415" h="469900">
                  <a:moveTo>
                    <a:pt x="0" y="469726"/>
                  </a:moveTo>
                  <a:lnTo>
                    <a:pt x="399267" y="469726"/>
                  </a:lnTo>
                  <a:lnTo>
                    <a:pt x="399267" y="0"/>
                  </a:lnTo>
                  <a:lnTo>
                    <a:pt x="0" y="0"/>
                  </a:lnTo>
                  <a:lnTo>
                    <a:pt x="0" y="469726"/>
                  </a:lnTo>
                  <a:close/>
                </a:path>
              </a:pathLst>
            </a:custGeom>
            <a:ln w="1565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pc="200" dirty="0"/>
              <a:t>Benefits</a:t>
            </a:r>
            <a:r>
              <a:rPr spc="-85" dirty="0"/>
              <a:t> </a:t>
            </a:r>
            <a:r>
              <a:rPr spc="170" dirty="0"/>
              <a:t>of</a:t>
            </a:r>
            <a:r>
              <a:rPr spc="-85" dirty="0"/>
              <a:t> </a:t>
            </a:r>
            <a:r>
              <a:rPr spc="245" dirty="0"/>
              <a:t>Security</a:t>
            </a:r>
            <a:r>
              <a:rPr spc="-80" dirty="0"/>
              <a:t> </a:t>
            </a:r>
            <a:r>
              <a:rPr spc="200" dirty="0"/>
              <a:t>Policies</a:t>
            </a: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000" spc="145" dirty="0">
                <a:solidFill>
                  <a:srgbClr val="83C1FA"/>
                </a:solidFill>
              </a:rPr>
              <a:t>Advantages</a:t>
            </a:r>
            <a:endParaRPr sz="2000"/>
          </a:p>
        </p:txBody>
      </p:sp>
      <p:grpSp>
        <p:nvGrpSpPr>
          <p:cNvPr id="3" name="object 3"/>
          <p:cNvGrpSpPr/>
          <p:nvPr/>
        </p:nvGrpSpPr>
        <p:grpSpPr>
          <a:xfrm>
            <a:off x="581025" y="2666999"/>
            <a:ext cx="5048250" cy="647700"/>
            <a:chOff x="581025" y="2666999"/>
            <a:chExt cx="5048250" cy="647700"/>
          </a:xfrm>
        </p:grpSpPr>
        <p:sp>
          <p:nvSpPr>
            <p:cNvPr id="4" name="object 4"/>
            <p:cNvSpPr/>
            <p:nvPr/>
          </p:nvSpPr>
          <p:spPr>
            <a:xfrm>
              <a:off x="600075" y="2676524"/>
              <a:ext cx="5019675" cy="628650"/>
            </a:xfrm>
            <a:custGeom>
              <a:avLst/>
              <a:gdLst/>
              <a:ahLst/>
              <a:cxnLst/>
              <a:rect l="l" t="t" r="r" b="b"/>
              <a:pathLst>
                <a:path w="5019675" h="628650">
                  <a:moveTo>
                    <a:pt x="4908435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561975"/>
                  </a:lnTo>
                  <a:lnTo>
                    <a:pt x="0" y="566356"/>
                  </a:lnTo>
                  <a:lnTo>
                    <a:pt x="15622" y="602653"/>
                  </a:lnTo>
                  <a:lnTo>
                    <a:pt x="51663" y="625246"/>
                  </a:lnTo>
                  <a:lnTo>
                    <a:pt x="71194" y="628650"/>
                  </a:lnTo>
                  <a:lnTo>
                    <a:pt x="4908435" y="628650"/>
                  </a:lnTo>
                  <a:lnTo>
                    <a:pt x="4953393" y="616597"/>
                  </a:lnTo>
                  <a:lnTo>
                    <a:pt x="4990325" y="588251"/>
                  </a:lnTo>
                  <a:lnTo>
                    <a:pt x="5013604" y="547928"/>
                  </a:lnTo>
                  <a:lnTo>
                    <a:pt x="5019675" y="517398"/>
                  </a:lnTo>
                  <a:lnTo>
                    <a:pt x="5019675" y="111239"/>
                  </a:lnTo>
                  <a:lnTo>
                    <a:pt x="5007622" y="66268"/>
                  </a:lnTo>
                  <a:lnTo>
                    <a:pt x="4979276" y="29349"/>
                  </a:lnTo>
                  <a:lnTo>
                    <a:pt x="4938953" y="6070"/>
                  </a:lnTo>
                  <a:lnTo>
                    <a:pt x="4916170" y="762"/>
                  </a:lnTo>
                  <a:lnTo>
                    <a:pt x="49084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0913" y="2667012"/>
              <a:ext cx="5028565" cy="647700"/>
            </a:xfrm>
            <a:custGeom>
              <a:avLst/>
              <a:gdLst/>
              <a:ahLst/>
              <a:cxnLst/>
              <a:rect l="l" t="t" r="r" b="b"/>
              <a:pathLst>
                <a:path w="5028565" h="647700">
                  <a:moveTo>
                    <a:pt x="5028349" y="128587"/>
                  </a:moveTo>
                  <a:lnTo>
                    <a:pt x="5018557" y="79375"/>
                  </a:lnTo>
                  <a:lnTo>
                    <a:pt x="4991138" y="38163"/>
                  </a:lnTo>
                  <a:lnTo>
                    <a:pt x="4990973" y="37973"/>
                  </a:lnTo>
                  <a:lnTo>
                    <a:pt x="4990693" y="37655"/>
                  </a:lnTo>
                  <a:lnTo>
                    <a:pt x="4981295" y="29121"/>
                  </a:lnTo>
                  <a:lnTo>
                    <a:pt x="4971224" y="21640"/>
                  </a:lnTo>
                  <a:lnTo>
                    <a:pt x="4966881" y="19050"/>
                  </a:lnTo>
                  <a:lnTo>
                    <a:pt x="4960442" y="15189"/>
                  </a:lnTo>
                  <a:lnTo>
                    <a:pt x="4912436" y="609"/>
                  </a:lnTo>
                  <a:lnTo>
                    <a:pt x="48997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899761" y="19050"/>
                  </a:lnTo>
                  <a:lnTo>
                    <a:pt x="4941671" y="27381"/>
                  </a:lnTo>
                  <a:lnTo>
                    <a:pt x="4977219" y="51130"/>
                  </a:lnTo>
                  <a:lnTo>
                    <a:pt x="5000955" y="86664"/>
                  </a:lnTo>
                  <a:lnTo>
                    <a:pt x="5009299" y="128587"/>
                  </a:lnTo>
                  <a:lnTo>
                    <a:pt x="5009299" y="519112"/>
                  </a:lnTo>
                  <a:lnTo>
                    <a:pt x="5000955" y="561022"/>
                  </a:lnTo>
                  <a:lnTo>
                    <a:pt x="4977676" y="596061"/>
                  </a:lnTo>
                  <a:lnTo>
                    <a:pt x="4977219" y="596569"/>
                  </a:lnTo>
                  <a:lnTo>
                    <a:pt x="4941684" y="620306"/>
                  </a:lnTo>
                  <a:lnTo>
                    <a:pt x="4899761" y="628650"/>
                  </a:lnTo>
                  <a:lnTo>
                    <a:pt x="75349" y="628650"/>
                  </a:lnTo>
                  <a:lnTo>
                    <a:pt x="33007" y="619023"/>
                  </a:lnTo>
                  <a:lnTo>
                    <a:pt x="1092" y="586371"/>
                  </a:lnTo>
                  <a:lnTo>
                    <a:pt x="0" y="582256"/>
                  </a:lnTo>
                  <a:lnTo>
                    <a:pt x="609" y="586371"/>
                  </a:lnTo>
                  <a:lnTo>
                    <a:pt x="2413" y="593572"/>
                  </a:lnTo>
                  <a:lnTo>
                    <a:pt x="4851" y="600367"/>
                  </a:lnTo>
                  <a:lnTo>
                    <a:pt x="4953" y="600659"/>
                  </a:lnTo>
                  <a:lnTo>
                    <a:pt x="33007" y="634860"/>
                  </a:lnTo>
                  <a:lnTo>
                    <a:pt x="75349" y="647700"/>
                  </a:lnTo>
                  <a:lnTo>
                    <a:pt x="4899761" y="647700"/>
                  </a:lnTo>
                  <a:lnTo>
                    <a:pt x="4948974" y="637908"/>
                  </a:lnTo>
                  <a:lnTo>
                    <a:pt x="4990681" y="610031"/>
                  </a:lnTo>
                  <a:lnTo>
                    <a:pt x="4991138" y="609523"/>
                  </a:lnTo>
                  <a:lnTo>
                    <a:pt x="4999202" y="600659"/>
                  </a:lnTo>
                  <a:lnTo>
                    <a:pt x="5022850" y="556374"/>
                  </a:lnTo>
                  <a:lnTo>
                    <a:pt x="5028349" y="519112"/>
                  </a:lnTo>
                  <a:lnTo>
                    <a:pt x="5028349" y="128587"/>
                  </a:lnTo>
                  <a:close/>
                </a:path>
              </a:pathLst>
            </a:custGeom>
            <a:solidFill>
              <a:srgbClr val="B3C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1025" y="2666999"/>
              <a:ext cx="76200" cy="647700"/>
            </a:xfrm>
            <a:custGeom>
              <a:avLst/>
              <a:gdLst/>
              <a:ahLst/>
              <a:cxnLst/>
              <a:rect l="l" t="t" r="r" b="b"/>
              <a:pathLst>
                <a:path w="76200" h="647700">
                  <a:moveTo>
                    <a:pt x="76200" y="0"/>
                  </a:moveTo>
                  <a:lnTo>
                    <a:pt x="71194" y="0"/>
                  </a:lnTo>
                  <a:lnTo>
                    <a:pt x="66243" y="482"/>
                  </a:lnTo>
                  <a:lnTo>
                    <a:pt x="29706" y="15621"/>
                  </a:lnTo>
                  <a:lnTo>
                    <a:pt x="3884" y="51663"/>
                  </a:lnTo>
                  <a:lnTo>
                    <a:pt x="0" y="71196"/>
                  </a:lnTo>
                  <a:lnTo>
                    <a:pt x="0" y="571500"/>
                  </a:lnTo>
                  <a:lnTo>
                    <a:pt x="0" y="576503"/>
                  </a:lnTo>
                  <a:lnTo>
                    <a:pt x="15622" y="617994"/>
                  </a:lnTo>
                  <a:lnTo>
                    <a:pt x="51663" y="643813"/>
                  </a:lnTo>
                  <a:lnTo>
                    <a:pt x="71194" y="647700"/>
                  </a:lnTo>
                  <a:lnTo>
                    <a:pt x="76200" y="6477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781675" y="2666999"/>
            <a:ext cx="5048250" cy="647700"/>
            <a:chOff x="5781675" y="2666999"/>
            <a:chExt cx="5048250" cy="647700"/>
          </a:xfrm>
        </p:grpSpPr>
        <p:sp>
          <p:nvSpPr>
            <p:cNvPr id="8" name="object 8"/>
            <p:cNvSpPr/>
            <p:nvPr/>
          </p:nvSpPr>
          <p:spPr>
            <a:xfrm>
              <a:off x="5800725" y="2676524"/>
              <a:ext cx="5019675" cy="628650"/>
            </a:xfrm>
            <a:custGeom>
              <a:avLst/>
              <a:gdLst/>
              <a:ahLst/>
              <a:cxnLst/>
              <a:rect l="l" t="t" r="r" b="b"/>
              <a:pathLst>
                <a:path w="5019675" h="628650">
                  <a:moveTo>
                    <a:pt x="4908435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561975"/>
                  </a:lnTo>
                  <a:lnTo>
                    <a:pt x="0" y="566356"/>
                  </a:lnTo>
                  <a:lnTo>
                    <a:pt x="15621" y="602653"/>
                  </a:lnTo>
                  <a:lnTo>
                    <a:pt x="51663" y="625246"/>
                  </a:lnTo>
                  <a:lnTo>
                    <a:pt x="71196" y="628650"/>
                  </a:lnTo>
                  <a:lnTo>
                    <a:pt x="4908435" y="628650"/>
                  </a:lnTo>
                  <a:lnTo>
                    <a:pt x="4953393" y="616597"/>
                  </a:lnTo>
                  <a:lnTo>
                    <a:pt x="4990325" y="588251"/>
                  </a:lnTo>
                  <a:lnTo>
                    <a:pt x="5013604" y="547928"/>
                  </a:lnTo>
                  <a:lnTo>
                    <a:pt x="5019675" y="517398"/>
                  </a:lnTo>
                  <a:lnTo>
                    <a:pt x="5019675" y="111239"/>
                  </a:lnTo>
                  <a:lnTo>
                    <a:pt x="5007622" y="66268"/>
                  </a:lnTo>
                  <a:lnTo>
                    <a:pt x="4979276" y="29349"/>
                  </a:lnTo>
                  <a:lnTo>
                    <a:pt x="4938953" y="6070"/>
                  </a:lnTo>
                  <a:lnTo>
                    <a:pt x="4916170" y="762"/>
                  </a:lnTo>
                  <a:lnTo>
                    <a:pt x="49084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01563" y="2667012"/>
              <a:ext cx="5028565" cy="647700"/>
            </a:xfrm>
            <a:custGeom>
              <a:avLst/>
              <a:gdLst/>
              <a:ahLst/>
              <a:cxnLst/>
              <a:rect l="l" t="t" r="r" b="b"/>
              <a:pathLst>
                <a:path w="5028565" h="647700">
                  <a:moveTo>
                    <a:pt x="5028349" y="128587"/>
                  </a:moveTo>
                  <a:lnTo>
                    <a:pt x="5018557" y="79375"/>
                  </a:lnTo>
                  <a:lnTo>
                    <a:pt x="4991138" y="38163"/>
                  </a:lnTo>
                  <a:lnTo>
                    <a:pt x="4990973" y="37973"/>
                  </a:lnTo>
                  <a:lnTo>
                    <a:pt x="4990693" y="37655"/>
                  </a:lnTo>
                  <a:lnTo>
                    <a:pt x="4981295" y="29121"/>
                  </a:lnTo>
                  <a:lnTo>
                    <a:pt x="4971224" y="21640"/>
                  </a:lnTo>
                  <a:lnTo>
                    <a:pt x="4966881" y="19050"/>
                  </a:lnTo>
                  <a:lnTo>
                    <a:pt x="4960442" y="15189"/>
                  </a:lnTo>
                  <a:lnTo>
                    <a:pt x="4912436" y="609"/>
                  </a:lnTo>
                  <a:lnTo>
                    <a:pt x="48997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899761" y="19050"/>
                  </a:lnTo>
                  <a:lnTo>
                    <a:pt x="4941671" y="27381"/>
                  </a:lnTo>
                  <a:lnTo>
                    <a:pt x="4977219" y="51130"/>
                  </a:lnTo>
                  <a:lnTo>
                    <a:pt x="5000955" y="86664"/>
                  </a:lnTo>
                  <a:lnTo>
                    <a:pt x="5009299" y="128587"/>
                  </a:lnTo>
                  <a:lnTo>
                    <a:pt x="5009299" y="519112"/>
                  </a:lnTo>
                  <a:lnTo>
                    <a:pt x="5000955" y="561022"/>
                  </a:lnTo>
                  <a:lnTo>
                    <a:pt x="4977676" y="596061"/>
                  </a:lnTo>
                  <a:lnTo>
                    <a:pt x="4977219" y="596569"/>
                  </a:lnTo>
                  <a:lnTo>
                    <a:pt x="4941671" y="620306"/>
                  </a:lnTo>
                  <a:lnTo>
                    <a:pt x="4899761" y="628650"/>
                  </a:lnTo>
                  <a:lnTo>
                    <a:pt x="75349" y="628650"/>
                  </a:lnTo>
                  <a:lnTo>
                    <a:pt x="33007" y="619023"/>
                  </a:lnTo>
                  <a:lnTo>
                    <a:pt x="1079" y="586371"/>
                  </a:lnTo>
                  <a:lnTo>
                    <a:pt x="0" y="582269"/>
                  </a:lnTo>
                  <a:lnTo>
                    <a:pt x="609" y="586371"/>
                  </a:lnTo>
                  <a:lnTo>
                    <a:pt x="2413" y="593572"/>
                  </a:lnTo>
                  <a:lnTo>
                    <a:pt x="4851" y="600367"/>
                  </a:lnTo>
                  <a:lnTo>
                    <a:pt x="4953" y="600659"/>
                  </a:lnTo>
                  <a:lnTo>
                    <a:pt x="33007" y="634860"/>
                  </a:lnTo>
                  <a:lnTo>
                    <a:pt x="75349" y="647700"/>
                  </a:lnTo>
                  <a:lnTo>
                    <a:pt x="4899761" y="647700"/>
                  </a:lnTo>
                  <a:lnTo>
                    <a:pt x="4948974" y="637908"/>
                  </a:lnTo>
                  <a:lnTo>
                    <a:pt x="4990681" y="610031"/>
                  </a:lnTo>
                  <a:lnTo>
                    <a:pt x="4991138" y="609523"/>
                  </a:lnTo>
                  <a:lnTo>
                    <a:pt x="4999202" y="600659"/>
                  </a:lnTo>
                  <a:lnTo>
                    <a:pt x="5022850" y="556374"/>
                  </a:lnTo>
                  <a:lnTo>
                    <a:pt x="5028349" y="519112"/>
                  </a:lnTo>
                  <a:lnTo>
                    <a:pt x="5028349" y="128587"/>
                  </a:lnTo>
                  <a:close/>
                </a:path>
              </a:pathLst>
            </a:custGeom>
            <a:solidFill>
              <a:srgbClr val="B3C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1675" y="2666999"/>
              <a:ext cx="76200" cy="647700"/>
            </a:xfrm>
            <a:custGeom>
              <a:avLst/>
              <a:gdLst/>
              <a:ahLst/>
              <a:cxnLst/>
              <a:rect l="l" t="t" r="r" b="b"/>
              <a:pathLst>
                <a:path w="76200" h="647700">
                  <a:moveTo>
                    <a:pt x="76200" y="0"/>
                  </a:moveTo>
                  <a:lnTo>
                    <a:pt x="71196" y="0"/>
                  </a:lnTo>
                  <a:lnTo>
                    <a:pt x="66243" y="482"/>
                  </a:lnTo>
                  <a:lnTo>
                    <a:pt x="29705" y="15621"/>
                  </a:lnTo>
                  <a:lnTo>
                    <a:pt x="3886" y="51663"/>
                  </a:lnTo>
                  <a:lnTo>
                    <a:pt x="0" y="71196"/>
                  </a:lnTo>
                  <a:lnTo>
                    <a:pt x="0" y="571500"/>
                  </a:lnTo>
                  <a:lnTo>
                    <a:pt x="0" y="576503"/>
                  </a:lnTo>
                  <a:lnTo>
                    <a:pt x="15621" y="617994"/>
                  </a:lnTo>
                  <a:lnTo>
                    <a:pt x="51663" y="643813"/>
                  </a:lnTo>
                  <a:lnTo>
                    <a:pt x="71196" y="647700"/>
                  </a:lnTo>
                  <a:lnTo>
                    <a:pt x="76200" y="6477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81025" y="3486150"/>
            <a:ext cx="5048250" cy="647700"/>
            <a:chOff x="581025" y="3486150"/>
            <a:chExt cx="5048250" cy="647700"/>
          </a:xfrm>
        </p:grpSpPr>
        <p:sp>
          <p:nvSpPr>
            <p:cNvPr id="12" name="object 12"/>
            <p:cNvSpPr/>
            <p:nvPr/>
          </p:nvSpPr>
          <p:spPr>
            <a:xfrm>
              <a:off x="600075" y="3495675"/>
              <a:ext cx="5019675" cy="628650"/>
            </a:xfrm>
            <a:custGeom>
              <a:avLst/>
              <a:gdLst/>
              <a:ahLst/>
              <a:cxnLst/>
              <a:rect l="l" t="t" r="r" b="b"/>
              <a:pathLst>
                <a:path w="5019675" h="628650">
                  <a:moveTo>
                    <a:pt x="4908435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561975"/>
                  </a:lnTo>
                  <a:lnTo>
                    <a:pt x="0" y="566356"/>
                  </a:lnTo>
                  <a:lnTo>
                    <a:pt x="15622" y="602653"/>
                  </a:lnTo>
                  <a:lnTo>
                    <a:pt x="51663" y="625246"/>
                  </a:lnTo>
                  <a:lnTo>
                    <a:pt x="71194" y="628650"/>
                  </a:lnTo>
                  <a:lnTo>
                    <a:pt x="4908435" y="628650"/>
                  </a:lnTo>
                  <a:lnTo>
                    <a:pt x="4953393" y="616597"/>
                  </a:lnTo>
                  <a:lnTo>
                    <a:pt x="4990325" y="588251"/>
                  </a:lnTo>
                  <a:lnTo>
                    <a:pt x="5013604" y="547928"/>
                  </a:lnTo>
                  <a:lnTo>
                    <a:pt x="5019675" y="517410"/>
                  </a:lnTo>
                  <a:lnTo>
                    <a:pt x="5019675" y="111239"/>
                  </a:lnTo>
                  <a:lnTo>
                    <a:pt x="5007622" y="66268"/>
                  </a:lnTo>
                  <a:lnTo>
                    <a:pt x="4979276" y="29349"/>
                  </a:lnTo>
                  <a:lnTo>
                    <a:pt x="4938953" y="6070"/>
                  </a:lnTo>
                  <a:lnTo>
                    <a:pt x="4916170" y="762"/>
                  </a:lnTo>
                  <a:lnTo>
                    <a:pt x="49084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0913" y="3486162"/>
              <a:ext cx="5028565" cy="647700"/>
            </a:xfrm>
            <a:custGeom>
              <a:avLst/>
              <a:gdLst/>
              <a:ahLst/>
              <a:cxnLst/>
              <a:rect l="l" t="t" r="r" b="b"/>
              <a:pathLst>
                <a:path w="5028565" h="647700">
                  <a:moveTo>
                    <a:pt x="5028349" y="128587"/>
                  </a:moveTo>
                  <a:lnTo>
                    <a:pt x="5018557" y="79375"/>
                  </a:lnTo>
                  <a:lnTo>
                    <a:pt x="4991138" y="38163"/>
                  </a:lnTo>
                  <a:lnTo>
                    <a:pt x="4990973" y="37973"/>
                  </a:lnTo>
                  <a:lnTo>
                    <a:pt x="4990693" y="37655"/>
                  </a:lnTo>
                  <a:lnTo>
                    <a:pt x="4981295" y="29121"/>
                  </a:lnTo>
                  <a:lnTo>
                    <a:pt x="4971224" y="21640"/>
                  </a:lnTo>
                  <a:lnTo>
                    <a:pt x="4966881" y="19050"/>
                  </a:lnTo>
                  <a:lnTo>
                    <a:pt x="4960442" y="15189"/>
                  </a:lnTo>
                  <a:lnTo>
                    <a:pt x="4912436" y="609"/>
                  </a:lnTo>
                  <a:lnTo>
                    <a:pt x="48997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899761" y="19050"/>
                  </a:lnTo>
                  <a:lnTo>
                    <a:pt x="4941671" y="27381"/>
                  </a:lnTo>
                  <a:lnTo>
                    <a:pt x="4977219" y="51130"/>
                  </a:lnTo>
                  <a:lnTo>
                    <a:pt x="5000955" y="86664"/>
                  </a:lnTo>
                  <a:lnTo>
                    <a:pt x="5009299" y="128587"/>
                  </a:lnTo>
                  <a:lnTo>
                    <a:pt x="5009299" y="519112"/>
                  </a:lnTo>
                  <a:lnTo>
                    <a:pt x="5000955" y="561022"/>
                  </a:lnTo>
                  <a:lnTo>
                    <a:pt x="4977676" y="596061"/>
                  </a:lnTo>
                  <a:lnTo>
                    <a:pt x="4977219" y="596569"/>
                  </a:lnTo>
                  <a:lnTo>
                    <a:pt x="4941684" y="620306"/>
                  </a:lnTo>
                  <a:lnTo>
                    <a:pt x="4899761" y="628650"/>
                  </a:lnTo>
                  <a:lnTo>
                    <a:pt x="75349" y="628650"/>
                  </a:lnTo>
                  <a:lnTo>
                    <a:pt x="33007" y="619023"/>
                  </a:lnTo>
                  <a:lnTo>
                    <a:pt x="1092" y="586371"/>
                  </a:lnTo>
                  <a:lnTo>
                    <a:pt x="0" y="582256"/>
                  </a:lnTo>
                  <a:lnTo>
                    <a:pt x="609" y="586371"/>
                  </a:lnTo>
                  <a:lnTo>
                    <a:pt x="2413" y="593585"/>
                  </a:lnTo>
                  <a:lnTo>
                    <a:pt x="4851" y="600367"/>
                  </a:lnTo>
                  <a:lnTo>
                    <a:pt x="4953" y="600659"/>
                  </a:lnTo>
                  <a:lnTo>
                    <a:pt x="33007" y="634860"/>
                  </a:lnTo>
                  <a:lnTo>
                    <a:pt x="75349" y="647700"/>
                  </a:lnTo>
                  <a:lnTo>
                    <a:pt x="4899761" y="647700"/>
                  </a:lnTo>
                  <a:lnTo>
                    <a:pt x="4948974" y="637908"/>
                  </a:lnTo>
                  <a:lnTo>
                    <a:pt x="4990681" y="610031"/>
                  </a:lnTo>
                  <a:lnTo>
                    <a:pt x="4991138" y="609523"/>
                  </a:lnTo>
                  <a:lnTo>
                    <a:pt x="4999202" y="600659"/>
                  </a:lnTo>
                  <a:lnTo>
                    <a:pt x="5022850" y="556374"/>
                  </a:lnTo>
                  <a:lnTo>
                    <a:pt x="5028349" y="519112"/>
                  </a:lnTo>
                  <a:lnTo>
                    <a:pt x="5028349" y="128587"/>
                  </a:lnTo>
                  <a:close/>
                </a:path>
              </a:pathLst>
            </a:custGeom>
            <a:solidFill>
              <a:srgbClr val="B3C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1025" y="3486150"/>
              <a:ext cx="76200" cy="647700"/>
            </a:xfrm>
            <a:custGeom>
              <a:avLst/>
              <a:gdLst/>
              <a:ahLst/>
              <a:cxnLst/>
              <a:rect l="l" t="t" r="r" b="b"/>
              <a:pathLst>
                <a:path w="76200" h="647700">
                  <a:moveTo>
                    <a:pt x="76200" y="0"/>
                  </a:moveTo>
                  <a:lnTo>
                    <a:pt x="71194" y="0"/>
                  </a:lnTo>
                  <a:lnTo>
                    <a:pt x="66243" y="482"/>
                  </a:lnTo>
                  <a:lnTo>
                    <a:pt x="29706" y="15621"/>
                  </a:lnTo>
                  <a:lnTo>
                    <a:pt x="3884" y="51663"/>
                  </a:lnTo>
                  <a:lnTo>
                    <a:pt x="0" y="71196"/>
                  </a:lnTo>
                  <a:lnTo>
                    <a:pt x="0" y="571500"/>
                  </a:lnTo>
                  <a:lnTo>
                    <a:pt x="0" y="576503"/>
                  </a:lnTo>
                  <a:lnTo>
                    <a:pt x="15622" y="617994"/>
                  </a:lnTo>
                  <a:lnTo>
                    <a:pt x="51663" y="643813"/>
                  </a:lnTo>
                  <a:lnTo>
                    <a:pt x="71194" y="647700"/>
                  </a:lnTo>
                  <a:lnTo>
                    <a:pt x="76200" y="6477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781675" y="3486150"/>
            <a:ext cx="5048250" cy="647700"/>
            <a:chOff x="5781675" y="3486150"/>
            <a:chExt cx="5048250" cy="647700"/>
          </a:xfrm>
        </p:grpSpPr>
        <p:sp>
          <p:nvSpPr>
            <p:cNvPr id="16" name="object 16"/>
            <p:cNvSpPr/>
            <p:nvPr/>
          </p:nvSpPr>
          <p:spPr>
            <a:xfrm>
              <a:off x="5800725" y="3495675"/>
              <a:ext cx="5019675" cy="628650"/>
            </a:xfrm>
            <a:custGeom>
              <a:avLst/>
              <a:gdLst/>
              <a:ahLst/>
              <a:cxnLst/>
              <a:rect l="l" t="t" r="r" b="b"/>
              <a:pathLst>
                <a:path w="5019675" h="628650">
                  <a:moveTo>
                    <a:pt x="4908435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561975"/>
                  </a:lnTo>
                  <a:lnTo>
                    <a:pt x="0" y="566356"/>
                  </a:lnTo>
                  <a:lnTo>
                    <a:pt x="15621" y="602653"/>
                  </a:lnTo>
                  <a:lnTo>
                    <a:pt x="51663" y="625246"/>
                  </a:lnTo>
                  <a:lnTo>
                    <a:pt x="71196" y="628650"/>
                  </a:lnTo>
                  <a:lnTo>
                    <a:pt x="4908435" y="628650"/>
                  </a:lnTo>
                  <a:lnTo>
                    <a:pt x="4953393" y="616597"/>
                  </a:lnTo>
                  <a:lnTo>
                    <a:pt x="4990325" y="588251"/>
                  </a:lnTo>
                  <a:lnTo>
                    <a:pt x="5013604" y="547928"/>
                  </a:lnTo>
                  <a:lnTo>
                    <a:pt x="5019675" y="517410"/>
                  </a:lnTo>
                  <a:lnTo>
                    <a:pt x="5019675" y="111239"/>
                  </a:lnTo>
                  <a:lnTo>
                    <a:pt x="5007622" y="66268"/>
                  </a:lnTo>
                  <a:lnTo>
                    <a:pt x="4979276" y="29349"/>
                  </a:lnTo>
                  <a:lnTo>
                    <a:pt x="4938953" y="6070"/>
                  </a:lnTo>
                  <a:lnTo>
                    <a:pt x="4916170" y="762"/>
                  </a:lnTo>
                  <a:lnTo>
                    <a:pt x="49084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01563" y="3486162"/>
              <a:ext cx="5028565" cy="647700"/>
            </a:xfrm>
            <a:custGeom>
              <a:avLst/>
              <a:gdLst/>
              <a:ahLst/>
              <a:cxnLst/>
              <a:rect l="l" t="t" r="r" b="b"/>
              <a:pathLst>
                <a:path w="5028565" h="647700">
                  <a:moveTo>
                    <a:pt x="5028349" y="128587"/>
                  </a:moveTo>
                  <a:lnTo>
                    <a:pt x="5018557" y="79375"/>
                  </a:lnTo>
                  <a:lnTo>
                    <a:pt x="4991138" y="38163"/>
                  </a:lnTo>
                  <a:lnTo>
                    <a:pt x="4990973" y="37973"/>
                  </a:lnTo>
                  <a:lnTo>
                    <a:pt x="4990693" y="37655"/>
                  </a:lnTo>
                  <a:lnTo>
                    <a:pt x="4981295" y="29121"/>
                  </a:lnTo>
                  <a:lnTo>
                    <a:pt x="4971224" y="21640"/>
                  </a:lnTo>
                  <a:lnTo>
                    <a:pt x="4966881" y="19050"/>
                  </a:lnTo>
                  <a:lnTo>
                    <a:pt x="4960442" y="15189"/>
                  </a:lnTo>
                  <a:lnTo>
                    <a:pt x="4912436" y="609"/>
                  </a:lnTo>
                  <a:lnTo>
                    <a:pt x="48997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899761" y="19050"/>
                  </a:lnTo>
                  <a:lnTo>
                    <a:pt x="4941671" y="27381"/>
                  </a:lnTo>
                  <a:lnTo>
                    <a:pt x="4977219" y="51130"/>
                  </a:lnTo>
                  <a:lnTo>
                    <a:pt x="5000955" y="86664"/>
                  </a:lnTo>
                  <a:lnTo>
                    <a:pt x="5009299" y="128587"/>
                  </a:lnTo>
                  <a:lnTo>
                    <a:pt x="5009299" y="519112"/>
                  </a:lnTo>
                  <a:lnTo>
                    <a:pt x="5000955" y="561022"/>
                  </a:lnTo>
                  <a:lnTo>
                    <a:pt x="4977676" y="596061"/>
                  </a:lnTo>
                  <a:lnTo>
                    <a:pt x="4977219" y="596569"/>
                  </a:lnTo>
                  <a:lnTo>
                    <a:pt x="4941671" y="620306"/>
                  </a:lnTo>
                  <a:lnTo>
                    <a:pt x="4899761" y="628650"/>
                  </a:lnTo>
                  <a:lnTo>
                    <a:pt x="75349" y="628650"/>
                  </a:lnTo>
                  <a:lnTo>
                    <a:pt x="33007" y="619023"/>
                  </a:lnTo>
                  <a:lnTo>
                    <a:pt x="1079" y="586371"/>
                  </a:lnTo>
                  <a:lnTo>
                    <a:pt x="0" y="582256"/>
                  </a:lnTo>
                  <a:lnTo>
                    <a:pt x="609" y="586371"/>
                  </a:lnTo>
                  <a:lnTo>
                    <a:pt x="2413" y="593585"/>
                  </a:lnTo>
                  <a:lnTo>
                    <a:pt x="4851" y="600367"/>
                  </a:lnTo>
                  <a:lnTo>
                    <a:pt x="4953" y="600659"/>
                  </a:lnTo>
                  <a:lnTo>
                    <a:pt x="33007" y="634860"/>
                  </a:lnTo>
                  <a:lnTo>
                    <a:pt x="75349" y="647700"/>
                  </a:lnTo>
                  <a:lnTo>
                    <a:pt x="4899761" y="647700"/>
                  </a:lnTo>
                  <a:lnTo>
                    <a:pt x="4948974" y="637908"/>
                  </a:lnTo>
                  <a:lnTo>
                    <a:pt x="4990681" y="610031"/>
                  </a:lnTo>
                  <a:lnTo>
                    <a:pt x="4991138" y="609523"/>
                  </a:lnTo>
                  <a:lnTo>
                    <a:pt x="4999202" y="600659"/>
                  </a:lnTo>
                  <a:lnTo>
                    <a:pt x="5022850" y="556374"/>
                  </a:lnTo>
                  <a:lnTo>
                    <a:pt x="5028349" y="519112"/>
                  </a:lnTo>
                  <a:lnTo>
                    <a:pt x="5028349" y="128587"/>
                  </a:lnTo>
                  <a:close/>
                </a:path>
              </a:pathLst>
            </a:custGeom>
            <a:solidFill>
              <a:srgbClr val="B3C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81675" y="3486150"/>
              <a:ext cx="76200" cy="647700"/>
            </a:xfrm>
            <a:custGeom>
              <a:avLst/>
              <a:gdLst/>
              <a:ahLst/>
              <a:cxnLst/>
              <a:rect l="l" t="t" r="r" b="b"/>
              <a:pathLst>
                <a:path w="76200" h="647700">
                  <a:moveTo>
                    <a:pt x="76200" y="0"/>
                  </a:moveTo>
                  <a:lnTo>
                    <a:pt x="71196" y="0"/>
                  </a:lnTo>
                  <a:lnTo>
                    <a:pt x="66243" y="482"/>
                  </a:lnTo>
                  <a:lnTo>
                    <a:pt x="29705" y="15621"/>
                  </a:lnTo>
                  <a:lnTo>
                    <a:pt x="3886" y="51663"/>
                  </a:lnTo>
                  <a:lnTo>
                    <a:pt x="0" y="71196"/>
                  </a:lnTo>
                  <a:lnTo>
                    <a:pt x="0" y="571500"/>
                  </a:lnTo>
                  <a:lnTo>
                    <a:pt x="0" y="576503"/>
                  </a:lnTo>
                  <a:lnTo>
                    <a:pt x="15621" y="617994"/>
                  </a:lnTo>
                  <a:lnTo>
                    <a:pt x="51663" y="643813"/>
                  </a:lnTo>
                  <a:lnTo>
                    <a:pt x="71196" y="647700"/>
                  </a:lnTo>
                  <a:lnTo>
                    <a:pt x="76200" y="6477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581025" y="4305300"/>
            <a:ext cx="5048250" cy="647700"/>
            <a:chOff x="581025" y="4305300"/>
            <a:chExt cx="5048250" cy="647700"/>
          </a:xfrm>
        </p:grpSpPr>
        <p:sp>
          <p:nvSpPr>
            <p:cNvPr id="20" name="object 20"/>
            <p:cNvSpPr/>
            <p:nvPr/>
          </p:nvSpPr>
          <p:spPr>
            <a:xfrm>
              <a:off x="600075" y="4314825"/>
              <a:ext cx="5019675" cy="628650"/>
            </a:xfrm>
            <a:custGeom>
              <a:avLst/>
              <a:gdLst/>
              <a:ahLst/>
              <a:cxnLst/>
              <a:rect l="l" t="t" r="r" b="b"/>
              <a:pathLst>
                <a:path w="5019675" h="628650">
                  <a:moveTo>
                    <a:pt x="4908435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561975"/>
                  </a:lnTo>
                  <a:lnTo>
                    <a:pt x="0" y="566356"/>
                  </a:lnTo>
                  <a:lnTo>
                    <a:pt x="15622" y="602653"/>
                  </a:lnTo>
                  <a:lnTo>
                    <a:pt x="51663" y="625246"/>
                  </a:lnTo>
                  <a:lnTo>
                    <a:pt x="71194" y="628650"/>
                  </a:lnTo>
                  <a:lnTo>
                    <a:pt x="4908435" y="628650"/>
                  </a:lnTo>
                  <a:lnTo>
                    <a:pt x="4953393" y="616597"/>
                  </a:lnTo>
                  <a:lnTo>
                    <a:pt x="4990325" y="588251"/>
                  </a:lnTo>
                  <a:lnTo>
                    <a:pt x="5013604" y="547928"/>
                  </a:lnTo>
                  <a:lnTo>
                    <a:pt x="5019675" y="517398"/>
                  </a:lnTo>
                  <a:lnTo>
                    <a:pt x="5019675" y="111239"/>
                  </a:lnTo>
                  <a:lnTo>
                    <a:pt x="5007622" y="66268"/>
                  </a:lnTo>
                  <a:lnTo>
                    <a:pt x="4979276" y="29349"/>
                  </a:lnTo>
                  <a:lnTo>
                    <a:pt x="4938953" y="6070"/>
                  </a:lnTo>
                  <a:lnTo>
                    <a:pt x="4916170" y="762"/>
                  </a:lnTo>
                  <a:lnTo>
                    <a:pt x="49084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0913" y="4305312"/>
              <a:ext cx="5028565" cy="647700"/>
            </a:xfrm>
            <a:custGeom>
              <a:avLst/>
              <a:gdLst/>
              <a:ahLst/>
              <a:cxnLst/>
              <a:rect l="l" t="t" r="r" b="b"/>
              <a:pathLst>
                <a:path w="5028565" h="647700">
                  <a:moveTo>
                    <a:pt x="5028349" y="128587"/>
                  </a:moveTo>
                  <a:lnTo>
                    <a:pt x="5018557" y="79375"/>
                  </a:lnTo>
                  <a:lnTo>
                    <a:pt x="4991138" y="38163"/>
                  </a:lnTo>
                  <a:lnTo>
                    <a:pt x="4990973" y="37973"/>
                  </a:lnTo>
                  <a:lnTo>
                    <a:pt x="4990693" y="37655"/>
                  </a:lnTo>
                  <a:lnTo>
                    <a:pt x="4981295" y="29121"/>
                  </a:lnTo>
                  <a:lnTo>
                    <a:pt x="4971224" y="21640"/>
                  </a:lnTo>
                  <a:lnTo>
                    <a:pt x="4966881" y="19050"/>
                  </a:lnTo>
                  <a:lnTo>
                    <a:pt x="4960442" y="15189"/>
                  </a:lnTo>
                  <a:lnTo>
                    <a:pt x="4912436" y="609"/>
                  </a:lnTo>
                  <a:lnTo>
                    <a:pt x="48997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4899761" y="19050"/>
                  </a:lnTo>
                  <a:lnTo>
                    <a:pt x="4941671" y="27381"/>
                  </a:lnTo>
                  <a:lnTo>
                    <a:pt x="4977219" y="51130"/>
                  </a:lnTo>
                  <a:lnTo>
                    <a:pt x="5000955" y="86664"/>
                  </a:lnTo>
                  <a:lnTo>
                    <a:pt x="5009299" y="128587"/>
                  </a:lnTo>
                  <a:lnTo>
                    <a:pt x="5009299" y="519112"/>
                  </a:lnTo>
                  <a:lnTo>
                    <a:pt x="5000955" y="561022"/>
                  </a:lnTo>
                  <a:lnTo>
                    <a:pt x="4977676" y="596061"/>
                  </a:lnTo>
                  <a:lnTo>
                    <a:pt x="4977219" y="596569"/>
                  </a:lnTo>
                  <a:lnTo>
                    <a:pt x="4941684" y="620306"/>
                  </a:lnTo>
                  <a:lnTo>
                    <a:pt x="4899761" y="628650"/>
                  </a:lnTo>
                  <a:lnTo>
                    <a:pt x="75349" y="628650"/>
                  </a:lnTo>
                  <a:lnTo>
                    <a:pt x="33007" y="619023"/>
                  </a:lnTo>
                  <a:lnTo>
                    <a:pt x="1092" y="586371"/>
                  </a:lnTo>
                  <a:lnTo>
                    <a:pt x="0" y="582256"/>
                  </a:lnTo>
                  <a:lnTo>
                    <a:pt x="609" y="586371"/>
                  </a:lnTo>
                  <a:lnTo>
                    <a:pt x="2413" y="593572"/>
                  </a:lnTo>
                  <a:lnTo>
                    <a:pt x="4851" y="600367"/>
                  </a:lnTo>
                  <a:lnTo>
                    <a:pt x="4953" y="600659"/>
                  </a:lnTo>
                  <a:lnTo>
                    <a:pt x="33007" y="634860"/>
                  </a:lnTo>
                  <a:lnTo>
                    <a:pt x="75349" y="647700"/>
                  </a:lnTo>
                  <a:lnTo>
                    <a:pt x="4899761" y="647700"/>
                  </a:lnTo>
                  <a:lnTo>
                    <a:pt x="4948974" y="637908"/>
                  </a:lnTo>
                  <a:lnTo>
                    <a:pt x="4990681" y="610031"/>
                  </a:lnTo>
                  <a:lnTo>
                    <a:pt x="4991138" y="609523"/>
                  </a:lnTo>
                  <a:lnTo>
                    <a:pt x="4999202" y="600659"/>
                  </a:lnTo>
                  <a:lnTo>
                    <a:pt x="5022850" y="556374"/>
                  </a:lnTo>
                  <a:lnTo>
                    <a:pt x="5028349" y="519112"/>
                  </a:lnTo>
                  <a:lnTo>
                    <a:pt x="5028349" y="128587"/>
                  </a:lnTo>
                  <a:close/>
                </a:path>
              </a:pathLst>
            </a:custGeom>
            <a:solidFill>
              <a:srgbClr val="B3C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1025" y="4305300"/>
              <a:ext cx="76200" cy="647700"/>
            </a:xfrm>
            <a:custGeom>
              <a:avLst/>
              <a:gdLst/>
              <a:ahLst/>
              <a:cxnLst/>
              <a:rect l="l" t="t" r="r" b="b"/>
              <a:pathLst>
                <a:path w="76200" h="647700">
                  <a:moveTo>
                    <a:pt x="76200" y="0"/>
                  </a:moveTo>
                  <a:lnTo>
                    <a:pt x="71194" y="0"/>
                  </a:lnTo>
                  <a:lnTo>
                    <a:pt x="66243" y="482"/>
                  </a:lnTo>
                  <a:lnTo>
                    <a:pt x="29706" y="15621"/>
                  </a:lnTo>
                  <a:lnTo>
                    <a:pt x="3884" y="51663"/>
                  </a:lnTo>
                  <a:lnTo>
                    <a:pt x="0" y="71196"/>
                  </a:lnTo>
                  <a:lnTo>
                    <a:pt x="0" y="571500"/>
                  </a:lnTo>
                  <a:lnTo>
                    <a:pt x="0" y="576503"/>
                  </a:lnTo>
                  <a:lnTo>
                    <a:pt x="15622" y="617994"/>
                  </a:lnTo>
                  <a:lnTo>
                    <a:pt x="51663" y="643813"/>
                  </a:lnTo>
                  <a:lnTo>
                    <a:pt x="71194" y="647700"/>
                  </a:lnTo>
                  <a:lnTo>
                    <a:pt x="76200" y="6477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35025" y="2840037"/>
            <a:ext cx="3776345" cy="19208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55" dirty="0">
                <a:solidFill>
                  <a:srgbClr val="1E2F62"/>
                </a:solidFill>
                <a:latin typeface="Calibri"/>
                <a:cs typeface="Calibri"/>
              </a:rPr>
              <a:t>Reduces</a:t>
            </a:r>
            <a:r>
              <a:rPr sz="1650" b="1" spc="-4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00" dirty="0">
                <a:solidFill>
                  <a:srgbClr val="1E2F62"/>
                </a:solidFill>
                <a:latin typeface="Calibri"/>
                <a:cs typeface="Calibri"/>
              </a:rPr>
              <a:t>risk</a:t>
            </a:r>
            <a:r>
              <a:rPr sz="1650" b="1" spc="-4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95" dirty="0">
                <a:solidFill>
                  <a:srgbClr val="1E2F62"/>
                </a:solidFill>
                <a:latin typeface="Calibri"/>
                <a:cs typeface="Calibri"/>
              </a:rPr>
              <a:t>of</a:t>
            </a:r>
            <a:r>
              <a:rPr sz="1650" b="1" spc="-4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35" dirty="0">
                <a:solidFill>
                  <a:srgbClr val="1E2F62"/>
                </a:solidFill>
                <a:latin typeface="Calibri"/>
                <a:cs typeface="Calibri"/>
              </a:rPr>
              <a:t>cyber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00" dirty="0">
                <a:solidFill>
                  <a:srgbClr val="1E2F62"/>
                </a:solidFill>
                <a:latin typeface="Calibri"/>
                <a:cs typeface="Calibri"/>
              </a:rPr>
              <a:t>attacks.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50" b="1" spc="105" dirty="0">
                <a:solidFill>
                  <a:srgbClr val="1E2F62"/>
                </a:solidFill>
                <a:latin typeface="Calibri"/>
                <a:cs typeface="Calibri"/>
              </a:rPr>
              <a:t>Builds</a:t>
            </a:r>
            <a:r>
              <a:rPr sz="1650" b="1" spc="-4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40" dirty="0">
                <a:solidFill>
                  <a:srgbClr val="1E2F62"/>
                </a:solidFill>
                <a:latin typeface="Calibri"/>
                <a:cs typeface="Calibri"/>
              </a:rPr>
              <a:t>customer</a:t>
            </a:r>
            <a:r>
              <a:rPr sz="1650" b="1" spc="-4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75" dirty="0">
                <a:solidFill>
                  <a:srgbClr val="1E2F62"/>
                </a:solidFill>
                <a:latin typeface="Calibri"/>
                <a:cs typeface="Calibri"/>
              </a:rPr>
              <a:t>trust.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50" b="1" spc="140" dirty="0">
                <a:solidFill>
                  <a:srgbClr val="1E2F62"/>
                </a:solidFill>
                <a:latin typeface="Calibri"/>
                <a:cs typeface="Calibri"/>
              </a:rPr>
              <a:t>Creates</a:t>
            </a:r>
            <a:r>
              <a:rPr sz="1650" b="1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10" dirty="0">
                <a:solidFill>
                  <a:srgbClr val="1E2F62"/>
                </a:solidFill>
                <a:latin typeface="Calibri"/>
                <a:cs typeface="Calibri"/>
              </a:rPr>
              <a:t>discipline</a:t>
            </a:r>
            <a:r>
              <a:rPr sz="1650" b="1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75" dirty="0">
                <a:solidFill>
                  <a:srgbClr val="1E2F62"/>
                </a:solidFill>
                <a:latin typeface="Calibri"/>
                <a:cs typeface="Calibri"/>
              </a:rPr>
              <a:t>among</a:t>
            </a:r>
            <a:r>
              <a:rPr sz="1650" b="1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05" dirty="0">
                <a:solidFill>
                  <a:srgbClr val="1E2F62"/>
                </a:solidFill>
                <a:latin typeface="Calibri"/>
                <a:cs typeface="Calibri"/>
              </a:rPr>
              <a:t>employees.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781675" y="4305300"/>
            <a:ext cx="5048250" cy="647700"/>
            <a:chOff x="5781675" y="4305300"/>
            <a:chExt cx="5048250" cy="647700"/>
          </a:xfrm>
        </p:grpSpPr>
        <p:sp>
          <p:nvSpPr>
            <p:cNvPr id="25" name="object 25"/>
            <p:cNvSpPr/>
            <p:nvPr/>
          </p:nvSpPr>
          <p:spPr>
            <a:xfrm>
              <a:off x="5800725" y="4314825"/>
              <a:ext cx="5019675" cy="628650"/>
            </a:xfrm>
            <a:custGeom>
              <a:avLst/>
              <a:gdLst/>
              <a:ahLst/>
              <a:cxnLst/>
              <a:rect l="l" t="t" r="r" b="b"/>
              <a:pathLst>
                <a:path w="5019675" h="628650">
                  <a:moveTo>
                    <a:pt x="4908435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561975"/>
                  </a:lnTo>
                  <a:lnTo>
                    <a:pt x="0" y="566356"/>
                  </a:lnTo>
                  <a:lnTo>
                    <a:pt x="15621" y="602653"/>
                  </a:lnTo>
                  <a:lnTo>
                    <a:pt x="51663" y="625246"/>
                  </a:lnTo>
                  <a:lnTo>
                    <a:pt x="71196" y="628650"/>
                  </a:lnTo>
                  <a:lnTo>
                    <a:pt x="4908435" y="628650"/>
                  </a:lnTo>
                  <a:lnTo>
                    <a:pt x="4953393" y="616597"/>
                  </a:lnTo>
                  <a:lnTo>
                    <a:pt x="4990325" y="588251"/>
                  </a:lnTo>
                  <a:lnTo>
                    <a:pt x="5013604" y="547928"/>
                  </a:lnTo>
                  <a:lnTo>
                    <a:pt x="5019675" y="517398"/>
                  </a:lnTo>
                  <a:lnTo>
                    <a:pt x="5019675" y="111239"/>
                  </a:lnTo>
                  <a:lnTo>
                    <a:pt x="5007622" y="66268"/>
                  </a:lnTo>
                  <a:lnTo>
                    <a:pt x="4979276" y="29349"/>
                  </a:lnTo>
                  <a:lnTo>
                    <a:pt x="4938953" y="6070"/>
                  </a:lnTo>
                  <a:lnTo>
                    <a:pt x="4916170" y="762"/>
                  </a:lnTo>
                  <a:lnTo>
                    <a:pt x="49084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01563" y="4305312"/>
              <a:ext cx="5028565" cy="647700"/>
            </a:xfrm>
            <a:custGeom>
              <a:avLst/>
              <a:gdLst/>
              <a:ahLst/>
              <a:cxnLst/>
              <a:rect l="l" t="t" r="r" b="b"/>
              <a:pathLst>
                <a:path w="5028565" h="647700">
                  <a:moveTo>
                    <a:pt x="5028349" y="128587"/>
                  </a:moveTo>
                  <a:lnTo>
                    <a:pt x="5018557" y="79375"/>
                  </a:lnTo>
                  <a:lnTo>
                    <a:pt x="4991138" y="38163"/>
                  </a:lnTo>
                  <a:lnTo>
                    <a:pt x="4990973" y="37973"/>
                  </a:lnTo>
                  <a:lnTo>
                    <a:pt x="4990693" y="37655"/>
                  </a:lnTo>
                  <a:lnTo>
                    <a:pt x="4981295" y="29121"/>
                  </a:lnTo>
                  <a:lnTo>
                    <a:pt x="4971224" y="21640"/>
                  </a:lnTo>
                  <a:lnTo>
                    <a:pt x="4966881" y="19050"/>
                  </a:lnTo>
                  <a:lnTo>
                    <a:pt x="4960442" y="15189"/>
                  </a:lnTo>
                  <a:lnTo>
                    <a:pt x="4912436" y="609"/>
                  </a:lnTo>
                  <a:lnTo>
                    <a:pt x="48997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4899761" y="19050"/>
                  </a:lnTo>
                  <a:lnTo>
                    <a:pt x="4941671" y="27381"/>
                  </a:lnTo>
                  <a:lnTo>
                    <a:pt x="4977219" y="51130"/>
                  </a:lnTo>
                  <a:lnTo>
                    <a:pt x="5000955" y="86664"/>
                  </a:lnTo>
                  <a:lnTo>
                    <a:pt x="5009299" y="128587"/>
                  </a:lnTo>
                  <a:lnTo>
                    <a:pt x="5009299" y="519112"/>
                  </a:lnTo>
                  <a:lnTo>
                    <a:pt x="5000955" y="561022"/>
                  </a:lnTo>
                  <a:lnTo>
                    <a:pt x="4977676" y="596061"/>
                  </a:lnTo>
                  <a:lnTo>
                    <a:pt x="4977219" y="596569"/>
                  </a:lnTo>
                  <a:lnTo>
                    <a:pt x="4941671" y="620306"/>
                  </a:lnTo>
                  <a:lnTo>
                    <a:pt x="4899761" y="628650"/>
                  </a:lnTo>
                  <a:lnTo>
                    <a:pt x="75349" y="628650"/>
                  </a:lnTo>
                  <a:lnTo>
                    <a:pt x="33007" y="619023"/>
                  </a:lnTo>
                  <a:lnTo>
                    <a:pt x="1079" y="586371"/>
                  </a:lnTo>
                  <a:lnTo>
                    <a:pt x="0" y="582269"/>
                  </a:lnTo>
                  <a:lnTo>
                    <a:pt x="609" y="586371"/>
                  </a:lnTo>
                  <a:lnTo>
                    <a:pt x="2413" y="593572"/>
                  </a:lnTo>
                  <a:lnTo>
                    <a:pt x="4851" y="600367"/>
                  </a:lnTo>
                  <a:lnTo>
                    <a:pt x="4953" y="600659"/>
                  </a:lnTo>
                  <a:lnTo>
                    <a:pt x="33007" y="634860"/>
                  </a:lnTo>
                  <a:lnTo>
                    <a:pt x="75349" y="647700"/>
                  </a:lnTo>
                  <a:lnTo>
                    <a:pt x="4899761" y="647700"/>
                  </a:lnTo>
                  <a:lnTo>
                    <a:pt x="4948974" y="637908"/>
                  </a:lnTo>
                  <a:lnTo>
                    <a:pt x="4990681" y="610031"/>
                  </a:lnTo>
                  <a:lnTo>
                    <a:pt x="4991138" y="609523"/>
                  </a:lnTo>
                  <a:lnTo>
                    <a:pt x="4999202" y="600659"/>
                  </a:lnTo>
                  <a:lnTo>
                    <a:pt x="5022850" y="556374"/>
                  </a:lnTo>
                  <a:lnTo>
                    <a:pt x="5028349" y="519112"/>
                  </a:lnTo>
                  <a:lnTo>
                    <a:pt x="5028349" y="128587"/>
                  </a:lnTo>
                  <a:close/>
                </a:path>
              </a:pathLst>
            </a:custGeom>
            <a:solidFill>
              <a:srgbClr val="B3C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81675" y="4305300"/>
              <a:ext cx="76200" cy="647700"/>
            </a:xfrm>
            <a:custGeom>
              <a:avLst/>
              <a:gdLst/>
              <a:ahLst/>
              <a:cxnLst/>
              <a:rect l="l" t="t" r="r" b="b"/>
              <a:pathLst>
                <a:path w="76200" h="647700">
                  <a:moveTo>
                    <a:pt x="76200" y="0"/>
                  </a:moveTo>
                  <a:lnTo>
                    <a:pt x="71196" y="0"/>
                  </a:lnTo>
                  <a:lnTo>
                    <a:pt x="66243" y="482"/>
                  </a:lnTo>
                  <a:lnTo>
                    <a:pt x="29705" y="15621"/>
                  </a:lnTo>
                  <a:lnTo>
                    <a:pt x="3886" y="51663"/>
                  </a:lnTo>
                  <a:lnTo>
                    <a:pt x="0" y="71196"/>
                  </a:lnTo>
                  <a:lnTo>
                    <a:pt x="0" y="571500"/>
                  </a:lnTo>
                  <a:lnTo>
                    <a:pt x="0" y="576503"/>
                  </a:lnTo>
                  <a:lnTo>
                    <a:pt x="15621" y="617994"/>
                  </a:lnTo>
                  <a:lnTo>
                    <a:pt x="51663" y="643813"/>
                  </a:lnTo>
                  <a:lnTo>
                    <a:pt x="71196" y="647700"/>
                  </a:lnTo>
                  <a:lnTo>
                    <a:pt x="76200" y="6477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035675" y="2840037"/>
            <a:ext cx="3032760" cy="19208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35" dirty="0">
                <a:solidFill>
                  <a:srgbClr val="1E2F62"/>
                </a:solidFill>
                <a:latin typeface="Calibri"/>
                <a:cs typeface="Calibri"/>
              </a:rPr>
              <a:t>Protects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55" dirty="0">
                <a:solidFill>
                  <a:srgbClr val="1E2F62"/>
                </a:solidFill>
                <a:latin typeface="Calibri"/>
                <a:cs typeface="Calibri"/>
              </a:rPr>
              <a:t>company</a:t>
            </a:r>
            <a:r>
              <a:rPr sz="1650" b="1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75" dirty="0">
                <a:solidFill>
                  <a:srgbClr val="1E2F62"/>
                </a:solidFill>
                <a:latin typeface="Calibri"/>
                <a:cs typeface="Calibri"/>
              </a:rPr>
              <a:t>reputation.</a:t>
            </a:r>
            <a:endParaRPr sz="1650">
              <a:latin typeface="Calibri"/>
              <a:cs typeface="Calibri"/>
            </a:endParaRPr>
          </a:p>
          <a:p>
            <a:pPr marL="12700" marR="47625">
              <a:lnSpc>
                <a:spcPct val="325800"/>
              </a:lnSpc>
            </a:pPr>
            <a:r>
              <a:rPr sz="1650" b="1" spc="110" dirty="0">
                <a:solidFill>
                  <a:srgbClr val="1E2F62"/>
                </a:solidFill>
                <a:latin typeface="Calibri"/>
                <a:cs typeface="Calibri"/>
              </a:rPr>
              <a:t>Avoids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14" dirty="0">
                <a:solidFill>
                  <a:srgbClr val="1E2F62"/>
                </a:solidFill>
                <a:latin typeface="Calibri"/>
                <a:cs typeface="Calibri"/>
              </a:rPr>
              <a:t>legal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90" dirty="0">
                <a:solidFill>
                  <a:srgbClr val="1E2F62"/>
                </a:solidFill>
                <a:latin typeface="Calibri"/>
                <a:cs typeface="Calibri"/>
              </a:rPr>
              <a:t>penalties. </a:t>
            </a:r>
            <a:r>
              <a:rPr sz="1650" b="1" spc="114" dirty="0">
                <a:solidFill>
                  <a:srgbClr val="1E2F62"/>
                </a:solidFill>
                <a:latin typeface="Calibri"/>
                <a:cs typeface="Calibri"/>
              </a:rPr>
              <a:t>Improves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20" dirty="0">
                <a:solidFill>
                  <a:srgbClr val="1E2F62"/>
                </a:solidFill>
                <a:latin typeface="Calibri"/>
                <a:cs typeface="Calibri"/>
              </a:rPr>
              <a:t>security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95" dirty="0">
                <a:solidFill>
                  <a:srgbClr val="1E2F62"/>
                </a:solidFill>
                <a:latin typeface="Calibri"/>
                <a:cs typeface="Calibri"/>
              </a:rPr>
              <a:t>awareness.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529871" y="5875882"/>
            <a:ext cx="1805305" cy="509270"/>
            <a:chOff x="9529871" y="5875882"/>
            <a:chExt cx="1805305" cy="50927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9537699" y="5883711"/>
              <a:ext cx="1769745" cy="493395"/>
            </a:xfrm>
            <a:custGeom>
              <a:avLst/>
              <a:gdLst/>
              <a:ahLst/>
              <a:cxnLst/>
              <a:rect l="l" t="t" r="r" b="b"/>
              <a:pathLst>
                <a:path w="1769745" h="493395">
                  <a:moveTo>
                    <a:pt x="1769301" y="0"/>
                  </a:moveTo>
                  <a:lnTo>
                    <a:pt x="0" y="0"/>
                  </a:lnTo>
                  <a:lnTo>
                    <a:pt x="0" y="493212"/>
                  </a:lnTo>
                  <a:lnTo>
                    <a:pt x="1769301" y="493212"/>
                  </a:lnTo>
                  <a:lnTo>
                    <a:pt x="17693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537699" y="5883711"/>
              <a:ext cx="1769745" cy="493395"/>
            </a:xfrm>
            <a:custGeom>
              <a:avLst/>
              <a:gdLst/>
              <a:ahLst/>
              <a:cxnLst/>
              <a:rect l="l" t="t" r="r" b="b"/>
              <a:pathLst>
                <a:path w="1769745" h="493395">
                  <a:moveTo>
                    <a:pt x="0" y="493212"/>
                  </a:moveTo>
                  <a:lnTo>
                    <a:pt x="1769301" y="493212"/>
                  </a:lnTo>
                  <a:lnTo>
                    <a:pt x="1769301" y="0"/>
                  </a:lnTo>
                  <a:lnTo>
                    <a:pt x="0" y="0"/>
                  </a:lnTo>
                  <a:lnTo>
                    <a:pt x="0" y="493212"/>
                  </a:lnTo>
                  <a:close/>
                </a:path>
              </a:pathLst>
            </a:custGeom>
            <a:ln w="1565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pc="320" dirty="0"/>
              <a:t>Losses</a:t>
            </a:r>
            <a:r>
              <a:rPr spc="-95" dirty="0"/>
              <a:t> </a:t>
            </a:r>
            <a:r>
              <a:rPr spc="235" dirty="0"/>
              <a:t>Without</a:t>
            </a:r>
            <a:r>
              <a:rPr spc="-95" dirty="0"/>
              <a:t> </a:t>
            </a:r>
            <a:r>
              <a:rPr spc="245" dirty="0"/>
              <a:t>Security</a:t>
            </a:r>
            <a:r>
              <a:rPr spc="-90" dirty="0"/>
              <a:t> </a:t>
            </a:r>
            <a:r>
              <a:rPr spc="200" dirty="0"/>
              <a:t>Policies</a:t>
            </a: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000" spc="140" dirty="0">
                <a:solidFill>
                  <a:srgbClr val="FF4F00"/>
                </a:solidFill>
              </a:rPr>
              <a:t>Disadvantages</a:t>
            </a:r>
            <a:endParaRPr sz="2000"/>
          </a:p>
        </p:txBody>
      </p:sp>
      <p:grpSp>
        <p:nvGrpSpPr>
          <p:cNvPr id="3" name="object 3"/>
          <p:cNvGrpSpPr/>
          <p:nvPr/>
        </p:nvGrpSpPr>
        <p:grpSpPr>
          <a:xfrm>
            <a:off x="581025" y="2666999"/>
            <a:ext cx="5048250" cy="647700"/>
            <a:chOff x="581025" y="2666999"/>
            <a:chExt cx="5048250" cy="647700"/>
          </a:xfrm>
        </p:grpSpPr>
        <p:sp>
          <p:nvSpPr>
            <p:cNvPr id="4" name="object 4"/>
            <p:cNvSpPr/>
            <p:nvPr/>
          </p:nvSpPr>
          <p:spPr>
            <a:xfrm>
              <a:off x="600075" y="2676524"/>
              <a:ext cx="5019675" cy="628650"/>
            </a:xfrm>
            <a:custGeom>
              <a:avLst/>
              <a:gdLst/>
              <a:ahLst/>
              <a:cxnLst/>
              <a:rect l="l" t="t" r="r" b="b"/>
              <a:pathLst>
                <a:path w="5019675" h="628650">
                  <a:moveTo>
                    <a:pt x="4908435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561975"/>
                  </a:lnTo>
                  <a:lnTo>
                    <a:pt x="0" y="566356"/>
                  </a:lnTo>
                  <a:lnTo>
                    <a:pt x="15622" y="602653"/>
                  </a:lnTo>
                  <a:lnTo>
                    <a:pt x="51663" y="625246"/>
                  </a:lnTo>
                  <a:lnTo>
                    <a:pt x="71194" y="628650"/>
                  </a:lnTo>
                  <a:lnTo>
                    <a:pt x="4908435" y="628650"/>
                  </a:lnTo>
                  <a:lnTo>
                    <a:pt x="4953393" y="616597"/>
                  </a:lnTo>
                  <a:lnTo>
                    <a:pt x="4990325" y="588251"/>
                  </a:lnTo>
                  <a:lnTo>
                    <a:pt x="5013604" y="547928"/>
                  </a:lnTo>
                  <a:lnTo>
                    <a:pt x="5019675" y="517398"/>
                  </a:lnTo>
                  <a:lnTo>
                    <a:pt x="5019675" y="111239"/>
                  </a:lnTo>
                  <a:lnTo>
                    <a:pt x="5007622" y="66268"/>
                  </a:lnTo>
                  <a:lnTo>
                    <a:pt x="4979276" y="29349"/>
                  </a:lnTo>
                  <a:lnTo>
                    <a:pt x="4938953" y="6070"/>
                  </a:lnTo>
                  <a:lnTo>
                    <a:pt x="4916170" y="762"/>
                  </a:lnTo>
                  <a:lnTo>
                    <a:pt x="49084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0913" y="2667012"/>
              <a:ext cx="5028565" cy="647700"/>
            </a:xfrm>
            <a:custGeom>
              <a:avLst/>
              <a:gdLst/>
              <a:ahLst/>
              <a:cxnLst/>
              <a:rect l="l" t="t" r="r" b="b"/>
              <a:pathLst>
                <a:path w="5028565" h="647700">
                  <a:moveTo>
                    <a:pt x="5028349" y="128587"/>
                  </a:moveTo>
                  <a:lnTo>
                    <a:pt x="5018557" y="79375"/>
                  </a:lnTo>
                  <a:lnTo>
                    <a:pt x="4991138" y="38163"/>
                  </a:lnTo>
                  <a:lnTo>
                    <a:pt x="4990973" y="37973"/>
                  </a:lnTo>
                  <a:lnTo>
                    <a:pt x="4990693" y="37655"/>
                  </a:lnTo>
                  <a:lnTo>
                    <a:pt x="4981295" y="29121"/>
                  </a:lnTo>
                  <a:lnTo>
                    <a:pt x="4971224" y="21640"/>
                  </a:lnTo>
                  <a:lnTo>
                    <a:pt x="4966881" y="19050"/>
                  </a:lnTo>
                  <a:lnTo>
                    <a:pt x="4960442" y="15189"/>
                  </a:lnTo>
                  <a:lnTo>
                    <a:pt x="4912436" y="609"/>
                  </a:lnTo>
                  <a:lnTo>
                    <a:pt x="48997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899761" y="19050"/>
                  </a:lnTo>
                  <a:lnTo>
                    <a:pt x="4941671" y="27381"/>
                  </a:lnTo>
                  <a:lnTo>
                    <a:pt x="4977219" y="51130"/>
                  </a:lnTo>
                  <a:lnTo>
                    <a:pt x="5000955" y="86664"/>
                  </a:lnTo>
                  <a:lnTo>
                    <a:pt x="5009299" y="128587"/>
                  </a:lnTo>
                  <a:lnTo>
                    <a:pt x="5009299" y="519112"/>
                  </a:lnTo>
                  <a:lnTo>
                    <a:pt x="5000955" y="561022"/>
                  </a:lnTo>
                  <a:lnTo>
                    <a:pt x="4977676" y="596061"/>
                  </a:lnTo>
                  <a:lnTo>
                    <a:pt x="4977219" y="596569"/>
                  </a:lnTo>
                  <a:lnTo>
                    <a:pt x="4941684" y="620306"/>
                  </a:lnTo>
                  <a:lnTo>
                    <a:pt x="4899761" y="628650"/>
                  </a:lnTo>
                  <a:lnTo>
                    <a:pt x="75349" y="628650"/>
                  </a:lnTo>
                  <a:lnTo>
                    <a:pt x="33007" y="619023"/>
                  </a:lnTo>
                  <a:lnTo>
                    <a:pt x="1092" y="586371"/>
                  </a:lnTo>
                  <a:lnTo>
                    <a:pt x="0" y="582256"/>
                  </a:lnTo>
                  <a:lnTo>
                    <a:pt x="609" y="586371"/>
                  </a:lnTo>
                  <a:lnTo>
                    <a:pt x="2413" y="593572"/>
                  </a:lnTo>
                  <a:lnTo>
                    <a:pt x="4851" y="600367"/>
                  </a:lnTo>
                  <a:lnTo>
                    <a:pt x="4953" y="600659"/>
                  </a:lnTo>
                  <a:lnTo>
                    <a:pt x="33007" y="634860"/>
                  </a:lnTo>
                  <a:lnTo>
                    <a:pt x="75349" y="647700"/>
                  </a:lnTo>
                  <a:lnTo>
                    <a:pt x="4899761" y="647700"/>
                  </a:lnTo>
                  <a:lnTo>
                    <a:pt x="4948974" y="637908"/>
                  </a:lnTo>
                  <a:lnTo>
                    <a:pt x="4990681" y="610031"/>
                  </a:lnTo>
                  <a:lnTo>
                    <a:pt x="4991138" y="609523"/>
                  </a:lnTo>
                  <a:lnTo>
                    <a:pt x="4999202" y="600659"/>
                  </a:lnTo>
                  <a:lnTo>
                    <a:pt x="5022850" y="556374"/>
                  </a:lnTo>
                  <a:lnTo>
                    <a:pt x="5028349" y="519112"/>
                  </a:lnTo>
                  <a:lnTo>
                    <a:pt x="5028349" y="128587"/>
                  </a:lnTo>
                  <a:close/>
                </a:path>
              </a:pathLst>
            </a:custGeom>
            <a:solidFill>
              <a:srgbClr val="B3C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1025" y="2666999"/>
              <a:ext cx="76200" cy="647700"/>
            </a:xfrm>
            <a:custGeom>
              <a:avLst/>
              <a:gdLst/>
              <a:ahLst/>
              <a:cxnLst/>
              <a:rect l="l" t="t" r="r" b="b"/>
              <a:pathLst>
                <a:path w="76200" h="647700">
                  <a:moveTo>
                    <a:pt x="76200" y="0"/>
                  </a:moveTo>
                  <a:lnTo>
                    <a:pt x="71194" y="0"/>
                  </a:lnTo>
                  <a:lnTo>
                    <a:pt x="66243" y="482"/>
                  </a:lnTo>
                  <a:lnTo>
                    <a:pt x="29706" y="15621"/>
                  </a:lnTo>
                  <a:lnTo>
                    <a:pt x="3884" y="51663"/>
                  </a:lnTo>
                  <a:lnTo>
                    <a:pt x="0" y="71196"/>
                  </a:lnTo>
                  <a:lnTo>
                    <a:pt x="0" y="571500"/>
                  </a:lnTo>
                  <a:lnTo>
                    <a:pt x="0" y="576503"/>
                  </a:lnTo>
                  <a:lnTo>
                    <a:pt x="15622" y="617994"/>
                  </a:lnTo>
                  <a:lnTo>
                    <a:pt x="51663" y="643813"/>
                  </a:lnTo>
                  <a:lnTo>
                    <a:pt x="71194" y="647700"/>
                  </a:lnTo>
                  <a:lnTo>
                    <a:pt x="76200" y="6477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781675" y="2666999"/>
            <a:ext cx="5048250" cy="647700"/>
            <a:chOff x="5781675" y="2666999"/>
            <a:chExt cx="5048250" cy="647700"/>
          </a:xfrm>
        </p:grpSpPr>
        <p:sp>
          <p:nvSpPr>
            <p:cNvPr id="8" name="object 8"/>
            <p:cNvSpPr/>
            <p:nvPr/>
          </p:nvSpPr>
          <p:spPr>
            <a:xfrm>
              <a:off x="5800725" y="2676524"/>
              <a:ext cx="5019675" cy="628650"/>
            </a:xfrm>
            <a:custGeom>
              <a:avLst/>
              <a:gdLst/>
              <a:ahLst/>
              <a:cxnLst/>
              <a:rect l="l" t="t" r="r" b="b"/>
              <a:pathLst>
                <a:path w="5019675" h="628650">
                  <a:moveTo>
                    <a:pt x="4908435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561975"/>
                  </a:lnTo>
                  <a:lnTo>
                    <a:pt x="0" y="566356"/>
                  </a:lnTo>
                  <a:lnTo>
                    <a:pt x="15621" y="602653"/>
                  </a:lnTo>
                  <a:lnTo>
                    <a:pt x="51663" y="625246"/>
                  </a:lnTo>
                  <a:lnTo>
                    <a:pt x="71196" y="628650"/>
                  </a:lnTo>
                  <a:lnTo>
                    <a:pt x="4908435" y="628650"/>
                  </a:lnTo>
                  <a:lnTo>
                    <a:pt x="4953393" y="616597"/>
                  </a:lnTo>
                  <a:lnTo>
                    <a:pt x="4990325" y="588251"/>
                  </a:lnTo>
                  <a:lnTo>
                    <a:pt x="5013604" y="547928"/>
                  </a:lnTo>
                  <a:lnTo>
                    <a:pt x="5019675" y="517398"/>
                  </a:lnTo>
                  <a:lnTo>
                    <a:pt x="5019675" y="111239"/>
                  </a:lnTo>
                  <a:lnTo>
                    <a:pt x="5007622" y="66268"/>
                  </a:lnTo>
                  <a:lnTo>
                    <a:pt x="4979276" y="29349"/>
                  </a:lnTo>
                  <a:lnTo>
                    <a:pt x="4938953" y="6070"/>
                  </a:lnTo>
                  <a:lnTo>
                    <a:pt x="4916170" y="762"/>
                  </a:lnTo>
                  <a:lnTo>
                    <a:pt x="49084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01563" y="2667012"/>
              <a:ext cx="5028565" cy="647700"/>
            </a:xfrm>
            <a:custGeom>
              <a:avLst/>
              <a:gdLst/>
              <a:ahLst/>
              <a:cxnLst/>
              <a:rect l="l" t="t" r="r" b="b"/>
              <a:pathLst>
                <a:path w="5028565" h="647700">
                  <a:moveTo>
                    <a:pt x="5028349" y="128587"/>
                  </a:moveTo>
                  <a:lnTo>
                    <a:pt x="5018557" y="79375"/>
                  </a:lnTo>
                  <a:lnTo>
                    <a:pt x="4991138" y="38163"/>
                  </a:lnTo>
                  <a:lnTo>
                    <a:pt x="4990973" y="37973"/>
                  </a:lnTo>
                  <a:lnTo>
                    <a:pt x="4990693" y="37655"/>
                  </a:lnTo>
                  <a:lnTo>
                    <a:pt x="4981295" y="29121"/>
                  </a:lnTo>
                  <a:lnTo>
                    <a:pt x="4971224" y="21640"/>
                  </a:lnTo>
                  <a:lnTo>
                    <a:pt x="4966881" y="19050"/>
                  </a:lnTo>
                  <a:lnTo>
                    <a:pt x="4960442" y="15189"/>
                  </a:lnTo>
                  <a:lnTo>
                    <a:pt x="4912436" y="609"/>
                  </a:lnTo>
                  <a:lnTo>
                    <a:pt x="48997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899761" y="19050"/>
                  </a:lnTo>
                  <a:lnTo>
                    <a:pt x="4941671" y="27381"/>
                  </a:lnTo>
                  <a:lnTo>
                    <a:pt x="4977219" y="51130"/>
                  </a:lnTo>
                  <a:lnTo>
                    <a:pt x="5000955" y="86664"/>
                  </a:lnTo>
                  <a:lnTo>
                    <a:pt x="5009299" y="128587"/>
                  </a:lnTo>
                  <a:lnTo>
                    <a:pt x="5009299" y="519112"/>
                  </a:lnTo>
                  <a:lnTo>
                    <a:pt x="5000955" y="561022"/>
                  </a:lnTo>
                  <a:lnTo>
                    <a:pt x="4977676" y="596061"/>
                  </a:lnTo>
                  <a:lnTo>
                    <a:pt x="4977219" y="596569"/>
                  </a:lnTo>
                  <a:lnTo>
                    <a:pt x="4941671" y="620306"/>
                  </a:lnTo>
                  <a:lnTo>
                    <a:pt x="4899761" y="628650"/>
                  </a:lnTo>
                  <a:lnTo>
                    <a:pt x="75349" y="628650"/>
                  </a:lnTo>
                  <a:lnTo>
                    <a:pt x="33007" y="619023"/>
                  </a:lnTo>
                  <a:lnTo>
                    <a:pt x="1079" y="586371"/>
                  </a:lnTo>
                  <a:lnTo>
                    <a:pt x="0" y="582269"/>
                  </a:lnTo>
                  <a:lnTo>
                    <a:pt x="609" y="586371"/>
                  </a:lnTo>
                  <a:lnTo>
                    <a:pt x="2413" y="593572"/>
                  </a:lnTo>
                  <a:lnTo>
                    <a:pt x="4851" y="600367"/>
                  </a:lnTo>
                  <a:lnTo>
                    <a:pt x="4953" y="600659"/>
                  </a:lnTo>
                  <a:lnTo>
                    <a:pt x="33007" y="634860"/>
                  </a:lnTo>
                  <a:lnTo>
                    <a:pt x="75349" y="647700"/>
                  </a:lnTo>
                  <a:lnTo>
                    <a:pt x="4899761" y="647700"/>
                  </a:lnTo>
                  <a:lnTo>
                    <a:pt x="4948974" y="637908"/>
                  </a:lnTo>
                  <a:lnTo>
                    <a:pt x="4990681" y="610031"/>
                  </a:lnTo>
                  <a:lnTo>
                    <a:pt x="4991138" y="609523"/>
                  </a:lnTo>
                  <a:lnTo>
                    <a:pt x="4999202" y="600659"/>
                  </a:lnTo>
                  <a:lnTo>
                    <a:pt x="5022850" y="556374"/>
                  </a:lnTo>
                  <a:lnTo>
                    <a:pt x="5028349" y="519112"/>
                  </a:lnTo>
                  <a:lnTo>
                    <a:pt x="5028349" y="128587"/>
                  </a:lnTo>
                  <a:close/>
                </a:path>
              </a:pathLst>
            </a:custGeom>
            <a:solidFill>
              <a:srgbClr val="B3C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1675" y="2666999"/>
              <a:ext cx="76200" cy="647700"/>
            </a:xfrm>
            <a:custGeom>
              <a:avLst/>
              <a:gdLst/>
              <a:ahLst/>
              <a:cxnLst/>
              <a:rect l="l" t="t" r="r" b="b"/>
              <a:pathLst>
                <a:path w="76200" h="647700">
                  <a:moveTo>
                    <a:pt x="76200" y="0"/>
                  </a:moveTo>
                  <a:lnTo>
                    <a:pt x="71196" y="0"/>
                  </a:lnTo>
                  <a:lnTo>
                    <a:pt x="66243" y="482"/>
                  </a:lnTo>
                  <a:lnTo>
                    <a:pt x="29705" y="15621"/>
                  </a:lnTo>
                  <a:lnTo>
                    <a:pt x="3886" y="51663"/>
                  </a:lnTo>
                  <a:lnTo>
                    <a:pt x="0" y="71196"/>
                  </a:lnTo>
                  <a:lnTo>
                    <a:pt x="0" y="571500"/>
                  </a:lnTo>
                  <a:lnTo>
                    <a:pt x="0" y="576503"/>
                  </a:lnTo>
                  <a:lnTo>
                    <a:pt x="15621" y="617994"/>
                  </a:lnTo>
                  <a:lnTo>
                    <a:pt x="51663" y="643813"/>
                  </a:lnTo>
                  <a:lnTo>
                    <a:pt x="71196" y="647700"/>
                  </a:lnTo>
                  <a:lnTo>
                    <a:pt x="76200" y="6477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035675" y="2840037"/>
            <a:ext cx="142557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14" dirty="0">
                <a:solidFill>
                  <a:srgbClr val="1E2F62"/>
                </a:solidFill>
                <a:latin typeface="Calibri"/>
                <a:cs typeface="Calibri"/>
              </a:rPr>
              <a:t>Financial</a:t>
            </a:r>
            <a:r>
              <a:rPr sz="1650" b="1" spc="-5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85" dirty="0">
                <a:solidFill>
                  <a:srgbClr val="1E2F62"/>
                </a:solidFill>
                <a:latin typeface="Calibri"/>
                <a:cs typeface="Calibri"/>
              </a:rPr>
              <a:t>loss.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81025" y="3486150"/>
            <a:ext cx="5048250" cy="647700"/>
            <a:chOff x="581025" y="3486150"/>
            <a:chExt cx="5048250" cy="647700"/>
          </a:xfrm>
        </p:grpSpPr>
        <p:sp>
          <p:nvSpPr>
            <p:cNvPr id="13" name="object 13"/>
            <p:cNvSpPr/>
            <p:nvPr/>
          </p:nvSpPr>
          <p:spPr>
            <a:xfrm>
              <a:off x="600075" y="3495675"/>
              <a:ext cx="5019675" cy="628650"/>
            </a:xfrm>
            <a:custGeom>
              <a:avLst/>
              <a:gdLst/>
              <a:ahLst/>
              <a:cxnLst/>
              <a:rect l="l" t="t" r="r" b="b"/>
              <a:pathLst>
                <a:path w="5019675" h="628650">
                  <a:moveTo>
                    <a:pt x="4908435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561975"/>
                  </a:lnTo>
                  <a:lnTo>
                    <a:pt x="0" y="566356"/>
                  </a:lnTo>
                  <a:lnTo>
                    <a:pt x="15622" y="602653"/>
                  </a:lnTo>
                  <a:lnTo>
                    <a:pt x="51663" y="625246"/>
                  </a:lnTo>
                  <a:lnTo>
                    <a:pt x="71194" y="628650"/>
                  </a:lnTo>
                  <a:lnTo>
                    <a:pt x="4908435" y="628650"/>
                  </a:lnTo>
                  <a:lnTo>
                    <a:pt x="4953393" y="616597"/>
                  </a:lnTo>
                  <a:lnTo>
                    <a:pt x="4990325" y="588251"/>
                  </a:lnTo>
                  <a:lnTo>
                    <a:pt x="5013604" y="547928"/>
                  </a:lnTo>
                  <a:lnTo>
                    <a:pt x="5019675" y="517410"/>
                  </a:lnTo>
                  <a:lnTo>
                    <a:pt x="5019675" y="111239"/>
                  </a:lnTo>
                  <a:lnTo>
                    <a:pt x="5007622" y="66268"/>
                  </a:lnTo>
                  <a:lnTo>
                    <a:pt x="4979276" y="29349"/>
                  </a:lnTo>
                  <a:lnTo>
                    <a:pt x="4938953" y="6070"/>
                  </a:lnTo>
                  <a:lnTo>
                    <a:pt x="4916170" y="762"/>
                  </a:lnTo>
                  <a:lnTo>
                    <a:pt x="49084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0913" y="3486162"/>
              <a:ext cx="5028565" cy="647700"/>
            </a:xfrm>
            <a:custGeom>
              <a:avLst/>
              <a:gdLst/>
              <a:ahLst/>
              <a:cxnLst/>
              <a:rect l="l" t="t" r="r" b="b"/>
              <a:pathLst>
                <a:path w="5028565" h="647700">
                  <a:moveTo>
                    <a:pt x="5028349" y="128587"/>
                  </a:moveTo>
                  <a:lnTo>
                    <a:pt x="5018557" y="79375"/>
                  </a:lnTo>
                  <a:lnTo>
                    <a:pt x="4991138" y="38163"/>
                  </a:lnTo>
                  <a:lnTo>
                    <a:pt x="4990973" y="37973"/>
                  </a:lnTo>
                  <a:lnTo>
                    <a:pt x="4990693" y="37655"/>
                  </a:lnTo>
                  <a:lnTo>
                    <a:pt x="4981295" y="29121"/>
                  </a:lnTo>
                  <a:lnTo>
                    <a:pt x="4971224" y="21640"/>
                  </a:lnTo>
                  <a:lnTo>
                    <a:pt x="4966881" y="19050"/>
                  </a:lnTo>
                  <a:lnTo>
                    <a:pt x="4960442" y="15189"/>
                  </a:lnTo>
                  <a:lnTo>
                    <a:pt x="4912436" y="609"/>
                  </a:lnTo>
                  <a:lnTo>
                    <a:pt x="48997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899761" y="19050"/>
                  </a:lnTo>
                  <a:lnTo>
                    <a:pt x="4941671" y="27381"/>
                  </a:lnTo>
                  <a:lnTo>
                    <a:pt x="4977219" y="51130"/>
                  </a:lnTo>
                  <a:lnTo>
                    <a:pt x="5000955" y="86664"/>
                  </a:lnTo>
                  <a:lnTo>
                    <a:pt x="5009299" y="128587"/>
                  </a:lnTo>
                  <a:lnTo>
                    <a:pt x="5009299" y="519112"/>
                  </a:lnTo>
                  <a:lnTo>
                    <a:pt x="5000955" y="561022"/>
                  </a:lnTo>
                  <a:lnTo>
                    <a:pt x="4977676" y="596061"/>
                  </a:lnTo>
                  <a:lnTo>
                    <a:pt x="4977219" y="596569"/>
                  </a:lnTo>
                  <a:lnTo>
                    <a:pt x="4941684" y="620306"/>
                  </a:lnTo>
                  <a:lnTo>
                    <a:pt x="4899761" y="628650"/>
                  </a:lnTo>
                  <a:lnTo>
                    <a:pt x="75349" y="628650"/>
                  </a:lnTo>
                  <a:lnTo>
                    <a:pt x="33007" y="619023"/>
                  </a:lnTo>
                  <a:lnTo>
                    <a:pt x="1092" y="586371"/>
                  </a:lnTo>
                  <a:lnTo>
                    <a:pt x="0" y="582256"/>
                  </a:lnTo>
                  <a:lnTo>
                    <a:pt x="609" y="586371"/>
                  </a:lnTo>
                  <a:lnTo>
                    <a:pt x="2413" y="593585"/>
                  </a:lnTo>
                  <a:lnTo>
                    <a:pt x="4851" y="600367"/>
                  </a:lnTo>
                  <a:lnTo>
                    <a:pt x="4953" y="600659"/>
                  </a:lnTo>
                  <a:lnTo>
                    <a:pt x="33007" y="634860"/>
                  </a:lnTo>
                  <a:lnTo>
                    <a:pt x="75349" y="647700"/>
                  </a:lnTo>
                  <a:lnTo>
                    <a:pt x="4899761" y="647700"/>
                  </a:lnTo>
                  <a:lnTo>
                    <a:pt x="4948974" y="637908"/>
                  </a:lnTo>
                  <a:lnTo>
                    <a:pt x="4990681" y="610031"/>
                  </a:lnTo>
                  <a:lnTo>
                    <a:pt x="4991138" y="609523"/>
                  </a:lnTo>
                  <a:lnTo>
                    <a:pt x="4999202" y="600659"/>
                  </a:lnTo>
                  <a:lnTo>
                    <a:pt x="5022850" y="556374"/>
                  </a:lnTo>
                  <a:lnTo>
                    <a:pt x="5028349" y="519112"/>
                  </a:lnTo>
                  <a:lnTo>
                    <a:pt x="5028349" y="128587"/>
                  </a:lnTo>
                  <a:close/>
                </a:path>
              </a:pathLst>
            </a:custGeom>
            <a:solidFill>
              <a:srgbClr val="B3C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1025" y="3486150"/>
              <a:ext cx="76200" cy="647700"/>
            </a:xfrm>
            <a:custGeom>
              <a:avLst/>
              <a:gdLst/>
              <a:ahLst/>
              <a:cxnLst/>
              <a:rect l="l" t="t" r="r" b="b"/>
              <a:pathLst>
                <a:path w="76200" h="647700">
                  <a:moveTo>
                    <a:pt x="76200" y="0"/>
                  </a:moveTo>
                  <a:lnTo>
                    <a:pt x="71194" y="0"/>
                  </a:lnTo>
                  <a:lnTo>
                    <a:pt x="66243" y="482"/>
                  </a:lnTo>
                  <a:lnTo>
                    <a:pt x="29706" y="15621"/>
                  </a:lnTo>
                  <a:lnTo>
                    <a:pt x="3884" y="51663"/>
                  </a:lnTo>
                  <a:lnTo>
                    <a:pt x="0" y="71196"/>
                  </a:lnTo>
                  <a:lnTo>
                    <a:pt x="0" y="571500"/>
                  </a:lnTo>
                  <a:lnTo>
                    <a:pt x="0" y="576503"/>
                  </a:lnTo>
                  <a:lnTo>
                    <a:pt x="15622" y="617994"/>
                  </a:lnTo>
                  <a:lnTo>
                    <a:pt x="51663" y="643813"/>
                  </a:lnTo>
                  <a:lnTo>
                    <a:pt x="71194" y="647700"/>
                  </a:lnTo>
                  <a:lnTo>
                    <a:pt x="76200" y="6477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5781675" y="3486150"/>
            <a:ext cx="5048250" cy="647700"/>
            <a:chOff x="5781675" y="3486150"/>
            <a:chExt cx="5048250" cy="647700"/>
          </a:xfrm>
        </p:grpSpPr>
        <p:sp>
          <p:nvSpPr>
            <p:cNvPr id="17" name="object 17"/>
            <p:cNvSpPr/>
            <p:nvPr/>
          </p:nvSpPr>
          <p:spPr>
            <a:xfrm>
              <a:off x="5800725" y="3495675"/>
              <a:ext cx="5019675" cy="628650"/>
            </a:xfrm>
            <a:custGeom>
              <a:avLst/>
              <a:gdLst/>
              <a:ahLst/>
              <a:cxnLst/>
              <a:rect l="l" t="t" r="r" b="b"/>
              <a:pathLst>
                <a:path w="5019675" h="628650">
                  <a:moveTo>
                    <a:pt x="4908435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561975"/>
                  </a:lnTo>
                  <a:lnTo>
                    <a:pt x="0" y="566356"/>
                  </a:lnTo>
                  <a:lnTo>
                    <a:pt x="15621" y="602653"/>
                  </a:lnTo>
                  <a:lnTo>
                    <a:pt x="51663" y="625246"/>
                  </a:lnTo>
                  <a:lnTo>
                    <a:pt x="71196" y="628650"/>
                  </a:lnTo>
                  <a:lnTo>
                    <a:pt x="4908435" y="628650"/>
                  </a:lnTo>
                  <a:lnTo>
                    <a:pt x="4953393" y="616597"/>
                  </a:lnTo>
                  <a:lnTo>
                    <a:pt x="4990325" y="588251"/>
                  </a:lnTo>
                  <a:lnTo>
                    <a:pt x="5013604" y="547928"/>
                  </a:lnTo>
                  <a:lnTo>
                    <a:pt x="5019675" y="517410"/>
                  </a:lnTo>
                  <a:lnTo>
                    <a:pt x="5019675" y="111239"/>
                  </a:lnTo>
                  <a:lnTo>
                    <a:pt x="5007622" y="66268"/>
                  </a:lnTo>
                  <a:lnTo>
                    <a:pt x="4979276" y="29349"/>
                  </a:lnTo>
                  <a:lnTo>
                    <a:pt x="4938953" y="6070"/>
                  </a:lnTo>
                  <a:lnTo>
                    <a:pt x="4916170" y="762"/>
                  </a:lnTo>
                  <a:lnTo>
                    <a:pt x="49084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01563" y="3486162"/>
              <a:ext cx="5028565" cy="647700"/>
            </a:xfrm>
            <a:custGeom>
              <a:avLst/>
              <a:gdLst/>
              <a:ahLst/>
              <a:cxnLst/>
              <a:rect l="l" t="t" r="r" b="b"/>
              <a:pathLst>
                <a:path w="5028565" h="647700">
                  <a:moveTo>
                    <a:pt x="5028349" y="128587"/>
                  </a:moveTo>
                  <a:lnTo>
                    <a:pt x="5018557" y="79375"/>
                  </a:lnTo>
                  <a:lnTo>
                    <a:pt x="4991138" y="38163"/>
                  </a:lnTo>
                  <a:lnTo>
                    <a:pt x="4990973" y="37973"/>
                  </a:lnTo>
                  <a:lnTo>
                    <a:pt x="4990693" y="37655"/>
                  </a:lnTo>
                  <a:lnTo>
                    <a:pt x="4981295" y="29121"/>
                  </a:lnTo>
                  <a:lnTo>
                    <a:pt x="4971224" y="21640"/>
                  </a:lnTo>
                  <a:lnTo>
                    <a:pt x="4966881" y="19050"/>
                  </a:lnTo>
                  <a:lnTo>
                    <a:pt x="4960442" y="15189"/>
                  </a:lnTo>
                  <a:lnTo>
                    <a:pt x="4912436" y="609"/>
                  </a:lnTo>
                  <a:lnTo>
                    <a:pt x="48997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899761" y="19050"/>
                  </a:lnTo>
                  <a:lnTo>
                    <a:pt x="4941671" y="27381"/>
                  </a:lnTo>
                  <a:lnTo>
                    <a:pt x="4977219" y="51130"/>
                  </a:lnTo>
                  <a:lnTo>
                    <a:pt x="5000955" y="86664"/>
                  </a:lnTo>
                  <a:lnTo>
                    <a:pt x="5009299" y="128587"/>
                  </a:lnTo>
                  <a:lnTo>
                    <a:pt x="5009299" y="519112"/>
                  </a:lnTo>
                  <a:lnTo>
                    <a:pt x="5000955" y="561022"/>
                  </a:lnTo>
                  <a:lnTo>
                    <a:pt x="4977676" y="596061"/>
                  </a:lnTo>
                  <a:lnTo>
                    <a:pt x="4977219" y="596569"/>
                  </a:lnTo>
                  <a:lnTo>
                    <a:pt x="4941671" y="620306"/>
                  </a:lnTo>
                  <a:lnTo>
                    <a:pt x="4899761" y="628650"/>
                  </a:lnTo>
                  <a:lnTo>
                    <a:pt x="75349" y="628650"/>
                  </a:lnTo>
                  <a:lnTo>
                    <a:pt x="33007" y="619023"/>
                  </a:lnTo>
                  <a:lnTo>
                    <a:pt x="1079" y="586371"/>
                  </a:lnTo>
                  <a:lnTo>
                    <a:pt x="0" y="582256"/>
                  </a:lnTo>
                  <a:lnTo>
                    <a:pt x="609" y="586371"/>
                  </a:lnTo>
                  <a:lnTo>
                    <a:pt x="2413" y="593585"/>
                  </a:lnTo>
                  <a:lnTo>
                    <a:pt x="4851" y="600367"/>
                  </a:lnTo>
                  <a:lnTo>
                    <a:pt x="4953" y="600659"/>
                  </a:lnTo>
                  <a:lnTo>
                    <a:pt x="33007" y="634860"/>
                  </a:lnTo>
                  <a:lnTo>
                    <a:pt x="75349" y="647700"/>
                  </a:lnTo>
                  <a:lnTo>
                    <a:pt x="4899761" y="647700"/>
                  </a:lnTo>
                  <a:lnTo>
                    <a:pt x="4948974" y="637908"/>
                  </a:lnTo>
                  <a:lnTo>
                    <a:pt x="4990681" y="610031"/>
                  </a:lnTo>
                  <a:lnTo>
                    <a:pt x="4991138" y="609523"/>
                  </a:lnTo>
                  <a:lnTo>
                    <a:pt x="4999202" y="600659"/>
                  </a:lnTo>
                  <a:lnTo>
                    <a:pt x="5022850" y="556374"/>
                  </a:lnTo>
                  <a:lnTo>
                    <a:pt x="5028349" y="519112"/>
                  </a:lnTo>
                  <a:lnTo>
                    <a:pt x="5028349" y="128587"/>
                  </a:lnTo>
                  <a:close/>
                </a:path>
              </a:pathLst>
            </a:custGeom>
            <a:solidFill>
              <a:srgbClr val="B3C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81675" y="3486150"/>
              <a:ext cx="76200" cy="647700"/>
            </a:xfrm>
            <a:custGeom>
              <a:avLst/>
              <a:gdLst/>
              <a:ahLst/>
              <a:cxnLst/>
              <a:rect l="l" t="t" r="r" b="b"/>
              <a:pathLst>
                <a:path w="76200" h="647700">
                  <a:moveTo>
                    <a:pt x="76200" y="0"/>
                  </a:moveTo>
                  <a:lnTo>
                    <a:pt x="71196" y="0"/>
                  </a:lnTo>
                  <a:lnTo>
                    <a:pt x="66243" y="482"/>
                  </a:lnTo>
                  <a:lnTo>
                    <a:pt x="29705" y="15621"/>
                  </a:lnTo>
                  <a:lnTo>
                    <a:pt x="3886" y="51663"/>
                  </a:lnTo>
                  <a:lnTo>
                    <a:pt x="0" y="71196"/>
                  </a:lnTo>
                  <a:lnTo>
                    <a:pt x="0" y="571500"/>
                  </a:lnTo>
                  <a:lnTo>
                    <a:pt x="0" y="576503"/>
                  </a:lnTo>
                  <a:lnTo>
                    <a:pt x="15621" y="617994"/>
                  </a:lnTo>
                  <a:lnTo>
                    <a:pt x="51663" y="643813"/>
                  </a:lnTo>
                  <a:lnTo>
                    <a:pt x="71196" y="647700"/>
                  </a:lnTo>
                  <a:lnTo>
                    <a:pt x="76200" y="6477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581025" y="4305300"/>
            <a:ext cx="5048250" cy="647700"/>
            <a:chOff x="581025" y="4305300"/>
            <a:chExt cx="5048250" cy="647700"/>
          </a:xfrm>
        </p:grpSpPr>
        <p:sp>
          <p:nvSpPr>
            <p:cNvPr id="21" name="object 21"/>
            <p:cNvSpPr/>
            <p:nvPr/>
          </p:nvSpPr>
          <p:spPr>
            <a:xfrm>
              <a:off x="600075" y="4314825"/>
              <a:ext cx="5019675" cy="628650"/>
            </a:xfrm>
            <a:custGeom>
              <a:avLst/>
              <a:gdLst/>
              <a:ahLst/>
              <a:cxnLst/>
              <a:rect l="l" t="t" r="r" b="b"/>
              <a:pathLst>
                <a:path w="5019675" h="628650">
                  <a:moveTo>
                    <a:pt x="4908435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561975"/>
                  </a:lnTo>
                  <a:lnTo>
                    <a:pt x="0" y="566356"/>
                  </a:lnTo>
                  <a:lnTo>
                    <a:pt x="15622" y="602653"/>
                  </a:lnTo>
                  <a:lnTo>
                    <a:pt x="51663" y="625246"/>
                  </a:lnTo>
                  <a:lnTo>
                    <a:pt x="71194" y="628650"/>
                  </a:lnTo>
                  <a:lnTo>
                    <a:pt x="4908435" y="628650"/>
                  </a:lnTo>
                  <a:lnTo>
                    <a:pt x="4953393" y="616597"/>
                  </a:lnTo>
                  <a:lnTo>
                    <a:pt x="4990325" y="588251"/>
                  </a:lnTo>
                  <a:lnTo>
                    <a:pt x="5013604" y="547928"/>
                  </a:lnTo>
                  <a:lnTo>
                    <a:pt x="5019675" y="517398"/>
                  </a:lnTo>
                  <a:lnTo>
                    <a:pt x="5019675" y="111239"/>
                  </a:lnTo>
                  <a:lnTo>
                    <a:pt x="5007622" y="66268"/>
                  </a:lnTo>
                  <a:lnTo>
                    <a:pt x="4979276" y="29349"/>
                  </a:lnTo>
                  <a:lnTo>
                    <a:pt x="4938953" y="6070"/>
                  </a:lnTo>
                  <a:lnTo>
                    <a:pt x="4916170" y="762"/>
                  </a:lnTo>
                  <a:lnTo>
                    <a:pt x="49084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0913" y="4305312"/>
              <a:ext cx="5028565" cy="647700"/>
            </a:xfrm>
            <a:custGeom>
              <a:avLst/>
              <a:gdLst/>
              <a:ahLst/>
              <a:cxnLst/>
              <a:rect l="l" t="t" r="r" b="b"/>
              <a:pathLst>
                <a:path w="5028565" h="647700">
                  <a:moveTo>
                    <a:pt x="5028349" y="128587"/>
                  </a:moveTo>
                  <a:lnTo>
                    <a:pt x="5018557" y="79375"/>
                  </a:lnTo>
                  <a:lnTo>
                    <a:pt x="4991138" y="38163"/>
                  </a:lnTo>
                  <a:lnTo>
                    <a:pt x="4990973" y="37973"/>
                  </a:lnTo>
                  <a:lnTo>
                    <a:pt x="4990693" y="37655"/>
                  </a:lnTo>
                  <a:lnTo>
                    <a:pt x="4981295" y="29121"/>
                  </a:lnTo>
                  <a:lnTo>
                    <a:pt x="4971224" y="21640"/>
                  </a:lnTo>
                  <a:lnTo>
                    <a:pt x="4966881" y="19050"/>
                  </a:lnTo>
                  <a:lnTo>
                    <a:pt x="4960442" y="15189"/>
                  </a:lnTo>
                  <a:lnTo>
                    <a:pt x="4912436" y="609"/>
                  </a:lnTo>
                  <a:lnTo>
                    <a:pt x="48997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4899761" y="19050"/>
                  </a:lnTo>
                  <a:lnTo>
                    <a:pt x="4941671" y="27381"/>
                  </a:lnTo>
                  <a:lnTo>
                    <a:pt x="4977219" y="51130"/>
                  </a:lnTo>
                  <a:lnTo>
                    <a:pt x="5000955" y="86664"/>
                  </a:lnTo>
                  <a:lnTo>
                    <a:pt x="5009299" y="128587"/>
                  </a:lnTo>
                  <a:lnTo>
                    <a:pt x="5009299" y="519112"/>
                  </a:lnTo>
                  <a:lnTo>
                    <a:pt x="5000955" y="561022"/>
                  </a:lnTo>
                  <a:lnTo>
                    <a:pt x="4977676" y="596061"/>
                  </a:lnTo>
                  <a:lnTo>
                    <a:pt x="4977219" y="596569"/>
                  </a:lnTo>
                  <a:lnTo>
                    <a:pt x="4941684" y="620306"/>
                  </a:lnTo>
                  <a:lnTo>
                    <a:pt x="4899761" y="628650"/>
                  </a:lnTo>
                  <a:lnTo>
                    <a:pt x="75349" y="628650"/>
                  </a:lnTo>
                  <a:lnTo>
                    <a:pt x="33007" y="619023"/>
                  </a:lnTo>
                  <a:lnTo>
                    <a:pt x="1092" y="586371"/>
                  </a:lnTo>
                  <a:lnTo>
                    <a:pt x="0" y="582256"/>
                  </a:lnTo>
                  <a:lnTo>
                    <a:pt x="609" y="586371"/>
                  </a:lnTo>
                  <a:lnTo>
                    <a:pt x="2413" y="593572"/>
                  </a:lnTo>
                  <a:lnTo>
                    <a:pt x="4851" y="600367"/>
                  </a:lnTo>
                  <a:lnTo>
                    <a:pt x="4953" y="600659"/>
                  </a:lnTo>
                  <a:lnTo>
                    <a:pt x="33007" y="634860"/>
                  </a:lnTo>
                  <a:lnTo>
                    <a:pt x="75349" y="647700"/>
                  </a:lnTo>
                  <a:lnTo>
                    <a:pt x="4899761" y="647700"/>
                  </a:lnTo>
                  <a:lnTo>
                    <a:pt x="4948974" y="637908"/>
                  </a:lnTo>
                  <a:lnTo>
                    <a:pt x="4990681" y="610031"/>
                  </a:lnTo>
                  <a:lnTo>
                    <a:pt x="4991138" y="609523"/>
                  </a:lnTo>
                  <a:lnTo>
                    <a:pt x="4999202" y="600659"/>
                  </a:lnTo>
                  <a:lnTo>
                    <a:pt x="5022850" y="556374"/>
                  </a:lnTo>
                  <a:lnTo>
                    <a:pt x="5028349" y="519112"/>
                  </a:lnTo>
                  <a:lnTo>
                    <a:pt x="5028349" y="128587"/>
                  </a:lnTo>
                  <a:close/>
                </a:path>
              </a:pathLst>
            </a:custGeom>
            <a:solidFill>
              <a:srgbClr val="B3C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1025" y="4305300"/>
              <a:ext cx="76200" cy="647700"/>
            </a:xfrm>
            <a:custGeom>
              <a:avLst/>
              <a:gdLst/>
              <a:ahLst/>
              <a:cxnLst/>
              <a:rect l="l" t="t" r="r" b="b"/>
              <a:pathLst>
                <a:path w="76200" h="647700">
                  <a:moveTo>
                    <a:pt x="76200" y="0"/>
                  </a:moveTo>
                  <a:lnTo>
                    <a:pt x="71194" y="0"/>
                  </a:lnTo>
                  <a:lnTo>
                    <a:pt x="66243" y="482"/>
                  </a:lnTo>
                  <a:lnTo>
                    <a:pt x="29706" y="15621"/>
                  </a:lnTo>
                  <a:lnTo>
                    <a:pt x="3884" y="51663"/>
                  </a:lnTo>
                  <a:lnTo>
                    <a:pt x="0" y="71196"/>
                  </a:lnTo>
                  <a:lnTo>
                    <a:pt x="0" y="571500"/>
                  </a:lnTo>
                  <a:lnTo>
                    <a:pt x="0" y="576503"/>
                  </a:lnTo>
                  <a:lnTo>
                    <a:pt x="15622" y="617994"/>
                  </a:lnTo>
                  <a:lnTo>
                    <a:pt x="51663" y="643813"/>
                  </a:lnTo>
                  <a:lnTo>
                    <a:pt x="71194" y="647700"/>
                  </a:lnTo>
                  <a:lnTo>
                    <a:pt x="76200" y="6477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35025" y="2840037"/>
            <a:ext cx="3270250" cy="19208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20" dirty="0">
                <a:solidFill>
                  <a:srgbClr val="1E2F62"/>
                </a:solidFill>
                <a:latin typeface="Calibri"/>
                <a:cs typeface="Calibri"/>
              </a:rPr>
              <a:t>Data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85" dirty="0">
                <a:solidFill>
                  <a:srgbClr val="1E2F62"/>
                </a:solidFill>
                <a:latin typeface="Calibri"/>
                <a:cs typeface="Calibri"/>
              </a:rPr>
              <a:t>theft.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50" b="1" spc="150" dirty="0">
                <a:solidFill>
                  <a:srgbClr val="1E2F62"/>
                </a:solidFill>
                <a:latin typeface="Calibri"/>
                <a:cs typeface="Calibri"/>
              </a:rPr>
              <a:t>Legal</a:t>
            </a:r>
            <a:r>
              <a:rPr sz="1650" b="1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05" dirty="0">
                <a:solidFill>
                  <a:srgbClr val="1E2F62"/>
                </a:solidFill>
                <a:latin typeface="Calibri"/>
                <a:cs typeface="Calibri"/>
              </a:rPr>
              <a:t>problems.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50" b="1" spc="170" dirty="0">
                <a:solidFill>
                  <a:srgbClr val="1E2F62"/>
                </a:solidFill>
                <a:latin typeface="Calibri"/>
                <a:cs typeface="Calibri"/>
              </a:rPr>
              <a:t>Damage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95" dirty="0">
                <a:solidFill>
                  <a:srgbClr val="1E2F62"/>
                </a:solidFill>
                <a:latin typeface="Calibri"/>
                <a:cs typeface="Calibri"/>
              </a:rPr>
              <a:t>to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55" dirty="0">
                <a:solidFill>
                  <a:srgbClr val="1E2F62"/>
                </a:solidFill>
                <a:latin typeface="Calibri"/>
                <a:cs typeface="Calibri"/>
              </a:rPr>
              <a:t>company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75" dirty="0">
                <a:solidFill>
                  <a:srgbClr val="1E2F62"/>
                </a:solidFill>
                <a:latin typeface="Calibri"/>
                <a:cs typeface="Calibri"/>
              </a:rPr>
              <a:t>reputation.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781675" y="4305300"/>
            <a:ext cx="5048250" cy="647700"/>
            <a:chOff x="5781675" y="4305300"/>
            <a:chExt cx="5048250" cy="647700"/>
          </a:xfrm>
        </p:grpSpPr>
        <p:sp>
          <p:nvSpPr>
            <p:cNvPr id="26" name="object 26"/>
            <p:cNvSpPr/>
            <p:nvPr/>
          </p:nvSpPr>
          <p:spPr>
            <a:xfrm>
              <a:off x="5800725" y="4314825"/>
              <a:ext cx="5019675" cy="628650"/>
            </a:xfrm>
            <a:custGeom>
              <a:avLst/>
              <a:gdLst/>
              <a:ahLst/>
              <a:cxnLst/>
              <a:rect l="l" t="t" r="r" b="b"/>
              <a:pathLst>
                <a:path w="5019675" h="628650">
                  <a:moveTo>
                    <a:pt x="4908435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561975"/>
                  </a:lnTo>
                  <a:lnTo>
                    <a:pt x="0" y="566356"/>
                  </a:lnTo>
                  <a:lnTo>
                    <a:pt x="15621" y="602653"/>
                  </a:lnTo>
                  <a:lnTo>
                    <a:pt x="51663" y="625246"/>
                  </a:lnTo>
                  <a:lnTo>
                    <a:pt x="71196" y="628650"/>
                  </a:lnTo>
                  <a:lnTo>
                    <a:pt x="4908435" y="628650"/>
                  </a:lnTo>
                  <a:lnTo>
                    <a:pt x="4953393" y="616597"/>
                  </a:lnTo>
                  <a:lnTo>
                    <a:pt x="4990325" y="588251"/>
                  </a:lnTo>
                  <a:lnTo>
                    <a:pt x="5013604" y="547928"/>
                  </a:lnTo>
                  <a:lnTo>
                    <a:pt x="5019675" y="517398"/>
                  </a:lnTo>
                  <a:lnTo>
                    <a:pt x="5019675" y="111239"/>
                  </a:lnTo>
                  <a:lnTo>
                    <a:pt x="5007622" y="66268"/>
                  </a:lnTo>
                  <a:lnTo>
                    <a:pt x="4979276" y="29349"/>
                  </a:lnTo>
                  <a:lnTo>
                    <a:pt x="4938953" y="6070"/>
                  </a:lnTo>
                  <a:lnTo>
                    <a:pt x="4916170" y="762"/>
                  </a:lnTo>
                  <a:lnTo>
                    <a:pt x="49084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801563" y="4305312"/>
              <a:ext cx="5028565" cy="647700"/>
            </a:xfrm>
            <a:custGeom>
              <a:avLst/>
              <a:gdLst/>
              <a:ahLst/>
              <a:cxnLst/>
              <a:rect l="l" t="t" r="r" b="b"/>
              <a:pathLst>
                <a:path w="5028565" h="647700">
                  <a:moveTo>
                    <a:pt x="5028349" y="128587"/>
                  </a:moveTo>
                  <a:lnTo>
                    <a:pt x="5018557" y="79375"/>
                  </a:lnTo>
                  <a:lnTo>
                    <a:pt x="4991138" y="38163"/>
                  </a:lnTo>
                  <a:lnTo>
                    <a:pt x="4990973" y="37973"/>
                  </a:lnTo>
                  <a:lnTo>
                    <a:pt x="4990693" y="37655"/>
                  </a:lnTo>
                  <a:lnTo>
                    <a:pt x="4981295" y="29121"/>
                  </a:lnTo>
                  <a:lnTo>
                    <a:pt x="4971224" y="21640"/>
                  </a:lnTo>
                  <a:lnTo>
                    <a:pt x="4966881" y="19050"/>
                  </a:lnTo>
                  <a:lnTo>
                    <a:pt x="4960442" y="15189"/>
                  </a:lnTo>
                  <a:lnTo>
                    <a:pt x="4912436" y="609"/>
                  </a:lnTo>
                  <a:lnTo>
                    <a:pt x="48997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4899761" y="19050"/>
                  </a:lnTo>
                  <a:lnTo>
                    <a:pt x="4941671" y="27381"/>
                  </a:lnTo>
                  <a:lnTo>
                    <a:pt x="4977219" y="51130"/>
                  </a:lnTo>
                  <a:lnTo>
                    <a:pt x="5000955" y="86664"/>
                  </a:lnTo>
                  <a:lnTo>
                    <a:pt x="5009299" y="128587"/>
                  </a:lnTo>
                  <a:lnTo>
                    <a:pt x="5009299" y="519112"/>
                  </a:lnTo>
                  <a:lnTo>
                    <a:pt x="5000955" y="561022"/>
                  </a:lnTo>
                  <a:lnTo>
                    <a:pt x="4977676" y="596061"/>
                  </a:lnTo>
                  <a:lnTo>
                    <a:pt x="4977219" y="596569"/>
                  </a:lnTo>
                  <a:lnTo>
                    <a:pt x="4941671" y="620306"/>
                  </a:lnTo>
                  <a:lnTo>
                    <a:pt x="4899761" y="628650"/>
                  </a:lnTo>
                  <a:lnTo>
                    <a:pt x="75349" y="628650"/>
                  </a:lnTo>
                  <a:lnTo>
                    <a:pt x="33007" y="619023"/>
                  </a:lnTo>
                  <a:lnTo>
                    <a:pt x="1079" y="586371"/>
                  </a:lnTo>
                  <a:lnTo>
                    <a:pt x="0" y="582269"/>
                  </a:lnTo>
                  <a:lnTo>
                    <a:pt x="609" y="586371"/>
                  </a:lnTo>
                  <a:lnTo>
                    <a:pt x="2413" y="593572"/>
                  </a:lnTo>
                  <a:lnTo>
                    <a:pt x="4851" y="600367"/>
                  </a:lnTo>
                  <a:lnTo>
                    <a:pt x="4953" y="600659"/>
                  </a:lnTo>
                  <a:lnTo>
                    <a:pt x="33007" y="634860"/>
                  </a:lnTo>
                  <a:lnTo>
                    <a:pt x="75349" y="647700"/>
                  </a:lnTo>
                  <a:lnTo>
                    <a:pt x="4899761" y="647700"/>
                  </a:lnTo>
                  <a:lnTo>
                    <a:pt x="4948974" y="637908"/>
                  </a:lnTo>
                  <a:lnTo>
                    <a:pt x="4990681" y="610031"/>
                  </a:lnTo>
                  <a:lnTo>
                    <a:pt x="4991138" y="609523"/>
                  </a:lnTo>
                  <a:lnTo>
                    <a:pt x="4999202" y="600659"/>
                  </a:lnTo>
                  <a:lnTo>
                    <a:pt x="5022850" y="556374"/>
                  </a:lnTo>
                  <a:lnTo>
                    <a:pt x="5028349" y="519112"/>
                  </a:lnTo>
                  <a:lnTo>
                    <a:pt x="5028349" y="128587"/>
                  </a:lnTo>
                  <a:close/>
                </a:path>
              </a:pathLst>
            </a:custGeom>
            <a:solidFill>
              <a:srgbClr val="B3C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81675" y="4305300"/>
              <a:ext cx="76200" cy="647700"/>
            </a:xfrm>
            <a:custGeom>
              <a:avLst/>
              <a:gdLst/>
              <a:ahLst/>
              <a:cxnLst/>
              <a:rect l="l" t="t" r="r" b="b"/>
              <a:pathLst>
                <a:path w="76200" h="647700">
                  <a:moveTo>
                    <a:pt x="76200" y="0"/>
                  </a:moveTo>
                  <a:lnTo>
                    <a:pt x="71196" y="0"/>
                  </a:lnTo>
                  <a:lnTo>
                    <a:pt x="66243" y="482"/>
                  </a:lnTo>
                  <a:lnTo>
                    <a:pt x="29705" y="15621"/>
                  </a:lnTo>
                  <a:lnTo>
                    <a:pt x="3886" y="51663"/>
                  </a:lnTo>
                  <a:lnTo>
                    <a:pt x="0" y="71196"/>
                  </a:lnTo>
                  <a:lnTo>
                    <a:pt x="0" y="571500"/>
                  </a:lnTo>
                  <a:lnTo>
                    <a:pt x="0" y="576503"/>
                  </a:lnTo>
                  <a:lnTo>
                    <a:pt x="15621" y="617994"/>
                  </a:lnTo>
                  <a:lnTo>
                    <a:pt x="51663" y="643813"/>
                  </a:lnTo>
                  <a:lnTo>
                    <a:pt x="71196" y="647700"/>
                  </a:lnTo>
                  <a:lnTo>
                    <a:pt x="76200" y="6477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035675" y="3659187"/>
            <a:ext cx="3058795" cy="11017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65" dirty="0">
                <a:solidFill>
                  <a:srgbClr val="1E2F62"/>
                </a:solidFill>
                <a:latin typeface="Calibri"/>
                <a:cs typeface="Calibri"/>
              </a:rPr>
              <a:t>Loss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95" dirty="0">
                <a:solidFill>
                  <a:srgbClr val="1E2F62"/>
                </a:solidFill>
                <a:latin typeface="Calibri"/>
                <a:cs typeface="Calibri"/>
              </a:rPr>
              <a:t>of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14" dirty="0">
                <a:solidFill>
                  <a:srgbClr val="1E2F62"/>
                </a:solidFill>
                <a:latin typeface="Calibri"/>
                <a:cs typeface="Calibri"/>
              </a:rPr>
              <a:t>customers.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50" b="1" spc="135" dirty="0">
                <a:solidFill>
                  <a:srgbClr val="1E2F62"/>
                </a:solidFill>
                <a:latin typeface="Calibri"/>
                <a:cs typeface="Calibri"/>
              </a:rPr>
              <a:t>Business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05" dirty="0">
                <a:solidFill>
                  <a:srgbClr val="1E2F62"/>
                </a:solidFill>
                <a:latin typeface="Calibri"/>
                <a:cs typeface="Calibri"/>
              </a:rPr>
              <a:t>operations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30" dirty="0">
                <a:solidFill>
                  <a:srgbClr val="1E2F62"/>
                </a:solidFill>
                <a:latin typeface="Calibri"/>
                <a:cs typeface="Calibri"/>
              </a:rPr>
              <a:t>may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70" dirty="0">
                <a:solidFill>
                  <a:srgbClr val="1E2F62"/>
                </a:solidFill>
                <a:latin typeface="Calibri"/>
                <a:cs typeface="Calibri"/>
              </a:rPr>
              <a:t>stop.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529871" y="5881797"/>
            <a:ext cx="1805305" cy="478155"/>
            <a:chOff x="9529871" y="5881797"/>
            <a:chExt cx="1805305" cy="478155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9537699" y="5889626"/>
              <a:ext cx="1777364" cy="462280"/>
            </a:xfrm>
            <a:custGeom>
              <a:avLst/>
              <a:gdLst/>
              <a:ahLst/>
              <a:cxnLst/>
              <a:rect l="l" t="t" r="r" b="b"/>
              <a:pathLst>
                <a:path w="1777365" h="462279">
                  <a:moveTo>
                    <a:pt x="1777130" y="0"/>
                  </a:moveTo>
                  <a:lnTo>
                    <a:pt x="0" y="0"/>
                  </a:lnTo>
                  <a:lnTo>
                    <a:pt x="0" y="461897"/>
                  </a:lnTo>
                  <a:lnTo>
                    <a:pt x="1777130" y="461897"/>
                  </a:lnTo>
                  <a:lnTo>
                    <a:pt x="17771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537699" y="5889626"/>
              <a:ext cx="1777364" cy="462280"/>
            </a:xfrm>
            <a:custGeom>
              <a:avLst/>
              <a:gdLst/>
              <a:ahLst/>
              <a:cxnLst/>
              <a:rect l="l" t="t" r="r" b="b"/>
              <a:pathLst>
                <a:path w="1777365" h="462279">
                  <a:moveTo>
                    <a:pt x="0" y="461897"/>
                  </a:moveTo>
                  <a:lnTo>
                    <a:pt x="1777130" y="461897"/>
                  </a:lnTo>
                  <a:lnTo>
                    <a:pt x="1777130" y="0"/>
                  </a:lnTo>
                  <a:lnTo>
                    <a:pt x="0" y="0"/>
                  </a:lnTo>
                  <a:lnTo>
                    <a:pt x="0" y="461897"/>
                  </a:lnTo>
                  <a:close/>
                </a:path>
              </a:pathLst>
            </a:custGeom>
            <a:ln w="1565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7374" y="1314450"/>
            <a:ext cx="6045200" cy="1102360"/>
          </a:xfrm>
          <a:prstGeom prst="rect">
            <a:avLst/>
          </a:prstGeom>
        </p:spPr>
        <p:txBody>
          <a:bodyPr vert="horz" wrap="square" lIns="0" tIns="174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pc="285" dirty="0">
                <a:solidFill>
                  <a:srgbClr val="091B53"/>
                </a:solidFill>
              </a:rPr>
              <a:t>What</a:t>
            </a:r>
            <a:r>
              <a:rPr spc="-95" dirty="0">
                <a:solidFill>
                  <a:srgbClr val="091B53"/>
                </a:solidFill>
              </a:rPr>
              <a:t> </a:t>
            </a:r>
            <a:r>
              <a:rPr spc="180" dirty="0">
                <a:solidFill>
                  <a:srgbClr val="091B53"/>
                </a:solidFill>
              </a:rPr>
              <a:t>are</a:t>
            </a:r>
            <a:r>
              <a:rPr spc="-90" dirty="0">
                <a:solidFill>
                  <a:srgbClr val="091B53"/>
                </a:solidFill>
              </a:rPr>
              <a:t> </a:t>
            </a:r>
            <a:r>
              <a:rPr spc="245" dirty="0">
                <a:solidFill>
                  <a:srgbClr val="091B53"/>
                </a:solidFill>
              </a:rPr>
              <a:t>Security</a:t>
            </a:r>
            <a:r>
              <a:rPr spc="-95" dirty="0">
                <a:solidFill>
                  <a:srgbClr val="091B53"/>
                </a:solidFill>
              </a:rPr>
              <a:t> </a:t>
            </a:r>
            <a:r>
              <a:rPr spc="245" dirty="0">
                <a:solidFill>
                  <a:srgbClr val="091B53"/>
                </a:solidFill>
              </a:rPr>
              <a:t>Standards?</a:t>
            </a: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000" spc="100" dirty="0">
                <a:solidFill>
                  <a:srgbClr val="83C1FA"/>
                </a:solidFill>
              </a:rPr>
              <a:t>Definition</a:t>
            </a:r>
            <a:endParaRPr sz="2000"/>
          </a:p>
        </p:txBody>
      </p:sp>
      <p:sp>
        <p:nvSpPr>
          <p:cNvPr id="3" name="object 3"/>
          <p:cNvSpPr/>
          <p:nvPr/>
        </p:nvSpPr>
        <p:spPr>
          <a:xfrm>
            <a:off x="600074" y="2676525"/>
            <a:ext cx="5029200" cy="895350"/>
          </a:xfrm>
          <a:custGeom>
            <a:avLst/>
            <a:gdLst/>
            <a:ahLst/>
            <a:cxnLst/>
            <a:rect l="l" t="t" r="r" b="b"/>
            <a:pathLst>
              <a:path w="5029200" h="895350">
                <a:moveTo>
                  <a:pt x="4909055" y="895349"/>
                </a:moveTo>
                <a:lnTo>
                  <a:pt x="120144" y="895349"/>
                </a:lnTo>
                <a:lnTo>
                  <a:pt x="111782" y="894525"/>
                </a:lnTo>
                <a:lnTo>
                  <a:pt x="71578" y="882329"/>
                </a:lnTo>
                <a:lnTo>
                  <a:pt x="31692" y="851716"/>
                </a:lnTo>
                <a:lnTo>
                  <a:pt x="6557" y="808169"/>
                </a:lnTo>
                <a:lnTo>
                  <a:pt x="0" y="775205"/>
                </a:lnTo>
                <a:lnTo>
                  <a:pt x="0" y="766762"/>
                </a:lnTo>
                <a:lnTo>
                  <a:pt x="0" y="120143"/>
                </a:lnTo>
                <a:lnTo>
                  <a:pt x="13019" y="71578"/>
                </a:lnTo>
                <a:lnTo>
                  <a:pt x="43632" y="31691"/>
                </a:lnTo>
                <a:lnTo>
                  <a:pt x="87179" y="6556"/>
                </a:lnTo>
                <a:lnTo>
                  <a:pt x="120144" y="0"/>
                </a:lnTo>
                <a:lnTo>
                  <a:pt x="4909055" y="0"/>
                </a:lnTo>
                <a:lnTo>
                  <a:pt x="4957620" y="13018"/>
                </a:lnTo>
                <a:lnTo>
                  <a:pt x="4997506" y="43632"/>
                </a:lnTo>
                <a:lnTo>
                  <a:pt x="5022641" y="87178"/>
                </a:lnTo>
                <a:lnTo>
                  <a:pt x="5029199" y="120143"/>
                </a:lnTo>
                <a:lnTo>
                  <a:pt x="5029199" y="775205"/>
                </a:lnTo>
                <a:lnTo>
                  <a:pt x="5016178" y="823770"/>
                </a:lnTo>
                <a:lnTo>
                  <a:pt x="4985566" y="863657"/>
                </a:lnTo>
                <a:lnTo>
                  <a:pt x="4942019" y="888792"/>
                </a:lnTo>
                <a:lnTo>
                  <a:pt x="4917416" y="894525"/>
                </a:lnTo>
                <a:lnTo>
                  <a:pt x="4909055" y="895349"/>
                </a:lnTo>
                <a:close/>
              </a:path>
            </a:pathLst>
          </a:custGeom>
          <a:solidFill>
            <a:srgbClr val="CDE6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8824" y="2783840"/>
            <a:ext cx="393763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100" dirty="0">
                <a:solidFill>
                  <a:srgbClr val="1D2F62"/>
                </a:solidFill>
                <a:latin typeface="Calibri"/>
                <a:cs typeface="Calibri"/>
              </a:rPr>
              <a:t>Standards</a:t>
            </a:r>
            <a:r>
              <a:rPr sz="1350" spc="-2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60" dirty="0">
                <a:solidFill>
                  <a:srgbClr val="1D2F62"/>
                </a:solidFill>
                <a:latin typeface="Calibri"/>
                <a:cs typeface="Calibri"/>
              </a:rPr>
              <a:t>are</a:t>
            </a:r>
            <a:r>
              <a:rPr sz="1350" spc="-2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70" dirty="0">
                <a:solidFill>
                  <a:srgbClr val="1D2F62"/>
                </a:solidFill>
                <a:latin typeface="Calibri"/>
                <a:cs typeface="Calibri"/>
              </a:rPr>
              <a:t>rules</a:t>
            </a:r>
            <a:r>
              <a:rPr sz="1350" spc="-2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70" dirty="0">
                <a:solidFill>
                  <a:srgbClr val="1D2F62"/>
                </a:solidFill>
                <a:latin typeface="Calibri"/>
                <a:cs typeface="Calibri"/>
              </a:rPr>
              <a:t>that</a:t>
            </a:r>
            <a:r>
              <a:rPr sz="1350" spc="-2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75" dirty="0">
                <a:solidFill>
                  <a:srgbClr val="1D2F62"/>
                </a:solidFill>
                <a:latin typeface="Calibri"/>
                <a:cs typeface="Calibri"/>
              </a:rPr>
              <a:t>define</a:t>
            </a:r>
            <a:r>
              <a:rPr sz="1350" spc="-2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100" dirty="0">
                <a:solidFill>
                  <a:srgbClr val="1D2F62"/>
                </a:solidFill>
                <a:latin typeface="Calibri"/>
                <a:cs typeface="Calibri"/>
              </a:rPr>
              <a:t>minimum</a:t>
            </a:r>
            <a:r>
              <a:rPr sz="1350" spc="-2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70" dirty="0">
                <a:solidFill>
                  <a:srgbClr val="1D2F62"/>
                </a:solidFill>
                <a:latin typeface="Calibri"/>
                <a:cs typeface="Calibri"/>
              </a:rPr>
              <a:t>security </a:t>
            </a:r>
            <a:r>
              <a:rPr sz="1350" spc="60" dirty="0">
                <a:solidFill>
                  <a:srgbClr val="1D2F62"/>
                </a:solidFill>
                <a:latin typeface="Calibri"/>
                <a:cs typeface="Calibri"/>
              </a:rPr>
              <a:t>requirements.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00724" y="2676525"/>
            <a:ext cx="5029200" cy="895350"/>
          </a:xfrm>
          <a:custGeom>
            <a:avLst/>
            <a:gdLst/>
            <a:ahLst/>
            <a:cxnLst/>
            <a:rect l="l" t="t" r="r" b="b"/>
            <a:pathLst>
              <a:path w="5029200" h="895350">
                <a:moveTo>
                  <a:pt x="4909054" y="895349"/>
                </a:moveTo>
                <a:lnTo>
                  <a:pt x="120143" y="895349"/>
                </a:lnTo>
                <a:lnTo>
                  <a:pt x="111781" y="894525"/>
                </a:lnTo>
                <a:lnTo>
                  <a:pt x="71578" y="882329"/>
                </a:lnTo>
                <a:lnTo>
                  <a:pt x="31692" y="851716"/>
                </a:lnTo>
                <a:lnTo>
                  <a:pt x="6555" y="808169"/>
                </a:lnTo>
                <a:lnTo>
                  <a:pt x="0" y="775205"/>
                </a:lnTo>
                <a:lnTo>
                  <a:pt x="0" y="766762"/>
                </a:lnTo>
                <a:lnTo>
                  <a:pt x="0" y="120143"/>
                </a:lnTo>
                <a:lnTo>
                  <a:pt x="13018" y="71578"/>
                </a:lnTo>
                <a:lnTo>
                  <a:pt x="43632" y="31691"/>
                </a:lnTo>
                <a:lnTo>
                  <a:pt x="87178" y="6556"/>
                </a:lnTo>
                <a:lnTo>
                  <a:pt x="120143" y="0"/>
                </a:lnTo>
                <a:lnTo>
                  <a:pt x="4909054" y="0"/>
                </a:lnTo>
                <a:lnTo>
                  <a:pt x="4957620" y="13018"/>
                </a:lnTo>
                <a:lnTo>
                  <a:pt x="4997507" y="43632"/>
                </a:lnTo>
                <a:lnTo>
                  <a:pt x="5022641" y="87178"/>
                </a:lnTo>
                <a:lnTo>
                  <a:pt x="5029199" y="120143"/>
                </a:lnTo>
                <a:lnTo>
                  <a:pt x="5029199" y="775205"/>
                </a:lnTo>
                <a:lnTo>
                  <a:pt x="5016179" y="823770"/>
                </a:lnTo>
                <a:lnTo>
                  <a:pt x="4985566" y="863657"/>
                </a:lnTo>
                <a:lnTo>
                  <a:pt x="4942018" y="888792"/>
                </a:lnTo>
                <a:lnTo>
                  <a:pt x="4917416" y="894525"/>
                </a:lnTo>
                <a:lnTo>
                  <a:pt x="4909054" y="895349"/>
                </a:lnTo>
                <a:close/>
              </a:path>
            </a:pathLst>
          </a:custGeom>
          <a:solidFill>
            <a:srgbClr val="CDE6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959474" y="2854325"/>
            <a:ext cx="245364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20" dirty="0">
                <a:solidFill>
                  <a:srgbClr val="1D2F62"/>
                </a:solidFill>
                <a:latin typeface="Calibri"/>
                <a:cs typeface="Calibri"/>
              </a:rPr>
              <a:t>They</a:t>
            </a:r>
            <a:r>
              <a:rPr sz="1350" spc="-2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90" dirty="0">
                <a:solidFill>
                  <a:srgbClr val="1D2F62"/>
                </a:solidFill>
                <a:latin typeface="Calibri"/>
                <a:cs typeface="Calibri"/>
              </a:rPr>
              <a:t>support</a:t>
            </a:r>
            <a:r>
              <a:rPr sz="1350" spc="-2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80" dirty="0">
                <a:solidFill>
                  <a:srgbClr val="1D2F62"/>
                </a:solidFill>
                <a:latin typeface="Calibri"/>
                <a:cs typeface="Calibri"/>
              </a:rPr>
              <a:t>security</a:t>
            </a:r>
            <a:r>
              <a:rPr sz="1350" spc="-2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350" spc="55" dirty="0">
                <a:solidFill>
                  <a:srgbClr val="1D2F62"/>
                </a:solidFill>
                <a:latin typeface="Calibri"/>
                <a:cs typeface="Calibri"/>
              </a:rPr>
              <a:t>policies.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7374" y="3806825"/>
            <a:ext cx="108331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60" dirty="0">
                <a:solidFill>
                  <a:srgbClr val="F578DE"/>
                </a:solidFill>
                <a:latin typeface="Calibri"/>
                <a:cs typeface="Calibri"/>
              </a:rPr>
              <a:t>Example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4500562"/>
            <a:ext cx="85724" cy="857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44550" y="4392612"/>
            <a:ext cx="2876550" cy="5492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sz="1650" b="1" spc="130" dirty="0">
                <a:solidFill>
                  <a:srgbClr val="1D2F62"/>
                </a:solidFill>
                <a:latin typeface="Calibri"/>
                <a:cs typeface="Calibri"/>
              </a:rPr>
              <a:t>Password</a:t>
            </a:r>
            <a:r>
              <a:rPr sz="1650" b="1" spc="-5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50" dirty="0">
                <a:solidFill>
                  <a:srgbClr val="1D2F62"/>
                </a:solidFill>
                <a:latin typeface="Calibri"/>
                <a:cs typeface="Calibri"/>
              </a:rPr>
              <a:t>must</a:t>
            </a:r>
            <a:r>
              <a:rPr sz="1650" b="1" spc="-4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50" dirty="0">
                <a:solidFill>
                  <a:srgbClr val="1D2F62"/>
                </a:solidFill>
                <a:latin typeface="Calibri"/>
                <a:cs typeface="Calibri"/>
              </a:rPr>
              <a:t>be</a:t>
            </a:r>
            <a:r>
              <a:rPr sz="1650" b="1" spc="-5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90" dirty="0">
                <a:solidFill>
                  <a:srgbClr val="1D2F62"/>
                </a:solidFill>
                <a:latin typeface="Calibri"/>
                <a:cs typeface="Calibri"/>
              </a:rPr>
              <a:t>at</a:t>
            </a:r>
            <a:r>
              <a:rPr sz="1650" b="1" spc="-4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05" dirty="0">
                <a:solidFill>
                  <a:srgbClr val="1D2F62"/>
                </a:solidFill>
                <a:latin typeface="Calibri"/>
                <a:cs typeface="Calibri"/>
              </a:rPr>
              <a:t>least</a:t>
            </a:r>
            <a:r>
              <a:rPr sz="1650" b="1" spc="-5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-25" dirty="0">
                <a:solidFill>
                  <a:srgbClr val="1D2F62"/>
                </a:solidFill>
                <a:latin typeface="Calibri"/>
                <a:cs typeface="Calibri"/>
              </a:rPr>
              <a:t>12 </a:t>
            </a:r>
            <a:r>
              <a:rPr sz="1650" b="1" spc="105" dirty="0">
                <a:solidFill>
                  <a:srgbClr val="1D2F62"/>
                </a:solidFill>
                <a:latin typeface="Calibri"/>
                <a:cs typeface="Calibri"/>
              </a:rPr>
              <a:t>characters.</a:t>
            </a:r>
            <a:endParaRPr sz="165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6225" y="4500562"/>
            <a:ext cx="85724" cy="857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325937" y="4392612"/>
            <a:ext cx="230632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40" dirty="0">
                <a:solidFill>
                  <a:srgbClr val="1D2F62"/>
                </a:solidFill>
                <a:latin typeface="Calibri"/>
                <a:cs typeface="Calibri"/>
              </a:rPr>
              <a:t>Use</a:t>
            </a:r>
            <a:r>
              <a:rPr sz="1650" b="1" spc="-45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90" dirty="0">
                <a:solidFill>
                  <a:srgbClr val="1D2F62"/>
                </a:solidFill>
                <a:latin typeface="Calibri"/>
                <a:cs typeface="Calibri"/>
              </a:rPr>
              <a:t>antivirus</a:t>
            </a:r>
            <a:r>
              <a:rPr sz="1650" b="1" spc="-4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80" dirty="0">
                <a:solidFill>
                  <a:srgbClr val="1D2F62"/>
                </a:solidFill>
                <a:latin typeface="Calibri"/>
                <a:cs typeface="Calibri"/>
              </a:rPr>
              <a:t>software.</a:t>
            </a:r>
            <a:endParaRPr sz="165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2850" y="4500562"/>
            <a:ext cx="85724" cy="8572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807325" y="4392612"/>
            <a:ext cx="2432050" cy="5492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sz="1650" b="1" spc="80" dirty="0">
                <a:solidFill>
                  <a:srgbClr val="1D2F62"/>
                </a:solidFill>
                <a:latin typeface="Calibri"/>
                <a:cs typeface="Calibri"/>
              </a:rPr>
              <a:t>Install</a:t>
            </a:r>
            <a:r>
              <a:rPr sz="1650" b="1" spc="-4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10" dirty="0">
                <a:solidFill>
                  <a:srgbClr val="1D2F62"/>
                </a:solidFill>
                <a:latin typeface="Calibri"/>
                <a:cs typeface="Calibri"/>
              </a:rPr>
              <a:t>software</a:t>
            </a:r>
            <a:r>
              <a:rPr sz="1650" b="1" spc="-40" dirty="0">
                <a:solidFill>
                  <a:srgbClr val="1D2F62"/>
                </a:solidFill>
                <a:latin typeface="Calibri"/>
                <a:cs typeface="Calibri"/>
              </a:rPr>
              <a:t> </a:t>
            </a:r>
            <a:r>
              <a:rPr sz="1650" b="1" spc="114" dirty="0">
                <a:solidFill>
                  <a:srgbClr val="1D2F62"/>
                </a:solidFill>
                <a:latin typeface="Calibri"/>
                <a:cs typeface="Calibri"/>
              </a:rPr>
              <a:t>updates </a:t>
            </a:r>
            <a:r>
              <a:rPr sz="1650" b="1" spc="70" dirty="0">
                <a:solidFill>
                  <a:srgbClr val="1D2F62"/>
                </a:solidFill>
                <a:latin typeface="Calibri"/>
                <a:cs typeface="Calibri"/>
              </a:rPr>
              <a:t>regularly.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567971" y="5902326"/>
            <a:ext cx="1767205" cy="469900"/>
            <a:chOff x="9567971" y="5902326"/>
            <a:chExt cx="1767205" cy="46990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575799" y="5910155"/>
              <a:ext cx="1737995" cy="454659"/>
            </a:xfrm>
            <a:custGeom>
              <a:avLst/>
              <a:gdLst/>
              <a:ahLst/>
              <a:cxnLst/>
              <a:rect l="l" t="t" r="r" b="b"/>
              <a:pathLst>
                <a:path w="1737995" h="454660">
                  <a:moveTo>
                    <a:pt x="1737986" y="0"/>
                  </a:moveTo>
                  <a:lnTo>
                    <a:pt x="0" y="0"/>
                  </a:lnTo>
                  <a:lnTo>
                    <a:pt x="0" y="454068"/>
                  </a:lnTo>
                  <a:lnTo>
                    <a:pt x="1737986" y="454068"/>
                  </a:lnTo>
                  <a:lnTo>
                    <a:pt x="17379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575799" y="5910155"/>
              <a:ext cx="1737995" cy="454659"/>
            </a:xfrm>
            <a:custGeom>
              <a:avLst/>
              <a:gdLst/>
              <a:ahLst/>
              <a:cxnLst/>
              <a:rect l="l" t="t" r="r" b="b"/>
              <a:pathLst>
                <a:path w="1737995" h="454660">
                  <a:moveTo>
                    <a:pt x="0" y="454068"/>
                  </a:moveTo>
                  <a:lnTo>
                    <a:pt x="1737986" y="454068"/>
                  </a:lnTo>
                  <a:lnTo>
                    <a:pt x="1737986" y="0"/>
                  </a:lnTo>
                  <a:lnTo>
                    <a:pt x="0" y="0"/>
                  </a:lnTo>
                  <a:lnTo>
                    <a:pt x="0" y="454068"/>
                  </a:lnTo>
                  <a:close/>
                </a:path>
              </a:pathLst>
            </a:custGeom>
            <a:ln w="1565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32"/>
            <a:ext cx="10464800" cy="1987550"/>
            <a:chOff x="0" y="232"/>
            <a:chExt cx="10464800" cy="1987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32"/>
              <a:ext cx="10464293" cy="196263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5516" y="290536"/>
              <a:ext cx="8783556" cy="169674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36675" y="2245843"/>
            <a:ext cx="6064885" cy="988694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3050" spc="215" dirty="0"/>
              <a:t>Objectives</a:t>
            </a:r>
            <a:r>
              <a:rPr sz="3050" spc="-70" dirty="0"/>
              <a:t> </a:t>
            </a:r>
            <a:r>
              <a:rPr sz="3050" spc="170" dirty="0"/>
              <a:t>of</a:t>
            </a:r>
            <a:r>
              <a:rPr sz="3050" spc="-70" dirty="0"/>
              <a:t> </a:t>
            </a:r>
            <a:r>
              <a:rPr sz="3050" spc="229" dirty="0"/>
              <a:t>Security</a:t>
            </a:r>
            <a:r>
              <a:rPr sz="3050" spc="-70" dirty="0"/>
              <a:t> </a:t>
            </a:r>
            <a:r>
              <a:rPr sz="3050" spc="235" dirty="0"/>
              <a:t>Standards</a:t>
            </a:r>
            <a:endParaRPr sz="3050"/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850" spc="70" dirty="0">
                <a:solidFill>
                  <a:srgbClr val="83C1FA"/>
                </a:solidFill>
              </a:rPr>
              <a:t>Main</a:t>
            </a:r>
            <a:r>
              <a:rPr sz="1850" spc="-55" dirty="0">
                <a:solidFill>
                  <a:srgbClr val="83C1FA"/>
                </a:solidFill>
              </a:rPr>
              <a:t> </a:t>
            </a:r>
            <a:r>
              <a:rPr sz="1850" spc="110" dirty="0">
                <a:solidFill>
                  <a:srgbClr val="83C1FA"/>
                </a:solidFill>
              </a:rPr>
              <a:t>Objectives</a:t>
            </a:r>
            <a:endParaRPr sz="1850"/>
          </a:p>
        </p:txBody>
      </p:sp>
      <p:grpSp>
        <p:nvGrpSpPr>
          <p:cNvPr id="6" name="object 6"/>
          <p:cNvGrpSpPr/>
          <p:nvPr/>
        </p:nvGrpSpPr>
        <p:grpSpPr>
          <a:xfrm>
            <a:off x="549375" y="3479377"/>
            <a:ext cx="4604385" cy="1186180"/>
            <a:chOff x="549375" y="3479377"/>
            <a:chExt cx="4604385" cy="1186180"/>
          </a:xfrm>
        </p:grpSpPr>
        <p:sp>
          <p:nvSpPr>
            <p:cNvPr id="7" name="object 7"/>
            <p:cNvSpPr/>
            <p:nvPr/>
          </p:nvSpPr>
          <p:spPr>
            <a:xfrm>
              <a:off x="549375" y="3479377"/>
              <a:ext cx="4604385" cy="1186180"/>
            </a:xfrm>
            <a:custGeom>
              <a:avLst/>
              <a:gdLst/>
              <a:ahLst/>
              <a:cxnLst/>
              <a:rect l="l" t="t" r="r" b="b"/>
              <a:pathLst>
                <a:path w="4604385" h="1186179">
                  <a:moveTo>
                    <a:pt x="4494297" y="0"/>
                  </a:moveTo>
                  <a:lnTo>
                    <a:pt x="109993" y="0"/>
                  </a:lnTo>
                  <a:lnTo>
                    <a:pt x="102336" y="755"/>
                  </a:lnTo>
                  <a:lnTo>
                    <a:pt x="65528" y="11917"/>
                  </a:lnTo>
                  <a:lnTo>
                    <a:pt x="29012" y="39950"/>
                  </a:lnTo>
                  <a:lnTo>
                    <a:pt x="6004" y="79819"/>
                  </a:lnTo>
                  <a:lnTo>
                    <a:pt x="0" y="109991"/>
                  </a:lnTo>
                  <a:lnTo>
                    <a:pt x="0" y="1068229"/>
                  </a:lnTo>
                  <a:lnTo>
                    <a:pt x="0" y="1075961"/>
                  </a:lnTo>
                  <a:lnTo>
                    <a:pt x="11917" y="1120423"/>
                  </a:lnTo>
                  <a:lnTo>
                    <a:pt x="39944" y="1156932"/>
                  </a:lnTo>
                  <a:lnTo>
                    <a:pt x="79813" y="1179953"/>
                  </a:lnTo>
                  <a:lnTo>
                    <a:pt x="109993" y="1185953"/>
                  </a:lnTo>
                  <a:lnTo>
                    <a:pt x="4494297" y="1185953"/>
                  </a:lnTo>
                  <a:lnTo>
                    <a:pt x="4538759" y="1174035"/>
                  </a:lnTo>
                  <a:lnTo>
                    <a:pt x="4575279" y="1146002"/>
                  </a:lnTo>
                  <a:lnTo>
                    <a:pt x="4598289" y="1106133"/>
                  </a:lnTo>
                  <a:lnTo>
                    <a:pt x="4604289" y="1075961"/>
                  </a:lnTo>
                  <a:lnTo>
                    <a:pt x="4604289" y="109991"/>
                  </a:lnTo>
                  <a:lnTo>
                    <a:pt x="4592371" y="65529"/>
                  </a:lnTo>
                  <a:lnTo>
                    <a:pt x="4564338" y="29009"/>
                  </a:lnTo>
                  <a:lnTo>
                    <a:pt x="4524481" y="5999"/>
                  </a:lnTo>
                  <a:lnTo>
                    <a:pt x="4501948" y="755"/>
                  </a:lnTo>
                  <a:lnTo>
                    <a:pt x="4494297" y="0"/>
                  </a:lnTo>
                  <a:close/>
                </a:path>
              </a:pathLst>
            </a:custGeom>
            <a:solidFill>
              <a:srgbClr val="CEE6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6339" y="3636341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3158" y="0"/>
                  </a:moveTo>
                  <a:lnTo>
                    <a:pt x="227734" y="0"/>
                  </a:lnTo>
                  <a:lnTo>
                    <a:pt x="220040" y="372"/>
                  </a:lnTo>
                  <a:lnTo>
                    <a:pt x="181948" y="6022"/>
                  </a:lnTo>
                  <a:lnTo>
                    <a:pt x="138220" y="20870"/>
                  </a:lnTo>
                  <a:lnTo>
                    <a:pt x="98229" y="43961"/>
                  </a:lnTo>
                  <a:lnTo>
                    <a:pt x="63507" y="74412"/>
                  </a:lnTo>
                  <a:lnTo>
                    <a:pt x="35393" y="111049"/>
                  </a:lnTo>
                  <a:lnTo>
                    <a:pt x="14969" y="152464"/>
                  </a:lnTo>
                  <a:lnTo>
                    <a:pt x="3020" y="197077"/>
                  </a:lnTo>
                  <a:lnTo>
                    <a:pt x="0" y="227737"/>
                  </a:lnTo>
                  <a:lnTo>
                    <a:pt x="0" y="235446"/>
                  </a:lnTo>
                  <a:lnTo>
                    <a:pt x="0" y="243155"/>
                  </a:lnTo>
                  <a:lnTo>
                    <a:pt x="6027" y="288942"/>
                  </a:lnTo>
                  <a:lnTo>
                    <a:pt x="20873" y="332671"/>
                  </a:lnTo>
                  <a:lnTo>
                    <a:pt x="43965" y="372668"/>
                  </a:lnTo>
                  <a:lnTo>
                    <a:pt x="74412" y="407386"/>
                  </a:lnTo>
                  <a:lnTo>
                    <a:pt x="111051" y="435500"/>
                  </a:lnTo>
                  <a:lnTo>
                    <a:pt x="152468" y="455917"/>
                  </a:lnTo>
                  <a:lnTo>
                    <a:pt x="197077" y="467870"/>
                  </a:lnTo>
                  <a:lnTo>
                    <a:pt x="212369" y="469753"/>
                  </a:lnTo>
                  <a:lnTo>
                    <a:pt x="220040" y="470521"/>
                  </a:lnTo>
                  <a:lnTo>
                    <a:pt x="227734" y="470893"/>
                  </a:lnTo>
                  <a:lnTo>
                    <a:pt x="243158" y="470893"/>
                  </a:lnTo>
                  <a:lnTo>
                    <a:pt x="250852" y="470521"/>
                  </a:lnTo>
                  <a:lnTo>
                    <a:pt x="258523" y="469753"/>
                  </a:lnTo>
                  <a:lnTo>
                    <a:pt x="266198" y="469009"/>
                  </a:lnTo>
                  <a:lnTo>
                    <a:pt x="311172" y="458522"/>
                  </a:lnTo>
                  <a:lnTo>
                    <a:pt x="353238" y="439453"/>
                  </a:lnTo>
                  <a:lnTo>
                    <a:pt x="390771" y="412560"/>
                  </a:lnTo>
                  <a:lnTo>
                    <a:pt x="422341" y="378853"/>
                  </a:lnTo>
                  <a:lnTo>
                    <a:pt x="446726" y="339636"/>
                  </a:lnTo>
                  <a:lnTo>
                    <a:pt x="462998" y="296406"/>
                  </a:lnTo>
                  <a:lnTo>
                    <a:pt x="470521" y="250852"/>
                  </a:lnTo>
                  <a:lnTo>
                    <a:pt x="470893" y="243155"/>
                  </a:lnTo>
                  <a:lnTo>
                    <a:pt x="470893" y="227737"/>
                  </a:lnTo>
                  <a:lnTo>
                    <a:pt x="464870" y="181950"/>
                  </a:lnTo>
                  <a:lnTo>
                    <a:pt x="450019" y="138221"/>
                  </a:lnTo>
                  <a:lnTo>
                    <a:pt x="426929" y="98224"/>
                  </a:lnTo>
                  <a:lnTo>
                    <a:pt x="396480" y="63506"/>
                  </a:lnTo>
                  <a:lnTo>
                    <a:pt x="359841" y="35392"/>
                  </a:lnTo>
                  <a:lnTo>
                    <a:pt x="318424" y="14975"/>
                  </a:lnTo>
                  <a:lnTo>
                    <a:pt x="273815" y="3023"/>
                  </a:lnTo>
                  <a:lnTo>
                    <a:pt x="250852" y="372"/>
                  </a:lnTo>
                  <a:lnTo>
                    <a:pt x="243158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7402" y="3762453"/>
              <a:ext cx="191355" cy="22126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93639" y="4247139"/>
            <a:ext cx="3197860" cy="260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spc="60" dirty="0">
                <a:solidFill>
                  <a:srgbClr val="1E2F62"/>
                </a:solidFill>
                <a:latin typeface="Calibri"/>
                <a:cs typeface="Calibri"/>
              </a:rPr>
              <a:t>Maintain</a:t>
            </a:r>
            <a:r>
              <a:rPr sz="1550" b="1" spc="-4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550" b="1" spc="110" dirty="0">
                <a:solidFill>
                  <a:srgbClr val="1E2F62"/>
                </a:solidFill>
                <a:latin typeface="Calibri"/>
                <a:cs typeface="Calibri"/>
              </a:rPr>
              <a:t>strong</a:t>
            </a:r>
            <a:r>
              <a:rPr sz="1550" b="1" spc="-4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550" b="1" spc="100" dirty="0">
                <a:solidFill>
                  <a:srgbClr val="1E2F62"/>
                </a:solidFill>
                <a:latin typeface="Calibri"/>
                <a:cs typeface="Calibri"/>
              </a:rPr>
              <a:t>technical</a:t>
            </a:r>
            <a:r>
              <a:rPr sz="1550" b="1" spc="-4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550" b="1" spc="60" dirty="0">
                <a:solidFill>
                  <a:srgbClr val="1E2F62"/>
                </a:solidFill>
                <a:latin typeface="Calibri"/>
                <a:cs typeface="Calibri"/>
              </a:rPr>
              <a:t>security.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310628" y="3479377"/>
            <a:ext cx="4604385" cy="1186180"/>
            <a:chOff x="5310628" y="3479377"/>
            <a:chExt cx="4604385" cy="1186180"/>
          </a:xfrm>
        </p:grpSpPr>
        <p:sp>
          <p:nvSpPr>
            <p:cNvPr id="12" name="object 12"/>
            <p:cNvSpPr/>
            <p:nvPr/>
          </p:nvSpPr>
          <p:spPr>
            <a:xfrm>
              <a:off x="5310628" y="3479377"/>
              <a:ext cx="4604385" cy="1186180"/>
            </a:xfrm>
            <a:custGeom>
              <a:avLst/>
              <a:gdLst/>
              <a:ahLst/>
              <a:cxnLst/>
              <a:rect l="l" t="t" r="r" b="b"/>
              <a:pathLst>
                <a:path w="4604384" h="1186179">
                  <a:moveTo>
                    <a:pt x="4494297" y="0"/>
                  </a:moveTo>
                  <a:lnTo>
                    <a:pt x="109991" y="0"/>
                  </a:lnTo>
                  <a:lnTo>
                    <a:pt x="102340" y="755"/>
                  </a:lnTo>
                  <a:lnTo>
                    <a:pt x="65529" y="11917"/>
                  </a:lnTo>
                  <a:lnTo>
                    <a:pt x="29009" y="39950"/>
                  </a:lnTo>
                  <a:lnTo>
                    <a:pt x="5999" y="79819"/>
                  </a:lnTo>
                  <a:lnTo>
                    <a:pt x="0" y="109991"/>
                  </a:lnTo>
                  <a:lnTo>
                    <a:pt x="0" y="1068229"/>
                  </a:lnTo>
                  <a:lnTo>
                    <a:pt x="0" y="1075961"/>
                  </a:lnTo>
                  <a:lnTo>
                    <a:pt x="11917" y="1120423"/>
                  </a:lnTo>
                  <a:lnTo>
                    <a:pt x="39950" y="1156932"/>
                  </a:lnTo>
                  <a:lnTo>
                    <a:pt x="79807" y="1179953"/>
                  </a:lnTo>
                  <a:lnTo>
                    <a:pt x="109991" y="1185953"/>
                  </a:lnTo>
                  <a:lnTo>
                    <a:pt x="4494297" y="1185953"/>
                  </a:lnTo>
                  <a:lnTo>
                    <a:pt x="4538759" y="1174035"/>
                  </a:lnTo>
                  <a:lnTo>
                    <a:pt x="4575279" y="1146002"/>
                  </a:lnTo>
                  <a:lnTo>
                    <a:pt x="4598289" y="1106133"/>
                  </a:lnTo>
                  <a:lnTo>
                    <a:pt x="4604289" y="1075961"/>
                  </a:lnTo>
                  <a:lnTo>
                    <a:pt x="4604289" y="109991"/>
                  </a:lnTo>
                  <a:lnTo>
                    <a:pt x="4592371" y="65529"/>
                  </a:lnTo>
                  <a:lnTo>
                    <a:pt x="4564338" y="29009"/>
                  </a:lnTo>
                  <a:lnTo>
                    <a:pt x="4524481" y="5999"/>
                  </a:lnTo>
                  <a:lnTo>
                    <a:pt x="4501948" y="755"/>
                  </a:lnTo>
                  <a:lnTo>
                    <a:pt x="4494297" y="0"/>
                  </a:lnTo>
                  <a:close/>
                </a:path>
              </a:pathLst>
            </a:custGeom>
            <a:solidFill>
              <a:srgbClr val="CEE6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67593" y="3636341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3155" y="0"/>
                  </a:moveTo>
                  <a:lnTo>
                    <a:pt x="227737" y="0"/>
                  </a:lnTo>
                  <a:lnTo>
                    <a:pt x="220040" y="372"/>
                  </a:lnTo>
                  <a:lnTo>
                    <a:pt x="181950" y="6022"/>
                  </a:lnTo>
                  <a:lnTo>
                    <a:pt x="138221" y="20870"/>
                  </a:lnTo>
                  <a:lnTo>
                    <a:pt x="98224" y="43961"/>
                  </a:lnTo>
                  <a:lnTo>
                    <a:pt x="63506" y="74412"/>
                  </a:lnTo>
                  <a:lnTo>
                    <a:pt x="35392" y="111049"/>
                  </a:lnTo>
                  <a:lnTo>
                    <a:pt x="14975" y="152464"/>
                  </a:lnTo>
                  <a:lnTo>
                    <a:pt x="3023" y="197077"/>
                  </a:lnTo>
                  <a:lnTo>
                    <a:pt x="0" y="227737"/>
                  </a:lnTo>
                  <a:lnTo>
                    <a:pt x="0" y="235446"/>
                  </a:lnTo>
                  <a:lnTo>
                    <a:pt x="0" y="243155"/>
                  </a:lnTo>
                  <a:lnTo>
                    <a:pt x="6022" y="288942"/>
                  </a:lnTo>
                  <a:lnTo>
                    <a:pt x="20870" y="332671"/>
                  </a:lnTo>
                  <a:lnTo>
                    <a:pt x="43961" y="372668"/>
                  </a:lnTo>
                  <a:lnTo>
                    <a:pt x="74412" y="407386"/>
                  </a:lnTo>
                  <a:lnTo>
                    <a:pt x="111049" y="435500"/>
                  </a:lnTo>
                  <a:lnTo>
                    <a:pt x="152464" y="455917"/>
                  </a:lnTo>
                  <a:lnTo>
                    <a:pt x="197077" y="467870"/>
                  </a:lnTo>
                  <a:lnTo>
                    <a:pt x="227737" y="470893"/>
                  </a:lnTo>
                  <a:lnTo>
                    <a:pt x="243155" y="470893"/>
                  </a:lnTo>
                  <a:lnTo>
                    <a:pt x="288942" y="464858"/>
                  </a:lnTo>
                  <a:lnTo>
                    <a:pt x="332671" y="450022"/>
                  </a:lnTo>
                  <a:lnTo>
                    <a:pt x="372668" y="426931"/>
                  </a:lnTo>
                  <a:lnTo>
                    <a:pt x="407386" y="396480"/>
                  </a:lnTo>
                  <a:lnTo>
                    <a:pt x="435489" y="359843"/>
                  </a:lnTo>
                  <a:lnTo>
                    <a:pt x="455917" y="318416"/>
                  </a:lnTo>
                  <a:lnTo>
                    <a:pt x="467870" y="273815"/>
                  </a:lnTo>
                  <a:lnTo>
                    <a:pt x="470893" y="243155"/>
                  </a:lnTo>
                  <a:lnTo>
                    <a:pt x="470893" y="227737"/>
                  </a:lnTo>
                  <a:lnTo>
                    <a:pt x="464858" y="181950"/>
                  </a:lnTo>
                  <a:lnTo>
                    <a:pt x="450022" y="138221"/>
                  </a:lnTo>
                  <a:lnTo>
                    <a:pt x="426931" y="98224"/>
                  </a:lnTo>
                  <a:lnTo>
                    <a:pt x="396480" y="63506"/>
                  </a:lnTo>
                  <a:lnTo>
                    <a:pt x="359843" y="35392"/>
                  </a:lnTo>
                  <a:lnTo>
                    <a:pt x="318428" y="14975"/>
                  </a:lnTo>
                  <a:lnTo>
                    <a:pt x="273815" y="3023"/>
                  </a:lnTo>
                  <a:lnTo>
                    <a:pt x="250852" y="372"/>
                  </a:lnTo>
                  <a:lnTo>
                    <a:pt x="243155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3704" y="3763093"/>
              <a:ext cx="221262" cy="219983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454893" y="4247139"/>
            <a:ext cx="2642235" cy="260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spc="114" dirty="0">
                <a:solidFill>
                  <a:srgbClr val="1E2F62"/>
                </a:solidFill>
                <a:latin typeface="Calibri"/>
                <a:cs typeface="Calibri"/>
              </a:rPr>
              <a:t>Reduce</a:t>
            </a:r>
            <a:r>
              <a:rPr sz="15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550" b="1" spc="110" dirty="0">
                <a:solidFill>
                  <a:srgbClr val="1E2F62"/>
                </a:solidFill>
                <a:latin typeface="Calibri"/>
                <a:cs typeface="Calibri"/>
              </a:rPr>
              <a:t>system</a:t>
            </a:r>
            <a:r>
              <a:rPr sz="15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550" b="1" spc="90" dirty="0">
                <a:solidFill>
                  <a:srgbClr val="1E2F62"/>
                </a:solidFill>
                <a:latin typeface="Calibri"/>
                <a:cs typeface="Calibri"/>
              </a:rPr>
              <a:t>weaknesses.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49375" y="4822295"/>
            <a:ext cx="4604385" cy="1186180"/>
            <a:chOff x="549375" y="4822295"/>
            <a:chExt cx="4604385" cy="1186180"/>
          </a:xfrm>
        </p:grpSpPr>
        <p:sp>
          <p:nvSpPr>
            <p:cNvPr id="17" name="object 17"/>
            <p:cNvSpPr/>
            <p:nvPr/>
          </p:nvSpPr>
          <p:spPr>
            <a:xfrm>
              <a:off x="549375" y="4822295"/>
              <a:ext cx="4604385" cy="1186180"/>
            </a:xfrm>
            <a:custGeom>
              <a:avLst/>
              <a:gdLst/>
              <a:ahLst/>
              <a:cxnLst/>
              <a:rect l="l" t="t" r="r" b="b"/>
              <a:pathLst>
                <a:path w="4604385" h="1186179">
                  <a:moveTo>
                    <a:pt x="4494297" y="0"/>
                  </a:moveTo>
                  <a:lnTo>
                    <a:pt x="109993" y="0"/>
                  </a:lnTo>
                  <a:lnTo>
                    <a:pt x="102336" y="755"/>
                  </a:lnTo>
                  <a:lnTo>
                    <a:pt x="65528" y="11917"/>
                  </a:lnTo>
                  <a:lnTo>
                    <a:pt x="29012" y="39950"/>
                  </a:lnTo>
                  <a:lnTo>
                    <a:pt x="6004" y="79819"/>
                  </a:lnTo>
                  <a:lnTo>
                    <a:pt x="0" y="109991"/>
                  </a:lnTo>
                  <a:lnTo>
                    <a:pt x="0" y="1068231"/>
                  </a:lnTo>
                  <a:lnTo>
                    <a:pt x="0" y="1075960"/>
                  </a:lnTo>
                  <a:lnTo>
                    <a:pt x="11917" y="1120420"/>
                  </a:lnTo>
                  <a:lnTo>
                    <a:pt x="39944" y="1156936"/>
                  </a:lnTo>
                  <a:lnTo>
                    <a:pt x="79813" y="1179950"/>
                  </a:lnTo>
                  <a:lnTo>
                    <a:pt x="109993" y="1185954"/>
                  </a:lnTo>
                  <a:lnTo>
                    <a:pt x="4494297" y="1185954"/>
                  </a:lnTo>
                  <a:lnTo>
                    <a:pt x="4538759" y="1174032"/>
                  </a:lnTo>
                  <a:lnTo>
                    <a:pt x="4575279" y="1146004"/>
                  </a:lnTo>
                  <a:lnTo>
                    <a:pt x="4598289" y="1106136"/>
                  </a:lnTo>
                  <a:lnTo>
                    <a:pt x="4604289" y="1075960"/>
                  </a:lnTo>
                  <a:lnTo>
                    <a:pt x="4604289" y="109991"/>
                  </a:lnTo>
                  <a:lnTo>
                    <a:pt x="4592371" y="65529"/>
                  </a:lnTo>
                  <a:lnTo>
                    <a:pt x="4564338" y="29009"/>
                  </a:lnTo>
                  <a:lnTo>
                    <a:pt x="4524481" y="5999"/>
                  </a:lnTo>
                  <a:lnTo>
                    <a:pt x="4501948" y="755"/>
                  </a:lnTo>
                  <a:lnTo>
                    <a:pt x="4494297" y="0"/>
                  </a:lnTo>
                  <a:close/>
                </a:path>
              </a:pathLst>
            </a:custGeom>
            <a:solidFill>
              <a:srgbClr val="CEE6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6339" y="4979259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3158" y="0"/>
                  </a:moveTo>
                  <a:lnTo>
                    <a:pt x="227734" y="0"/>
                  </a:lnTo>
                  <a:lnTo>
                    <a:pt x="220040" y="372"/>
                  </a:lnTo>
                  <a:lnTo>
                    <a:pt x="181948" y="6022"/>
                  </a:lnTo>
                  <a:lnTo>
                    <a:pt x="138220" y="20870"/>
                  </a:lnTo>
                  <a:lnTo>
                    <a:pt x="98229" y="43961"/>
                  </a:lnTo>
                  <a:lnTo>
                    <a:pt x="63507" y="74412"/>
                  </a:lnTo>
                  <a:lnTo>
                    <a:pt x="35393" y="111049"/>
                  </a:lnTo>
                  <a:lnTo>
                    <a:pt x="14969" y="152464"/>
                  </a:lnTo>
                  <a:lnTo>
                    <a:pt x="3020" y="197077"/>
                  </a:lnTo>
                  <a:lnTo>
                    <a:pt x="0" y="227737"/>
                  </a:lnTo>
                  <a:lnTo>
                    <a:pt x="0" y="235446"/>
                  </a:lnTo>
                  <a:lnTo>
                    <a:pt x="0" y="243155"/>
                  </a:lnTo>
                  <a:lnTo>
                    <a:pt x="6027" y="288942"/>
                  </a:lnTo>
                  <a:lnTo>
                    <a:pt x="20873" y="332669"/>
                  </a:lnTo>
                  <a:lnTo>
                    <a:pt x="43965" y="372663"/>
                  </a:lnTo>
                  <a:lnTo>
                    <a:pt x="74412" y="407386"/>
                  </a:lnTo>
                  <a:lnTo>
                    <a:pt x="111051" y="435494"/>
                  </a:lnTo>
                  <a:lnTo>
                    <a:pt x="152468" y="455919"/>
                  </a:lnTo>
                  <a:lnTo>
                    <a:pt x="197077" y="467873"/>
                  </a:lnTo>
                  <a:lnTo>
                    <a:pt x="227734" y="470894"/>
                  </a:lnTo>
                  <a:lnTo>
                    <a:pt x="243158" y="470894"/>
                  </a:lnTo>
                  <a:lnTo>
                    <a:pt x="288944" y="464862"/>
                  </a:lnTo>
                  <a:lnTo>
                    <a:pt x="332672" y="450020"/>
                  </a:lnTo>
                  <a:lnTo>
                    <a:pt x="372663" y="426929"/>
                  </a:lnTo>
                  <a:lnTo>
                    <a:pt x="407385" y="396481"/>
                  </a:lnTo>
                  <a:lnTo>
                    <a:pt x="435499" y="359842"/>
                  </a:lnTo>
                  <a:lnTo>
                    <a:pt x="455923" y="318421"/>
                  </a:lnTo>
                  <a:lnTo>
                    <a:pt x="467870" y="273815"/>
                  </a:lnTo>
                  <a:lnTo>
                    <a:pt x="470893" y="243155"/>
                  </a:lnTo>
                  <a:lnTo>
                    <a:pt x="470893" y="227737"/>
                  </a:lnTo>
                  <a:lnTo>
                    <a:pt x="464870" y="181950"/>
                  </a:lnTo>
                  <a:lnTo>
                    <a:pt x="450019" y="138221"/>
                  </a:lnTo>
                  <a:lnTo>
                    <a:pt x="426929" y="98224"/>
                  </a:lnTo>
                  <a:lnTo>
                    <a:pt x="396480" y="63506"/>
                  </a:lnTo>
                  <a:lnTo>
                    <a:pt x="359841" y="35392"/>
                  </a:lnTo>
                  <a:lnTo>
                    <a:pt x="318424" y="14975"/>
                  </a:lnTo>
                  <a:lnTo>
                    <a:pt x="273815" y="3023"/>
                  </a:lnTo>
                  <a:lnTo>
                    <a:pt x="250852" y="372"/>
                  </a:lnTo>
                  <a:lnTo>
                    <a:pt x="243158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37143" y="5142862"/>
              <a:ext cx="212090" cy="146685"/>
            </a:xfrm>
            <a:custGeom>
              <a:avLst/>
              <a:gdLst/>
              <a:ahLst/>
              <a:cxnLst/>
              <a:rect l="l" t="t" r="r" b="b"/>
              <a:pathLst>
                <a:path w="212090" h="146685">
                  <a:moveTo>
                    <a:pt x="211875" y="0"/>
                  </a:moveTo>
                  <a:lnTo>
                    <a:pt x="65533" y="146274"/>
                  </a:lnTo>
                </a:path>
                <a:path w="212090" h="146685">
                  <a:moveTo>
                    <a:pt x="0" y="80458"/>
                  </a:moveTo>
                  <a:lnTo>
                    <a:pt x="65533" y="146274"/>
                  </a:lnTo>
                </a:path>
              </a:pathLst>
            </a:custGeom>
            <a:ln w="9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93639" y="5590058"/>
            <a:ext cx="3853179" cy="260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spc="110" dirty="0">
                <a:solidFill>
                  <a:srgbClr val="1E2F62"/>
                </a:solidFill>
                <a:latin typeface="Calibri"/>
                <a:cs typeface="Calibri"/>
              </a:rPr>
              <a:t>Ensure</a:t>
            </a:r>
            <a:r>
              <a:rPr sz="1550" b="1" spc="-4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550" b="1" spc="50" dirty="0">
                <a:solidFill>
                  <a:srgbClr val="1E2F62"/>
                </a:solidFill>
                <a:latin typeface="Calibri"/>
                <a:cs typeface="Calibri"/>
              </a:rPr>
              <a:t>all</a:t>
            </a:r>
            <a:r>
              <a:rPr sz="15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550" b="1" spc="105" dirty="0">
                <a:solidFill>
                  <a:srgbClr val="1E2F62"/>
                </a:solidFill>
                <a:latin typeface="Calibri"/>
                <a:cs typeface="Calibri"/>
              </a:rPr>
              <a:t>departments</a:t>
            </a:r>
            <a:r>
              <a:rPr sz="15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550" b="1" spc="50" dirty="0">
                <a:solidFill>
                  <a:srgbClr val="1E2F62"/>
                </a:solidFill>
                <a:latin typeface="Calibri"/>
                <a:cs typeface="Calibri"/>
              </a:rPr>
              <a:t>follow</a:t>
            </a:r>
            <a:r>
              <a:rPr sz="15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550" b="1" spc="135" dirty="0">
                <a:solidFill>
                  <a:srgbClr val="1E2F62"/>
                </a:solidFill>
                <a:latin typeface="Calibri"/>
                <a:cs typeface="Calibri"/>
              </a:rPr>
              <a:t>same</a:t>
            </a:r>
            <a:r>
              <a:rPr sz="1550" b="1" spc="-4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550" b="1" spc="50" dirty="0">
                <a:solidFill>
                  <a:srgbClr val="1E2F62"/>
                </a:solidFill>
                <a:latin typeface="Calibri"/>
                <a:cs typeface="Calibri"/>
              </a:rPr>
              <a:t>rules.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310628" y="4822295"/>
            <a:ext cx="4604385" cy="1186180"/>
            <a:chOff x="5310628" y="4822295"/>
            <a:chExt cx="4604385" cy="1186180"/>
          </a:xfrm>
        </p:grpSpPr>
        <p:sp>
          <p:nvSpPr>
            <p:cNvPr id="22" name="object 22"/>
            <p:cNvSpPr/>
            <p:nvPr/>
          </p:nvSpPr>
          <p:spPr>
            <a:xfrm>
              <a:off x="5310628" y="4822295"/>
              <a:ext cx="4604385" cy="1186180"/>
            </a:xfrm>
            <a:custGeom>
              <a:avLst/>
              <a:gdLst/>
              <a:ahLst/>
              <a:cxnLst/>
              <a:rect l="l" t="t" r="r" b="b"/>
              <a:pathLst>
                <a:path w="4604384" h="1186179">
                  <a:moveTo>
                    <a:pt x="4494297" y="0"/>
                  </a:moveTo>
                  <a:lnTo>
                    <a:pt x="109991" y="0"/>
                  </a:lnTo>
                  <a:lnTo>
                    <a:pt x="102340" y="755"/>
                  </a:lnTo>
                  <a:lnTo>
                    <a:pt x="65529" y="11917"/>
                  </a:lnTo>
                  <a:lnTo>
                    <a:pt x="29009" y="39950"/>
                  </a:lnTo>
                  <a:lnTo>
                    <a:pt x="5999" y="79819"/>
                  </a:lnTo>
                  <a:lnTo>
                    <a:pt x="0" y="109991"/>
                  </a:lnTo>
                  <a:lnTo>
                    <a:pt x="0" y="1068231"/>
                  </a:lnTo>
                  <a:lnTo>
                    <a:pt x="0" y="1075960"/>
                  </a:lnTo>
                  <a:lnTo>
                    <a:pt x="11917" y="1120420"/>
                  </a:lnTo>
                  <a:lnTo>
                    <a:pt x="39950" y="1156936"/>
                  </a:lnTo>
                  <a:lnTo>
                    <a:pt x="79807" y="1179950"/>
                  </a:lnTo>
                  <a:lnTo>
                    <a:pt x="109991" y="1185954"/>
                  </a:lnTo>
                  <a:lnTo>
                    <a:pt x="4494297" y="1185954"/>
                  </a:lnTo>
                  <a:lnTo>
                    <a:pt x="4538759" y="1174032"/>
                  </a:lnTo>
                  <a:lnTo>
                    <a:pt x="4575279" y="1146004"/>
                  </a:lnTo>
                  <a:lnTo>
                    <a:pt x="4598289" y="1106136"/>
                  </a:lnTo>
                  <a:lnTo>
                    <a:pt x="4604289" y="1075960"/>
                  </a:lnTo>
                  <a:lnTo>
                    <a:pt x="4604289" y="109991"/>
                  </a:lnTo>
                  <a:lnTo>
                    <a:pt x="4592371" y="65529"/>
                  </a:lnTo>
                  <a:lnTo>
                    <a:pt x="4564338" y="29009"/>
                  </a:lnTo>
                  <a:lnTo>
                    <a:pt x="4524481" y="5999"/>
                  </a:lnTo>
                  <a:lnTo>
                    <a:pt x="4501948" y="755"/>
                  </a:lnTo>
                  <a:lnTo>
                    <a:pt x="4494297" y="0"/>
                  </a:lnTo>
                  <a:close/>
                </a:path>
              </a:pathLst>
            </a:custGeom>
            <a:solidFill>
              <a:srgbClr val="CEE6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467593" y="4979259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3155" y="0"/>
                  </a:moveTo>
                  <a:lnTo>
                    <a:pt x="227737" y="0"/>
                  </a:lnTo>
                  <a:lnTo>
                    <a:pt x="220040" y="372"/>
                  </a:lnTo>
                  <a:lnTo>
                    <a:pt x="181950" y="6022"/>
                  </a:lnTo>
                  <a:lnTo>
                    <a:pt x="138221" y="20870"/>
                  </a:lnTo>
                  <a:lnTo>
                    <a:pt x="98224" y="43961"/>
                  </a:lnTo>
                  <a:lnTo>
                    <a:pt x="63506" y="74412"/>
                  </a:lnTo>
                  <a:lnTo>
                    <a:pt x="35392" y="111049"/>
                  </a:lnTo>
                  <a:lnTo>
                    <a:pt x="14975" y="152464"/>
                  </a:lnTo>
                  <a:lnTo>
                    <a:pt x="3023" y="197077"/>
                  </a:lnTo>
                  <a:lnTo>
                    <a:pt x="0" y="227737"/>
                  </a:lnTo>
                  <a:lnTo>
                    <a:pt x="0" y="235446"/>
                  </a:lnTo>
                  <a:lnTo>
                    <a:pt x="0" y="243155"/>
                  </a:lnTo>
                  <a:lnTo>
                    <a:pt x="6022" y="288942"/>
                  </a:lnTo>
                  <a:lnTo>
                    <a:pt x="20870" y="332669"/>
                  </a:lnTo>
                  <a:lnTo>
                    <a:pt x="43961" y="372663"/>
                  </a:lnTo>
                  <a:lnTo>
                    <a:pt x="74412" y="407386"/>
                  </a:lnTo>
                  <a:lnTo>
                    <a:pt x="111049" y="435494"/>
                  </a:lnTo>
                  <a:lnTo>
                    <a:pt x="152464" y="455919"/>
                  </a:lnTo>
                  <a:lnTo>
                    <a:pt x="197077" y="467873"/>
                  </a:lnTo>
                  <a:lnTo>
                    <a:pt x="227737" y="470894"/>
                  </a:lnTo>
                  <a:lnTo>
                    <a:pt x="243155" y="470894"/>
                  </a:lnTo>
                  <a:lnTo>
                    <a:pt x="288942" y="464862"/>
                  </a:lnTo>
                  <a:lnTo>
                    <a:pt x="332671" y="450020"/>
                  </a:lnTo>
                  <a:lnTo>
                    <a:pt x="372668" y="426929"/>
                  </a:lnTo>
                  <a:lnTo>
                    <a:pt x="407386" y="396481"/>
                  </a:lnTo>
                  <a:lnTo>
                    <a:pt x="435489" y="359842"/>
                  </a:lnTo>
                  <a:lnTo>
                    <a:pt x="455917" y="318421"/>
                  </a:lnTo>
                  <a:lnTo>
                    <a:pt x="467870" y="273815"/>
                  </a:lnTo>
                  <a:lnTo>
                    <a:pt x="470893" y="243155"/>
                  </a:lnTo>
                  <a:lnTo>
                    <a:pt x="470893" y="227737"/>
                  </a:lnTo>
                  <a:lnTo>
                    <a:pt x="464858" y="181950"/>
                  </a:lnTo>
                  <a:lnTo>
                    <a:pt x="450022" y="138221"/>
                  </a:lnTo>
                  <a:lnTo>
                    <a:pt x="426931" y="98224"/>
                  </a:lnTo>
                  <a:lnTo>
                    <a:pt x="396480" y="63506"/>
                  </a:lnTo>
                  <a:lnTo>
                    <a:pt x="359843" y="35392"/>
                  </a:lnTo>
                  <a:lnTo>
                    <a:pt x="318428" y="14975"/>
                  </a:lnTo>
                  <a:lnTo>
                    <a:pt x="273815" y="3023"/>
                  </a:lnTo>
                  <a:lnTo>
                    <a:pt x="250852" y="372"/>
                  </a:lnTo>
                  <a:lnTo>
                    <a:pt x="243155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04718" y="5105362"/>
              <a:ext cx="199025" cy="221264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454893" y="5590058"/>
            <a:ext cx="2132965" cy="260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spc="75" dirty="0">
                <a:solidFill>
                  <a:srgbClr val="1E2F62"/>
                </a:solidFill>
                <a:latin typeface="Calibri"/>
                <a:cs typeface="Calibri"/>
              </a:rPr>
              <a:t>Improve</a:t>
            </a:r>
            <a:r>
              <a:rPr sz="1550" b="1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550" b="1" spc="110" dirty="0">
                <a:solidFill>
                  <a:srgbClr val="1E2F62"/>
                </a:solidFill>
                <a:latin typeface="Calibri"/>
                <a:cs typeface="Calibri"/>
              </a:rPr>
              <a:t>system</a:t>
            </a:r>
            <a:r>
              <a:rPr sz="1550" b="1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550" b="1" spc="45" dirty="0">
                <a:solidFill>
                  <a:srgbClr val="1E2F62"/>
                </a:solidFill>
                <a:latin typeface="Calibri"/>
                <a:cs typeface="Calibri"/>
              </a:rPr>
              <a:t>safety.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561927" y="5969530"/>
            <a:ext cx="1815464" cy="385445"/>
            <a:chOff x="8561927" y="5969530"/>
            <a:chExt cx="1815464" cy="385445"/>
          </a:xfrm>
        </p:grpSpPr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70822" y="5969530"/>
              <a:ext cx="1606269" cy="38369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848142" y="6039212"/>
              <a:ext cx="1462405" cy="308610"/>
            </a:xfrm>
            <a:custGeom>
              <a:avLst/>
              <a:gdLst/>
              <a:ahLst/>
              <a:cxnLst/>
              <a:rect l="l" t="t" r="r" b="b"/>
              <a:pathLst>
                <a:path w="1462404" h="308610">
                  <a:moveTo>
                    <a:pt x="1462134" y="0"/>
                  </a:moveTo>
                  <a:lnTo>
                    <a:pt x="0" y="0"/>
                  </a:lnTo>
                  <a:lnTo>
                    <a:pt x="0" y="308194"/>
                  </a:lnTo>
                  <a:lnTo>
                    <a:pt x="1462134" y="308194"/>
                  </a:lnTo>
                  <a:lnTo>
                    <a:pt x="14621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848142" y="6039212"/>
              <a:ext cx="1462405" cy="308610"/>
            </a:xfrm>
            <a:custGeom>
              <a:avLst/>
              <a:gdLst/>
              <a:ahLst/>
              <a:cxnLst/>
              <a:rect l="l" t="t" r="r" b="b"/>
              <a:pathLst>
                <a:path w="1462404" h="308610">
                  <a:moveTo>
                    <a:pt x="0" y="308194"/>
                  </a:moveTo>
                  <a:lnTo>
                    <a:pt x="1462134" y="308194"/>
                  </a:lnTo>
                  <a:lnTo>
                    <a:pt x="1462134" y="0"/>
                  </a:lnTo>
                  <a:lnTo>
                    <a:pt x="0" y="0"/>
                  </a:lnTo>
                  <a:lnTo>
                    <a:pt x="0" y="308194"/>
                  </a:lnTo>
                  <a:close/>
                </a:path>
              </a:pathLst>
            </a:custGeom>
            <a:ln w="1433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569094" y="6043831"/>
              <a:ext cx="351790" cy="222250"/>
            </a:xfrm>
            <a:custGeom>
              <a:avLst/>
              <a:gdLst/>
              <a:ahLst/>
              <a:cxnLst/>
              <a:rect l="l" t="t" r="r" b="b"/>
              <a:pathLst>
                <a:path w="351790" h="222250">
                  <a:moveTo>
                    <a:pt x="351198" y="0"/>
                  </a:moveTo>
                  <a:lnTo>
                    <a:pt x="0" y="0"/>
                  </a:lnTo>
                  <a:lnTo>
                    <a:pt x="0" y="222187"/>
                  </a:lnTo>
                  <a:lnTo>
                    <a:pt x="351198" y="222187"/>
                  </a:lnTo>
                  <a:lnTo>
                    <a:pt x="3511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569094" y="6043831"/>
              <a:ext cx="351790" cy="222250"/>
            </a:xfrm>
            <a:custGeom>
              <a:avLst/>
              <a:gdLst/>
              <a:ahLst/>
              <a:cxnLst/>
              <a:rect l="l" t="t" r="r" b="b"/>
              <a:pathLst>
                <a:path w="351790" h="222250">
                  <a:moveTo>
                    <a:pt x="0" y="222187"/>
                  </a:moveTo>
                  <a:lnTo>
                    <a:pt x="351198" y="222187"/>
                  </a:lnTo>
                  <a:lnTo>
                    <a:pt x="351198" y="0"/>
                  </a:lnTo>
                  <a:lnTo>
                    <a:pt x="0" y="0"/>
                  </a:lnTo>
                  <a:lnTo>
                    <a:pt x="0" y="222187"/>
                  </a:lnTo>
                  <a:close/>
                </a:path>
              </a:pathLst>
            </a:custGeom>
            <a:ln w="1433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9626" y="279984"/>
            <a:ext cx="5687060" cy="975994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3050" spc="245" dirty="0"/>
              <a:t>What</a:t>
            </a:r>
            <a:r>
              <a:rPr sz="3050" spc="-95" dirty="0"/>
              <a:t> </a:t>
            </a:r>
            <a:r>
              <a:rPr sz="3050" spc="145" dirty="0"/>
              <a:t>are</a:t>
            </a:r>
            <a:r>
              <a:rPr sz="3050" spc="-95" dirty="0"/>
              <a:t> </a:t>
            </a:r>
            <a:r>
              <a:rPr sz="3050" spc="215" dirty="0"/>
              <a:t>Security</a:t>
            </a:r>
            <a:r>
              <a:rPr sz="3050" spc="-95" dirty="0"/>
              <a:t> </a:t>
            </a:r>
            <a:r>
              <a:rPr sz="3050" spc="204" dirty="0"/>
              <a:t>Procedures?</a:t>
            </a:r>
            <a:endParaRPr sz="3050"/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800" spc="90" dirty="0"/>
              <a:t>Definition</a:t>
            </a:r>
            <a:endParaRPr sz="1800"/>
          </a:p>
        </p:txBody>
      </p:sp>
      <p:sp>
        <p:nvSpPr>
          <p:cNvPr id="3" name="object 3"/>
          <p:cNvSpPr/>
          <p:nvPr/>
        </p:nvSpPr>
        <p:spPr>
          <a:xfrm>
            <a:off x="576759" y="1601153"/>
            <a:ext cx="52069" cy="52069"/>
          </a:xfrm>
          <a:custGeom>
            <a:avLst/>
            <a:gdLst/>
            <a:ahLst/>
            <a:cxnLst/>
            <a:rect l="l" t="t" r="r" b="b"/>
            <a:pathLst>
              <a:path w="52070" h="52069">
                <a:moveTo>
                  <a:pt x="29250" y="0"/>
                </a:moveTo>
                <a:lnTo>
                  <a:pt x="22400" y="0"/>
                </a:lnTo>
                <a:lnTo>
                  <a:pt x="19104" y="654"/>
                </a:lnTo>
                <a:lnTo>
                  <a:pt x="0" y="22404"/>
                </a:lnTo>
                <a:lnTo>
                  <a:pt x="0" y="29245"/>
                </a:lnTo>
                <a:lnTo>
                  <a:pt x="22400" y="51650"/>
                </a:lnTo>
                <a:lnTo>
                  <a:pt x="29250" y="51650"/>
                </a:lnTo>
                <a:lnTo>
                  <a:pt x="51650" y="29245"/>
                </a:lnTo>
                <a:lnTo>
                  <a:pt x="51650" y="25825"/>
                </a:lnTo>
                <a:lnTo>
                  <a:pt x="51650" y="22404"/>
                </a:lnTo>
                <a:lnTo>
                  <a:pt x="32545" y="654"/>
                </a:lnTo>
                <a:lnTo>
                  <a:pt x="29250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77384" y="1502369"/>
            <a:ext cx="3590925" cy="5130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95" dirty="0">
                <a:solidFill>
                  <a:srgbClr val="1E2F62"/>
                </a:solidFill>
                <a:latin typeface="Calibri"/>
                <a:cs typeface="Calibri"/>
              </a:rPr>
              <a:t>Procedures</a:t>
            </a:r>
            <a:r>
              <a:rPr sz="1200" spc="-1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1E2F62"/>
                </a:solidFill>
                <a:latin typeface="Calibri"/>
                <a:cs typeface="Calibri"/>
              </a:rPr>
              <a:t>are</a:t>
            </a:r>
            <a:r>
              <a:rPr sz="1200" spc="-1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95" dirty="0">
                <a:solidFill>
                  <a:srgbClr val="1E2F62"/>
                </a:solidFill>
                <a:latin typeface="Calibri"/>
                <a:cs typeface="Calibri"/>
              </a:rPr>
              <a:t>step-</a:t>
            </a:r>
            <a:r>
              <a:rPr sz="1200" spc="140" dirty="0">
                <a:solidFill>
                  <a:srgbClr val="1E2F62"/>
                </a:solidFill>
                <a:latin typeface="Calibri"/>
                <a:cs typeface="Calibri"/>
              </a:rPr>
              <a:t>by-</a:t>
            </a:r>
            <a:r>
              <a:rPr sz="1200" spc="90" dirty="0">
                <a:solidFill>
                  <a:srgbClr val="1E2F62"/>
                </a:solidFill>
                <a:latin typeface="Calibri"/>
                <a:cs typeface="Calibri"/>
              </a:rPr>
              <a:t>step</a:t>
            </a:r>
            <a:r>
              <a:rPr sz="1200" spc="-1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1E2F62"/>
                </a:solidFill>
                <a:latin typeface="Calibri"/>
                <a:cs typeface="Calibri"/>
              </a:rPr>
              <a:t>instructions.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200" spc="125" dirty="0">
                <a:solidFill>
                  <a:srgbClr val="1E2F62"/>
                </a:solidFill>
                <a:latin typeface="Calibri"/>
                <a:cs typeface="Calibri"/>
              </a:rPr>
              <a:t>They</a:t>
            </a:r>
            <a:r>
              <a:rPr sz="1200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80" dirty="0">
                <a:solidFill>
                  <a:srgbClr val="1E2F62"/>
                </a:solidFill>
                <a:latin typeface="Calibri"/>
                <a:cs typeface="Calibri"/>
              </a:rPr>
              <a:t>explain</a:t>
            </a:r>
            <a:r>
              <a:rPr sz="1200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85" dirty="0">
                <a:solidFill>
                  <a:srgbClr val="1E2F62"/>
                </a:solidFill>
                <a:latin typeface="Calibri"/>
                <a:cs typeface="Calibri"/>
              </a:rPr>
              <a:t>how</a:t>
            </a:r>
            <a:r>
              <a:rPr sz="1200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1E2F62"/>
                </a:solidFill>
                <a:latin typeface="Calibri"/>
                <a:cs typeface="Calibri"/>
              </a:rPr>
              <a:t>to</a:t>
            </a:r>
            <a:r>
              <a:rPr sz="1200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1E2F62"/>
                </a:solidFill>
                <a:latin typeface="Calibri"/>
                <a:cs typeface="Calibri"/>
              </a:rPr>
              <a:t>follow</a:t>
            </a:r>
            <a:r>
              <a:rPr sz="1200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75" dirty="0">
                <a:solidFill>
                  <a:srgbClr val="1E2F62"/>
                </a:solidFill>
                <a:latin typeface="Calibri"/>
                <a:cs typeface="Calibri"/>
              </a:rPr>
              <a:t>policies</a:t>
            </a:r>
            <a:r>
              <a:rPr sz="1200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100" dirty="0">
                <a:solidFill>
                  <a:srgbClr val="1E2F62"/>
                </a:solidFill>
                <a:latin typeface="Calibri"/>
                <a:cs typeface="Calibri"/>
              </a:rPr>
              <a:t>and</a:t>
            </a:r>
            <a:r>
              <a:rPr sz="1200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70" dirty="0">
                <a:solidFill>
                  <a:srgbClr val="1E2F62"/>
                </a:solidFill>
                <a:latin typeface="Calibri"/>
                <a:cs typeface="Calibri"/>
              </a:rPr>
              <a:t>standards.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6759" y="1902445"/>
            <a:ext cx="52069" cy="52069"/>
          </a:xfrm>
          <a:custGeom>
            <a:avLst/>
            <a:gdLst/>
            <a:ahLst/>
            <a:cxnLst/>
            <a:rect l="l" t="t" r="r" b="b"/>
            <a:pathLst>
              <a:path w="52070" h="52069">
                <a:moveTo>
                  <a:pt x="29250" y="0"/>
                </a:moveTo>
                <a:lnTo>
                  <a:pt x="22400" y="0"/>
                </a:lnTo>
                <a:lnTo>
                  <a:pt x="19104" y="654"/>
                </a:lnTo>
                <a:lnTo>
                  <a:pt x="0" y="22404"/>
                </a:lnTo>
                <a:lnTo>
                  <a:pt x="0" y="29245"/>
                </a:lnTo>
                <a:lnTo>
                  <a:pt x="22400" y="51650"/>
                </a:lnTo>
                <a:lnTo>
                  <a:pt x="29250" y="51650"/>
                </a:lnTo>
                <a:lnTo>
                  <a:pt x="51650" y="29245"/>
                </a:lnTo>
                <a:lnTo>
                  <a:pt x="51650" y="25825"/>
                </a:lnTo>
                <a:lnTo>
                  <a:pt x="51650" y="22404"/>
                </a:lnTo>
                <a:lnTo>
                  <a:pt x="32545" y="654"/>
                </a:lnTo>
                <a:lnTo>
                  <a:pt x="29250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29626" y="2259904"/>
            <a:ext cx="981710" cy="304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b="1" spc="150" dirty="0">
                <a:solidFill>
                  <a:srgbClr val="091C52"/>
                </a:solidFill>
                <a:latin typeface="Calibri"/>
                <a:cs typeface="Calibri"/>
              </a:rPr>
              <a:t>Example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6759" y="2901014"/>
            <a:ext cx="52069" cy="52069"/>
          </a:xfrm>
          <a:custGeom>
            <a:avLst/>
            <a:gdLst/>
            <a:ahLst/>
            <a:cxnLst/>
            <a:rect l="l" t="t" r="r" b="b"/>
            <a:pathLst>
              <a:path w="52070" h="52069">
                <a:moveTo>
                  <a:pt x="29250" y="0"/>
                </a:moveTo>
                <a:lnTo>
                  <a:pt x="22400" y="0"/>
                </a:lnTo>
                <a:lnTo>
                  <a:pt x="19104" y="654"/>
                </a:lnTo>
                <a:lnTo>
                  <a:pt x="0" y="22404"/>
                </a:lnTo>
                <a:lnTo>
                  <a:pt x="0" y="29245"/>
                </a:lnTo>
                <a:lnTo>
                  <a:pt x="22400" y="51650"/>
                </a:lnTo>
                <a:lnTo>
                  <a:pt x="29250" y="51650"/>
                </a:lnTo>
                <a:lnTo>
                  <a:pt x="51650" y="29245"/>
                </a:lnTo>
                <a:lnTo>
                  <a:pt x="51650" y="25825"/>
                </a:lnTo>
                <a:lnTo>
                  <a:pt x="51650" y="22404"/>
                </a:lnTo>
                <a:lnTo>
                  <a:pt x="32545" y="654"/>
                </a:lnTo>
                <a:lnTo>
                  <a:pt x="29250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7384" y="2802230"/>
            <a:ext cx="2066289" cy="8229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114" dirty="0">
                <a:solidFill>
                  <a:srgbClr val="1E2F62"/>
                </a:solidFill>
                <a:latin typeface="Calibri"/>
                <a:cs typeface="Calibri"/>
              </a:rPr>
              <a:t>Steps</a:t>
            </a:r>
            <a:r>
              <a:rPr sz="1200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1E2F62"/>
                </a:solidFill>
                <a:latin typeface="Calibri"/>
                <a:cs typeface="Calibri"/>
              </a:rPr>
              <a:t>to</a:t>
            </a:r>
            <a:r>
              <a:rPr sz="1200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75" dirty="0">
                <a:solidFill>
                  <a:srgbClr val="1E2F62"/>
                </a:solidFill>
                <a:latin typeface="Calibri"/>
                <a:cs typeface="Calibri"/>
              </a:rPr>
              <a:t>report</a:t>
            </a:r>
            <a:r>
              <a:rPr sz="1200" spc="-2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95" dirty="0">
                <a:solidFill>
                  <a:srgbClr val="1E2F62"/>
                </a:solidFill>
                <a:latin typeface="Calibri"/>
                <a:cs typeface="Calibri"/>
              </a:rPr>
              <a:t>cyber</a:t>
            </a:r>
            <a:r>
              <a:rPr sz="1200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1E2F62"/>
                </a:solidFill>
                <a:latin typeface="Calibri"/>
                <a:cs typeface="Calibri"/>
              </a:rPr>
              <a:t>attack.</a:t>
            </a:r>
            <a:endParaRPr sz="1200">
              <a:latin typeface="Calibri"/>
              <a:cs typeface="Calibri"/>
            </a:endParaRPr>
          </a:p>
          <a:p>
            <a:pPr marL="12700" marR="118745">
              <a:lnSpc>
                <a:spcPct val="164700"/>
              </a:lnSpc>
              <a:spcBef>
                <a:spcPts val="65"/>
              </a:spcBef>
            </a:pPr>
            <a:r>
              <a:rPr sz="1200" spc="114" dirty="0">
                <a:solidFill>
                  <a:srgbClr val="1E2F62"/>
                </a:solidFill>
                <a:latin typeface="Calibri"/>
                <a:cs typeface="Calibri"/>
              </a:rPr>
              <a:t>Steps</a:t>
            </a:r>
            <a:r>
              <a:rPr sz="1200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1E2F62"/>
                </a:solidFill>
                <a:latin typeface="Calibri"/>
                <a:cs typeface="Calibri"/>
              </a:rPr>
              <a:t>to</a:t>
            </a:r>
            <a:r>
              <a:rPr sz="1200" spc="-2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114" dirty="0">
                <a:solidFill>
                  <a:srgbClr val="1E2F62"/>
                </a:solidFill>
                <a:latin typeface="Calibri"/>
                <a:cs typeface="Calibri"/>
              </a:rPr>
              <a:t>change</a:t>
            </a:r>
            <a:r>
              <a:rPr sz="1200" spc="-2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70" dirty="0">
                <a:solidFill>
                  <a:srgbClr val="1E2F62"/>
                </a:solidFill>
                <a:latin typeface="Calibri"/>
                <a:cs typeface="Calibri"/>
              </a:rPr>
              <a:t>password. </a:t>
            </a:r>
            <a:r>
              <a:rPr sz="1200" spc="110" dirty="0">
                <a:solidFill>
                  <a:srgbClr val="1E2F62"/>
                </a:solidFill>
                <a:latin typeface="Calibri"/>
                <a:cs typeface="Calibri"/>
              </a:rPr>
              <a:t>Backup</a:t>
            </a:r>
            <a:r>
              <a:rPr sz="1200" spc="-1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100" dirty="0">
                <a:solidFill>
                  <a:srgbClr val="1E2F62"/>
                </a:solidFill>
                <a:latin typeface="Calibri"/>
                <a:cs typeface="Calibri"/>
              </a:rPr>
              <a:t>process</a:t>
            </a:r>
            <a:r>
              <a:rPr sz="1200" spc="-1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1E2F62"/>
                </a:solidFill>
                <a:latin typeface="Calibri"/>
                <a:cs typeface="Calibri"/>
              </a:rPr>
              <a:t>steps.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6759" y="3210914"/>
            <a:ext cx="52069" cy="52069"/>
          </a:xfrm>
          <a:custGeom>
            <a:avLst/>
            <a:gdLst/>
            <a:ahLst/>
            <a:cxnLst/>
            <a:rect l="l" t="t" r="r" b="b"/>
            <a:pathLst>
              <a:path w="52070" h="52070">
                <a:moveTo>
                  <a:pt x="29250" y="0"/>
                </a:moveTo>
                <a:lnTo>
                  <a:pt x="22400" y="0"/>
                </a:lnTo>
                <a:lnTo>
                  <a:pt x="19104" y="654"/>
                </a:lnTo>
                <a:lnTo>
                  <a:pt x="0" y="22404"/>
                </a:lnTo>
                <a:lnTo>
                  <a:pt x="0" y="29245"/>
                </a:lnTo>
                <a:lnTo>
                  <a:pt x="22400" y="51650"/>
                </a:lnTo>
                <a:lnTo>
                  <a:pt x="29250" y="51650"/>
                </a:lnTo>
                <a:lnTo>
                  <a:pt x="51650" y="29245"/>
                </a:lnTo>
                <a:lnTo>
                  <a:pt x="51650" y="25825"/>
                </a:lnTo>
                <a:lnTo>
                  <a:pt x="51650" y="22404"/>
                </a:lnTo>
                <a:lnTo>
                  <a:pt x="32545" y="654"/>
                </a:lnTo>
                <a:lnTo>
                  <a:pt x="29250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6759" y="3512207"/>
            <a:ext cx="52069" cy="52069"/>
          </a:xfrm>
          <a:custGeom>
            <a:avLst/>
            <a:gdLst/>
            <a:ahLst/>
            <a:cxnLst/>
            <a:rect l="l" t="t" r="r" b="b"/>
            <a:pathLst>
              <a:path w="52070" h="52070">
                <a:moveTo>
                  <a:pt x="29250" y="0"/>
                </a:moveTo>
                <a:lnTo>
                  <a:pt x="22400" y="0"/>
                </a:lnTo>
                <a:lnTo>
                  <a:pt x="19104" y="654"/>
                </a:lnTo>
                <a:lnTo>
                  <a:pt x="0" y="22404"/>
                </a:lnTo>
                <a:lnTo>
                  <a:pt x="0" y="29245"/>
                </a:lnTo>
                <a:lnTo>
                  <a:pt x="22400" y="51650"/>
                </a:lnTo>
                <a:lnTo>
                  <a:pt x="29250" y="51650"/>
                </a:lnTo>
                <a:lnTo>
                  <a:pt x="51650" y="29245"/>
                </a:lnTo>
                <a:lnTo>
                  <a:pt x="51650" y="25825"/>
                </a:lnTo>
                <a:lnTo>
                  <a:pt x="51650" y="22404"/>
                </a:lnTo>
                <a:lnTo>
                  <a:pt x="32545" y="654"/>
                </a:lnTo>
                <a:lnTo>
                  <a:pt x="29250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29626" y="3748575"/>
            <a:ext cx="4972050" cy="873125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2450" b="1" spc="150" dirty="0">
                <a:solidFill>
                  <a:srgbClr val="091C52"/>
                </a:solidFill>
                <a:latin typeface="Calibri"/>
                <a:cs typeface="Calibri"/>
              </a:rPr>
              <a:t>Objectives</a:t>
            </a:r>
            <a:r>
              <a:rPr sz="2450" b="1" spc="-70" dirty="0">
                <a:solidFill>
                  <a:srgbClr val="091C52"/>
                </a:solidFill>
                <a:latin typeface="Calibri"/>
                <a:cs typeface="Calibri"/>
              </a:rPr>
              <a:t> </a:t>
            </a:r>
            <a:r>
              <a:rPr sz="2450" b="1" spc="114" dirty="0">
                <a:solidFill>
                  <a:srgbClr val="091C52"/>
                </a:solidFill>
                <a:latin typeface="Calibri"/>
                <a:cs typeface="Calibri"/>
              </a:rPr>
              <a:t>of</a:t>
            </a:r>
            <a:r>
              <a:rPr sz="2450" b="1" spc="-65" dirty="0">
                <a:solidFill>
                  <a:srgbClr val="091C52"/>
                </a:solidFill>
                <a:latin typeface="Calibri"/>
                <a:cs typeface="Calibri"/>
              </a:rPr>
              <a:t> </a:t>
            </a:r>
            <a:r>
              <a:rPr sz="2450" b="1" spc="165" dirty="0">
                <a:solidFill>
                  <a:srgbClr val="091C52"/>
                </a:solidFill>
                <a:latin typeface="Calibri"/>
                <a:cs typeface="Calibri"/>
              </a:rPr>
              <a:t>Security</a:t>
            </a:r>
            <a:r>
              <a:rPr sz="2450" b="1" spc="-65" dirty="0">
                <a:solidFill>
                  <a:srgbClr val="091C52"/>
                </a:solidFill>
                <a:latin typeface="Calibri"/>
                <a:cs typeface="Calibri"/>
              </a:rPr>
              <a:t> </a:t>
            </a:r>
            <a:r>
              <a:rPr sz="2450" b="1" spc="160" dirty="0">
                <a:solidFill>
                  <a:srgbClr val="091C52"/>
                </a:solidFill>
                <a:latin typeface="Calibri"/>
                <a:cs typeface="Calibri"/>
              </a:rPr>
              <a:t>Procedures</a:t>
            </a:r>
            <a:endParaRPr sz="2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800" b="1" spc="85" dirty="0">
                <a:solidFill>
                  <a:srgbClr val="091C52"/>
                </a:solidFill>
                <a:latin typeface="Calibri"/>
                <a:cs typeface="Calibri"/>
              </a:rPr>
              <a:t>Main</a:t>
            </a:r>
            <a:r>
              <a:rPr sz="1800" b="1" spc="-50" dirty="0">
                <a:solidFill>
                  <a:srgbClr val="091C52"/>
                </a:solidFill>
                <a:latin typeface="Calibri"/>
                <a:cs typeface="Calibri"/>
              </a:rPr>
              <a:t> </a:t>
            </a:r>
            <a:r>
              <a:rPr sz="1800" b="1" spc="125" dirty="0">
                <a:solidFill>
                  <a:srgbClr val="091C52"/>
                </a:solidFill>
                <a:latin typeface="Calibri"/>
                <a:cs typeface="Calibri"/>
              </a:rPr>
              <a:t>Objectives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6759" y="4958410"/>
            <a:ext cx="52069" cy="52069"/>
          </a:xfrm>
          <a:custGeom>
            <a:avLst/>
            <a:gdLst/>
            <a:ahLst/>
            <a:cxnLst/>
            <a:rect l="l" t="t" r="r" b="b"/>
            <a:pathLst>
              <a:path w="52070" h="52070">
                <a:moveTo>
                  <a:pt x="29250" y="0"/>
                </a:moveTo>
                <a:lnTo>
                  <a:pt x="22400" y="0"/>
                </a:lnTo>
                <a:lnTo>
                  <a:pt x="19104" y="654"/>
                </a:lnTo>
                <a:lnTo>
                  <a:pt x="0" y="22404"/>
                </a:lnTo>
                <a:lnTo>
                  <a:pt x="0" y="29245"/>
                </a:lnTo>
                <a:lnTo>
                  <a:pt x="22400" y="51650"/>
                </a:lnTo>
                <a:lnTo>
                  <a:pt x="29250" y="51650"/>
                </a:lnTo>
                <a:lnTo>
                  <a:pt x="51650" y="29245"/>
                </a:lnTo>
                <a:lnTo>
                  <a:pt x="51650" y="25825"/>
                </a:lnTo>
                <a:lnTo>
                  <a:pt x="51650" y="22404"/>
                </a:lnTo>
                <a:lnTo>
                  <a:pt x="32545" y="654"/>
                </a:lnTo>
                <a:lnTo>
                  <a:pt x="29250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77384" y="4859626"/>
            <a:ext cx="2268855" cy="1123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80" dirty="0">
                <a:solidFill>
                  <a:srgbClr val="1E2F62"/>
                </a:solidFill>
                <a:latin typeface="Calibri"/>
                <a:cs typeface="Calibri"/>
              </a:rPr>
              <a:t>Avoid</a:t>
            </a:r>
            <a:r>
              <a:rPr sz="1200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1E2F62"/>
                </a:solidFill>
                <a:latin typeface="Calibri"/>
                <a:cs typeface="Calibri"/>
              </a:rPr>
              <a:t>confusion.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ts val="2440"/>
              </a:lnSpc>
              <a:spcBef>
                <a:spcPts val="180"/>
              </a:spcBef>
            </a:pPr>
            <a:r>
              <a:rPr sz="1200" spc="105" dirty="0">
                <a:solidFill>
                  <a:srgbClr val="1E2F62"/>
                </a:solidFill>
                <a:latin typeface="Calibri"/>
                <a:cs typeface="Calibri"/>
              </a:rPr>
              <a:t>Ensure</a:t>
            </a:r>
            <a:r>
              <a:rPr sz="1200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85" dirty="0">
                <a:solidFill>
                  <a:srgbClr val="1E2F62"/>
                </a:solidFill>
                <a:latin typeface="Calibri"/>
                <a:cs typeface="Calibri"/>
              </a:rPr>
              <a:t>proper</a:t>
            </a:r>
            <a:r>
              <a:rPr sz="1200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1E2F62"/>
                </a:solidFill>
                <a:latin typeface="Calibri"/>
                <a:cs typeface="Calibri"/>
              </a:rPr>
              <a:t>implementation. </a:t>
            </a:r>
            <a:r>
              <a:rPr sz="1200" spc="80" dirty="0">
                <a:solidFill>
                  <a:srgbClr val="1E2F62"/>
                </a:solidFill>
                <a:latin typeface="Calibri"/>
                <a:cs typeface="Calibri"/>
              </a:rPr>
              <a:t>Improve</a:t>
            </a:r>
            <a:r>
              <a:rPr sz="1200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95" dirty="0">
                <a:solidFill>
                  <a:srgbClr val="1E2F62"/>
                </a:solidFill>
                <a:latin typeface="Calibri"/>
                <a:cs typeface="Calibri"/>
              </a:rPr>
              <a:t>response</a:t>
            </a:r>
            <a:r>
              <a:rPr sz="1200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1E2F62"/>
                </a:solidFill>
                <a:latin typeface="Calibri"/>
                <a:cs typeface="Calibri"/>
              </a:rPr>
              <a:t>time.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200" spc="70" dirty="0">
                <a:solidFill>
                  <a:srgbClr val="1E2F62"/>
                </a:solidFill>
                <a:latin typeface="Calibri"/>
                <a:cs typeface="Calibri"/>
              </a:rPr>
              <a:t>Maintain</a:t>
            </a:r>
            <a:r>
              <a:rPr sz="1200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70" dirty="0">
                <a:solidFill>
                  <a:srgbClr val="1E2F62"/>
                </a:solidFill>
                <a:latin typeface="Calibri"/>
                <a:cs typeface="Calibri"/>
              </a:rPr>
              <a:t>consistency.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76759" y="5259702"/>
            <a:ext cx="52069" cy="52069"/>
          </a:xfrm>
          <a:custGeom>
            <a:avLst/>
            <a:gdLst/>
            <a:ahLst/>
            <a:cxnLst/>
            <a:rect l="l" t="t" r="r" b="b"/>
            <a:pathLst>
              <a:path w="52070" h="52070">
                <a:moveTo>
                  <a:pt x="29250" y="0"/>
                </a:moveTo>
                <a:lnTo>
                  <a:pt x="22400" y="0"/>
                </a:lnTo>
                <a:lnTo>
                  <a:pt x="19104" y="654"/>
                </a:lnTo>
                <a:lnTo>
                  <a:pt x="0" y="22404"/>
                </a:lnTo>
                <a:lnTo>
                  <a:pt x="0" y="29245"/>
                </a:lnTo>
                <a:lnTo>
                  <a:pt x="22400" y="51646"/>
                </a:lnTo>
                <a:lnTo>
                  <a:pt x="29250" y="51646"/>
                </a:lnTo>
                <a:lnTo>
                  <a:pt x="51650" y="29245"/>
                </a:lnTo>
                <a:lnTo>
                  <a:pt x="51650" y="25825"/>
                </a:lnTo>
                <a:lnTo>
                  <a:pt x="51650" y="22404"/>
                </a:lnTo>
                <a:lnTo>
                  <a:pt x="32545" y="654"/>
                </a:lnTo>
                <a:lnTo>
                  <a:pt x="29250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76759" y="5569604"/>
            <a:ext cx="52069" cy="52069"/>
          </a:xfrm>
          <a:custGeom>
            <a:avLst/>
            <a:gdLst/>
            <a:ahLst/>
            <a:cxnLst/>
            <a:rect l="l" t="t" r="r" b="b"/>
            <a:pathLst>
              <a:path w="52070" h="52070">
                <a:moveTo>
                  <a:pt x="29250" y="0"/>
                </a:moveTo>
                <a:lnTo>
                  <a:pt x="22400" y="0"/>
                </a:lnTo>
                <a:lnTo>
                  <a:pt x="19104" y="654"/>
                </a:lnTo>
                <a:lnTo>
                  <a:pt x="0" y="22398"/>
                </a:lnTo>
                <a:lnTo>
                  <a:pt x="0" y="29245"/>
                </a:lnTo>
                <a:lnTo>
                  <a:pt x="22400" y="51645"/>
                </a:lnTo>
                <a:lnTo>
                  <a:pt x="29250" y="51645"/>
                </a:lnTo>
                <a:lnTo>
                  <a:pt x="51650" y="29245"/>
                </a:lnTo>
                <a:lnTo>
                  <a:pt x="51650" y="25825"/>
                </a:lnTo>
                <a:lnTo>
                  <a:pt x="51650" y="22398"/>
                </a:lnTo>
                <a:lnTo>
                  <a:pt x="32545" y="654"/>
                </a:lnTo>
                <a:lnTo>
                  <a:pt x="29250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76759" y="5870896"/>
            <a:ext cx="52069" cy="52069"/>
          </a:xfrm>
          <a:custGeom>
            <a:avLst/>
            <a:gdLst/>
            <a:ahLst/>
            <a:cxnLst/>
            <a:rect l="l" t="t" r="r" b="b"/>
            <a:pathLst>
              <a:path w="52070" h="52070">
                <a:moveTo>
                  <a:pt x="29250" y="0"/>
                </a:moveTo>
                <a:lnTo>
                  <a:pt x="22400" y="0"/>
                </a:lnTo>
                <a:lnTo>
                  <a:pt x="19104" y="654"/>
                </a:lnTo>
                <a:lnTo>
                  <a:pt x="0" y="22398"/>
                </a:lnTo>
                <a:lnTo>
                  <a:pt x="0" y="29245"/>
                </a:lnTo>
                <a:lnTo>
                  <a:pt x="22400" y="51645"/>
                </a:lnTo>
                <a:lnTo>
                  <a:pt x="29250" y="51645"/>
                </a:lnTo>
                <a:lnTo>
                  <a:pt x="51650" y="29245"/>
                </a:lnTo>
                <a:lnTo>
                  <a:pt x="51650" y="25825"/>
                </a:lnTo>
                <a:lnTo>
                  <a:pt x="51650" y="22398"/>
                </a:lnTo>
                <a:lnTo>
                  <a:pt x="32545" y="654"/>
                </a:lnTo>
                <a:lnTo>
                  <a:pt x="29250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8543887" y="5950494"/>
            <a:ext cx="1700530" cy="474345"/>
            <a:chOff x="8543887" y="5950494"/>
            <a:chExt cx="1700530" cy="47434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79" y="5975573"/>
              <a:ext cx="1585658" cy="37876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550962" y="5957570"/>
              <a:ext cx="1663064" cy="460375"/>
            </a:xfrm>
            <a:custGeom>
              <a:avLst/>
              <a:gdLst/>
              <a:ahLst/>
              <a:cxnLst/>
              <a:rect l="l" t="t" r="r" b="b"/>
              <a:pathLst>
                <a:path w="1663065" h="460375">
                  <a:moveTo>
                    <a:pt x="1662708" y="0"/>
                  </a:moveTo>
                  <a:lnTo>
                    <a:pt x="0" y="0"/>
                  </a:lnTo>
                  <a:lnTo>
                    <a:pt x="0" y="459898"/>
                  </a:lnTo>
                  <a:lnTo>
                    <a:pt x="1662708" y="459898"/>
                  </a:lnTo>
                  <a:lnTo>
                    <a:pt x="16627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550962" y="5957570"/>
              <a:ext cx="1663064" cy="460375"/>
            </a:xfrm>
            <a:custGeom>
              <a:avLst/>
              <a:gdLst/>
              <a:ahLst/>
              <a:cxnLst/>
              <a:rect l="l" t="t" r="r" b="b"/>
              <a:pathLst>
                <a:path w="1663065" h="460375">
                  <a:moveTo>
                    <a:pt x="0" y="459898"/>
                  </a:moveTo>
                  <a:lnTo>
                    <a:pt x="1662708" y="459898"/>
                  </a:lnTo>
                  <a:lnTo>
                    <a:pt x="1662708" y="0"/>
                  </a:lnTo>
                  <a:lnTo>
                    <a:pt x="0" y="0"/>
                  </a:lnTo>
                  <a:lnTo>
                    <a:pt x="0" y="459898"/>
                  </a:lnTo>
                  <a:close/>
                </a:path>
              </a:pathLst>
            </a:custGeom>
            <a:ln w="141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4"/>
            <a:ext cx="3792649" cy="643885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10920" y="400277"/>
            <a:ext cx="4825365" cy="11480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ts val="2990"/>
              </a:lnSpc>
              <a:spcBef>
                <a:spcPts val="70"/>
              </a:spcBef>
            </a:pPr>
            <a:r>
              <a:rPr sz="2350" spc="130" dirty="0"/>
              <a:t>Real</a:t>
            </a:r>
            <a:r>
              <a:rPr sz="2350" spc="-65" dirty="0"/>
              <a:t> </a:t>
            </a:r>
            <a:r>
              <a:rPr sz="2350" spc="155" dirty="0"/>
              <a:t>Life</a:t>
            </a:r>
            <a:r>
              <a:rPr sz="2350" spc="-60" dirty="0"/>
              <a:t> </a:t>
            </a:r>
            <a:r>
              <a:rPr sz="2350" spc="235" dirty="0"/>
              <a:t>Cyber</a:t>
            </a:r>
            <a:r>
              <a:rPr sz="2350" spc="-60" dirty="0"/>
              <a:t> </a:t>
            </a:r>
            <a:r>
              <a:rPr sz="2350" spc="155" dirty="0"/>
              <a:t>Incidents</a:t>
            </a:r>
            <a:r>
              <a:rPr sz="2350" spc="-60" dirty="0"/>
              <a:t> </a:t>
            </a:r>
            <a:r>
              <a:rPr sz="2350" spc="114" dirty="0"/>
              <a:t>in</a:t>
            </a:r>
            <a:r>
              <a:rPr sz="2350" spc="-65" dirty="0"/>
              <a:t> </a:t>
            </a:r>
            <a:r>
              <a:rPr sz="2350" spc="95" dirty="0"/>
              <a:t>India </a:t>
            </a:r>
            <a:r>
              <a:rPr sz="2350" spc="260" dirty="0"/>
              <a:t>Case</a:t>
            </a:r>
            <a:r>
              <a:rPr sz="2350" spc="-65" dirty="0"/>
              <a:t> </a:t>
            </a:r>
            <a:r>
              <a:rPr sz="2350" spc="210" dirty="0"/>
              <a:t>Study</a:t>
            </a:r>
            <a:r>
              <a:rPr sz="2350" spc="-60" dirty="0"/>
              <a:t> </a:t>
            </a:r>
            <a:r>
              <a:rPr sz="2350" spc="245" dirty="0"/>
              <a:t>–</a:t>
            </a:r>
            <a:r>
              <a:rPr sz="2350" spc="-65" dirty="0"/>
              <a:t> </a:t>
            </a:r>
            <a:r>
              <a:rPr sz="2350" spc="270" dirty="0"/>
              <a:t>Cosmos</a:t>
            </a:r>
            <a:r>
              <a:rPr sz="2350" spc="-60" dirty="0"/>
              <a:t> </a:t>
            </a:r>
            <a:r>
              <a:rPr sz="2350" spc="190" dirty="0"/>
              <a:t>Bank</a:t>
            </a:r>
            <a:r>
              <a:rPr sz="2350" spc="-65" dirty="0"/>
              <a:t> </a:t>
            </a:r>
            <a:r>
              <a:rPr sz="2350" spc="225" dirty="0"/>
              <a:t>Cyber </a:t>
            </a:r>
            <a:r>
              <a:rPr sz="2350" spc="190" dirty="0"/>
              <a:t>Attack</a:t>
            </a:r>
            <a:r>
              <a:rPr sz="2350" spc="-70" dirty="0"/>
              <a:t> </a:t>
            </a:r>
            <a:r>
              <a:rPr sz="2350" spc="125" dirty="0"/>
              <a:t>(2018)</a:t>
            </a:r>
            <a:endParaRPr sz="2350"/>
          </a:p>
        </p:txBody>
      </p:sp>
      <p:sp>
        <p:nvSpPr>
          <p:cNvPr id="4" name="object 4"/>
          <p:cNvSpPr txBox="1"/>
          <p:nvPr/>
        </p:nvSpPr>
        <p:spPr>
          <a:xfrm>
            <a:off x="4310920" y="1597068"/>
            <a:ext cx="191643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140" dirty="0">
                <a:solidFill>
                  <a:srgbClr val="091C52"/>
                </a:solidFill>
                <a:latin typeface="Calibri"/>
                <a:cs typeface="Calibri"/>
              </a:rPr>
              <a:t>What</a:t>
            </a:r>
            <a:r>
              <a:rPr sz="1800" b="1" spc="-55" dirty="0">
                <a:solidFill>
                  <a:srgbClr val="091C52"/>
                </a:solidFill>
                <a:latin typeface="Calibri"/>
                <a:cs typeface="Calibri"/>
              </a:rPr>
              <a:t> </a:t>
            </a:r>
            <a:r>
              <a:rPr sz="1800" b="1" spc="130" dirty="0">
                <a:solidFill>
                  <a:srgbClr val="091C52"/>
                </a:solidFill>
                <a:latin typeface="Calibri"/>
                <a:cs typeface="Calibri"/>
              </a:rPr>
              <a:t>Happened?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57332" y="223344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8633" y="0"/>
                </a:moveTo>
                <a:lnTo>
                  <a:pt x="21935" y="0"/>
                </a:lnTo>
                <a:lnTo>
                  <a:pt x="18699" y="640"/>
                </a:lnTo>
                <a:lnTo>
                  <a:pt x="0" y="21935"/>
                </a:lnTo>
                <a:lnTo>
                  <a:pt x="0" y="28633"/>
                </a:lnTo>
                <a:lnTo>
                  <a:pt x="21935" y="50568"/>
                </a:lnTo>
                <a:lnTo>
                  <a:pt x="28633" y="50568"/>
                </a:lnTo>
                <a:lnTo>
                  <a:pt x="50568" y="28633"/>
                </a:lnTo>
                <a:lnTo>
                  <a:pt x="50568" y="25284"/>
                </a:lnTo>
                <a:lnTo>
                  <a:pt x="50568" y="21935"/>
                </a:lnTo>
                <a:lnTo>
                  <a:pt x="31858" y="640"/>
                </a:lnTo>
                <a:lnTo>
                  <a:pt x="28633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53492" y="2136467"/>
            <a:ext cx="4455795" cy="1682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50" dirty="0">
                <a:solidFill>
                  <a:srgbClr val="1E2F62"/>
                </a:solidFill>
                <a:latin typeface="Calibri"/>
                <a:cs typeface="Calibri"/>
              </a:rPr>
              <a:t>In</a:t>
            </a:r>
            <a:r>
              <a:rPr sz="1200" spc="-1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100" dirty="0">
                <a:solidFill>
                  <a:srgbClr val="1E2F62"/>
                </a:solidFill>
                <a:latin typeface="Calibri"/>
                <a:cs typeface="Calibri"/>
              </a:rPr>
              <a:t>August</a:t>
            </a:r>
            <a:r>
              <a:rPr sz="1200" spc="-1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F62"/>
                </a:solidFill>
                <a:latin typeface="Calibri"/>
                <a:cs typeface="Calibri"/>
              </a:rPr>
              <a:t>2018,</a:t>
            </a:r>
            <a:r>
              <a:rPr sz="1200" spc="-1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75" dirty="0">
                <a:solidFill>
                  <a:srgbClr val="1E2F62"/>
                </a:solidFill>
                <a:latin typeface="Calibri"/>
                <a:cs typeface="Calibri"/>
              </a:rPr>
              <a:t>hackers</a:t>
            </a:r>
            <a:r>
              <a:rPr sz="1200" spc="-1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75" dirty="0">
                <a:solidFill>
                  <a:srgbClr val="1E2F62"/>
                </a:solidFill>
                <a:latin typeface="Calibri"/>
                <a:cs typeface="Calibri"/>
              </a:rPr>
              <a:t>attacked</a:t>
            </a:r>
            <a:r>
              <a:rPr sz="1200" spc="-1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80" dirty="0">
                <a:solidFill>
                  <a:srgbClr val="1E2F62"/>
                </a:solidFill>
                <a:latin typeface="Calibri"/>
                <a:cs typeface="Calibri"/>
              </a:rPr>
              <a:t>the</a:t>
            </a:r>
            <a:r>
              <a:rPr sz="1200" spc="-1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1E2F62"/>
                </a:solidFill>
                <a:latin typeface="Calibri"/>
                <a:cs typeface="Calibri"/>
              </a:rPr>
              <a:t>bank's</a:t>
            </a:r>
            <a:r>
              <a:rPr sz="1200" spc="-1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85" dirty="0">
                <a:solidFill>
                  <a:srgbClr val="1E2F62"/>
                </a:solidFill>
                <a:latin typeface="Calibri"/>
                <a:cs typeface="Calibri"/>
              </a:rPr>
              <a:t>ATM</a:t>
            </a:r>
            <a:r>
              <a:rPr sz="1200" spc="-1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35" dirty="0">
                <a:solidFill>
                  <a:srgbClr val="1E2F62"/>
                </a:solidFill>
                <a:latin typeface="Calibri"/>
                <a:cs typeface="Calibri"/>
              </a:rPr>
              <a:t>server.</a:t>
            </a:r>
            <a:endParaRPr sz="1200">
              <a:latin typeface="Calibri"/>
              <a:cs typeface="Calibri"/>
            </a:endParaRPr>
          </a:p>
          <a:p>
            <a:pPr marL="12700" marR="1718945">
              <a:lnSpc>
                <a:spcPct val="161300"/>
              </a:lnSpc>
            </a:pPr>
            <a:r>
              <a:rPr sz="1200" spc="50" dirty="0">
                <a:solidFill>
                  <a:srgbClr val="1E2F62"/>
                </a:solidFill>
                <a:latin typeface="Calibri"/>
                <a:cs typeface="Calibri"/>
              </a:rPr>
              <a:t>Malware</a:t>
            </a:r>
            <a:r>
              <a:rPr sz="1200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1E2F62"/>
                </a:solidFill>
                <a:latin typeface="Calibri"/>
                <a:cs typeface="Calibri"/>
              </a:rPr>
              <a:t>was</a:t>
            </a:r>
            <a:r>
              <a:rPr sz="1200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1E2F62"/>
                </a:solidFill>
                <a:latin typeface="Calibri"/>
                <a:cs typeface="Calibri"/>
              </a:rPr>
              <a:t>installed</a:t>
            </a:r>
            <a:r>
              <a:rPr sz="1200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1E2F62"/>
                </a:solidFill>
                <a:latin typeface="Calibri"/>
                <a:cs typeface="Calibri"/>
              </a:rPr>
              <a:t>in</a:t>
            </a:r>
            <a:r>
              <a:rPr sz="1200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80" dirty="0">
                <a:solidFill>
                  <a:srgbClr val="1E2F62"/>
                </a:solidFill>
                <a:latin typeface="Calibri"/>
                <a:cs typeface="Calibri"/>
              </a:rPr>
              <a:t>the</a:t>
            </a:r>
            <a:r>
              <a:rPr sz="1200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1E2F62"/>
                </a:solidFill>
                <a:latin typeface="Calibri"/>
                <a:cs typeface="Calibri"/>
              </a:rPr>
              <a:t>system. </a:t>
            </a:r>
            <a:r>
              <a:rPr sz="1200" spc="75" dirty="0">
                <a:solidFill>
                  <a:srgbClr val="1E2F62"/>
                </a:solidFill>
                <a:latin typeface="Calibri"/>
                <a:cs typeface="Calibri"/>
              </a:rPr>
              <a:t>Fake</a:t>
            </a:r>
            <a:r>
              <a:rPr sz="1200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85" dirty="0">
                <a:solidFill>
                  <a:srgbClr val="1E2F62"/>
                </a:solidFill>
                <a:latin typeface="Calibri"/>
                <a:cs typeface="Calibri"/>
              </a:rPr>
              <a:t>ATM</a:t>
            </a:r>
            <a:r>
              <a:rPr sz="1200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75" dirty="0">
                <a:solidFill>
                  <a:srgbClr val="1E2F62"/>
                </a:solidFill>
                <a:latin typeface="Calibri"/>
                <a:cs typeface="Calibri"/>
              </a:rPr>
              <a:t>transactions</a:t>
            </a:r>
            <a:r>
              <a:rPr sz="1200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1E2F62"/>
                </a:solidFill>
                <a:latin typeface="Calibri"/>
                <a:cs typeface="Calibri"/>
              </a:rPr>
              <a:t>were</a:t>
            </a:r>
            <a:r>
              <a:rPr sz="1200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1E2F62"/>
                </a:solidFill>
                <a:latin typeface="Calibri"/>
                <a:cs typeface="Calibri"/>
              </a:rPr>
              <a:t>approved.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200" spc="90" dirty="0">
                <a:solidFill>
                  <a:srgbClr val="1E2F62"/>
                </a:solidFill>
                <a:latin typeface="Calibri"/>
                <a:cs typeface="Calibri"/>
              </a:rPr>
              <a:t>Around</a:t>
            </a:r>
            <a:r>
              <a:rPr sz="1200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75" dirty="0">
                <a:solidFill>
                  <a:srgbClr val="1E2F62"/>
                </a:solidFill>
                <a:latin typeface="Arial"/>
                <a:cs typeface="Arial"/>
              </a:rPr>
              <a:t>₹</a:t>
            </a:r>
            <a:r>
              <a:rPr sz="1200" spc="75" dirty="0">
                <a:solidFill>
                  <a:srgbClr val="1E2F62"/>
                </a:solidFill>
                <a:latin typeface="Calibri"/>
                <a:cs typeface="Calibri"/>
              </a:rPr>
              <a:t>94</a:t>
            </a:r>
            <a:r>
              <a:rPr sz="1200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1E2F62"/>
                </a:solidFill>
                <a:latin typeface="Calibri"/>
                <a:cs typeface="Calibri"/>
              </a:rPr>
              <a:t>crore</a:t>
            </a:r>
            <a:r>
              <a:rPr sz="1200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1E2F62"/>
                </a:solidFill>
                <a:latin typeface="Calibri"/>
                <a:cs typeface="Calibri"/>
              </a:rPr>
              <a:t>was</a:t>
            </a:r>
            <a:r>
              <a:rPr sz="1200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1E2F62"/>
                </a:solidFill>
                <a:latin typeface="Calibri"/>
                <a:cs typeface="Calibri"/>
              </a:rPr>
              <a:t>stolen</a:t>
            </a:r>
            <a:r>
              <a:rPr sz="1200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1E2F62"/>
                </a:solidFill>
                <a:latin typeface="Calibri"/>
                <a:cs typeface="Calibri"/>
              </a:rPr>
              <a:t>within</a:t>
            </a:r>
            <a:r>
              <a:rPr sz="1200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1E2F62"/>
                </a:solidFill>
                <a:latin typeface="Calibri"/>
                <a:cs typeface="Calibri"/>
              </a:rPr>
              <a:t>two</a:t>
            </a:r>
            <a:r>
              <a:rPr sz="1200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40" dirty="0">
                <a:solidFill>
                  <a:srgbClr val="1E2F62"/>
                </a:solidFill>
                <a:latin typeface="Calibri"/>
                <a:cs typeface="Calibri"/>
              </a:rPr>
              <a:t>days.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200" spc="80" dirty="0">
                <a:solidFill>
                  <a:srgbClr val="1E2F62"/>
                </a:solidFill>
                <a:latin typeface="Calibri"/>
                <a:cs typeface="Calibri"/>
              </a:rPr>
              <a:t>Fraud</a:t>
            </a:r>
            <a:r>
              <a:rPr sz="1200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1E2F62"/>
                </a:solidFill>
                <a:latin typeface="Calibri"/>
                <a:cs typeface="Calibri"/>
              </a:rPr>
              <a:t>withdrawals</a:t>
            </a:r>
            <a:r>
              <a:rPr sz="1200" spc="-2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85" dirty="0">
                <a:solidFill>
                  <a:srgbClr val="1E2F62"/>
                </a:solidFill>
                <a:latin typeface="Calibri"/>
                <a:cs typeface="Calibri"/>
              </a:rPr>
              <a:t>happened</a:t>
            </a:r>
            <a:r>
              <a:rPr sz="1200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1E2F62"/>
                </a:solidFill>
                <a:latin typeface="Calibri"/>
                <a:cs typeface="Calibri"/>
              </a:rPr>
              <a:t>in</a:t>
            </a:r>
            <a:r>
              <a:rPr sz="1200" spc="-2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1E2F62"/>
                </a:solidFill>
                <a:latin typeface="Calibri"/>
                <a:cs typeface="Calibri"/>
              </a:rPr>
              <a:t>India</a:t>
            </a:r>
            <a:r>
              <a:rPr sz="1200" spc="-2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90" dirty="0">
                <a:solidFill>
                  <a:srgbClr val="1E2F62"/>
                </a:solidFill>
                <a:latin typeface="Calibri"/>
                <a:cs typeface="Calibri"/>
              </a:rPr>
              <a:t>and</a:t>
            </a:r>
            <a:r>
              <a:rPr sz="1200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1E2F62"/>
                </a:solidFill>
                <a:latin typeface="Calibri"/>
                <a:cs typeface="Calibri"/>
              </a:rPr>
              <a:t>other</a:t>
            </a:r>
            <a:r>
              <a:rPr sz="1200" spc="-2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1E2F62"/>
                </a:solidFill>
                <a:latin typeface="Calibri"/>
                <a:cs typeface="Calibri"/>
              </a:rPr>
              <a:t>countries.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200" spc="120" dirty="0">
                <a:solidFill>
                  <a:srgbClr val="1E2F62"/>
                </a:solidFill>
                <a:latin typeface="Calibri"/>
                <a:cs typeface="Calibri"/>
              </a:rPr>
              <a:t>The</a:t>
            </a:r>
            <a:r>
              <a:rPr sz="1200" spc="-2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150" dirty="0">
                <a:solidFill>
                  <a:srgbClr val="1E2F62"/>
                </a:solidFill>
                <a:latin typeface="Calibri"/>
                <a:cs typeface="Calibri"/>
              </a:rPr>
              <a:t>SWIFT</a:t>
            </a:r>
            <a:r>
              <a:rPr sz="1200" spc="-1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85" dirty="0">
                <a:solidFill>
                  <a:srgbClr val="1E2F62"/>
                </a:solidFill>
                <a:latin typeface="Calibri"/>
                <a:cs typeface="Calibri"/>
              </a:rPr>
              <a:t>system</a:t>
            </a:r>
            <a:r>
              <a:rPr sz="1200" spc="-1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1E2F62"/>
                </a:solidFill>
                <a:latin typeface="Calibri"/>
                <a:cs typeface="Calibri"/>
              </a:rPr>
              <a:t>was</a:t>
            </a:r>
            <a:r>
              <a:rPr sz="1200" spc="-1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70" dirty="0">
                <a:solidFill>
                  <a:srgbClr val="1E2F62"/>
                </a:solidFill>
                <a:latin typeface="Calibri"/>
                <a:cs typeface="Calibri"/>
              </a:rPr>
              <a:t>also</a:t>
            </a:r>
            <a:r>
              <a:rPr sz="1200" spc="-1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90" dirty="0">
                <a:solidFill>
                  <a:srgbClr val="1E2F62"/>
                </a:solidFill>
                <a:latin typeface="Calibri"/>
                <a:cs typeface="Calibri"/>
              </a:rPr>
              <a:t>misused</a:t>
            </a:r>
            <a:r>
              <a:rPr sz="1200" spc="-2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F62"/>
                </a:solidFill>
                <a:latin typeface="Calibri"/>
                <a:cs typeface="Calibri"/>
              </a:rPr>
              <a:t>for</a:t>
            </a:r>
            <a:r>
              <a:rPr sz="1200" spc="-1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1E2F62"/>
                </a:solidFill>
                <a:latin typeface="Calibri"/>
                <a:cs typeface="Calibri"/>
              </a:rPr>
              <a:t>international</a:t>
            </a:r>
            <a:r>
              <a:rPr sz="1200" spc="-1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45" dirty="0">
                <a:solidFill>
                  <a:srgbClr val="1E2F62"/>
                </a:solidFill>
                <a:latin typeface="Calibri"/>
                <a:cs typeface="Calibri"/>
              </a:rPr>
              <a:t>transfers.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57332" y="252843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8633" y="0"/>
                </a:moveTo>
                <a:lnTo>
                  <a:pt x="21935" y="0"/>
                </a:lnTo>
                <a:lnTo>
                  <a:pt x="18699" y="640"/>
                </a:lnTo>
                <a:lnTo>
                  <a:pt x="0" y="21935"/>
                </a:lnTo>
                <a:lnTo>
                  <a:pt x="0" y="28633"/>
                </a:lnTo>
                <a:lnTo>
                  <a:pt x="21935" y="50568"/>
                </a:lnTo>
                <a:lnTo>
                  <a:pt x="28633" y="50568"/>
                </a:lnTo>
                <a:lnTo>
                  <a:pt x="50568" y="28633"/>
                </a:lnTo>
                <a:lnTo>
                  <a:pt x="50568" y="25284"/>
                </a:lnTo>
                <a:lnTo>
                  <a:pt x="50568" y="21935"/>
                </a:lnTo>
                <a:lnTo>
                  <a:pt x="31858" y="640"/>
                </a:lnTo>
                <a:lnTo>
                  <a:pt x="28633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357332" y="2823416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8633" y="0"/>
                </a:moveTo>
                <a:lnTo>
                  <a:pt x="21935" y="0"/>
                </a:lnTo>
                <a:lnTo>
                  <a:pt x="18699" y="640"/>
                </a:lnTo>
                <a:lnTo>
                  <a:pt x="0" y="21935"/>
                </a:lnTo>
                <a:lnTo>
                  <a:pt x="0" y="28633"/>
                </a:lnTo>
                <a:lnTo>
                  <a:pt x="21935" y="50568"/>
                </a:lnTo>
                <a:lnTo>
                  <a:pt x="28633" y="50568"/>
                </a:lnTo>
                <a:lnTo>
                  <a:pt x="50568" y="28633"/>
                </a:lnTo>
                <a:lnTo>
                  <a:pt x="50568" y="25284"/>
                </a:lnTo>
                <a:lnTo>
                  <a:pt x="50568" y="21935"/>
                </a:lnTo>
                <a:lnTo>
                  <a:pt x="31858" y="640"/>
                </a:lnTo>
                <a:lnTo>
                  <a:pt x="28633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357332" y="3118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8633" y="0"/>
                </a:moveTo>
                <a:lnTo>
                  <a:pt x="21935" y="0"/>
                </a:lnTo>
                <a:lnTo>
                  <a:pt x="18699" y="640"/>
                </a:lnTo>
                <a:lnTo>
                  <a:pt x="0" y="21935"/>
                </a:lnTo>
                <a:lnTo>
                  <a:pt x="0" y="28633"/>
                </a:lnTo>
                <a:lnTo>
                  <a:pt x="21935" y="50568"/>
                </a:lnTo>
                <a:lnTo>
                  <a:pt x="28633" y="50568"/>
                </a:lnTo>
                <a:lnTo>
                  <a:pt x="50568" y="28633"/>
                </a:lnTo>
                <a:lnTo>
                  <a:pt x="50568" y="25284"/>
                </a:lnTo>
                <a:lnTo>
                  <a:pt x="50568" y="21935"/>
                </a:lnTo>
                <a:lnTo>
                  <a:pt x="31858" y="640"/>
                </a:lnTo>
                <a:lnTo>
                  <a:pt x="28633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57332" y="341338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8633" y="0"/>
                </a:moveTo>
                <a:lnTo>
                  <a:pt x="21935" y="0"/>
                </a:lnTo>
                <a:lnTo>
                  <a:pt x="18699" y="640"/>
                </a:lnTo>
                <a:lnTo>
                  <a:pt x="0" y="21935"/>
                </a:lnTo>
                <a:lnTo>
                  <a:pt x="0" y="28633"/>
                </a:lnTo>
                <a:lnTo>
                  <a:pt x="21935" y="50568"/>
                </a:lnTo>
                <a:lnTo>
                  <a:pt x="28633" y="50568"/>
                </a:lnTo>
                <a:lnTo>
                  <a:pt x="50568" y="28633"/>
                </a:lnTo>
                <a:lnTo>
                  <a:pt x="50568" y="25284"/>
                </a:lnTo>
                <a:lnTo>
                  <a:pt x="50568" y="21935"/>
                </a:lnTo>
                <a:lnTo>
                  <a:pt x="31858" y="640"/>
                </a:lnTo>
                <a:lnTo>
                  <a:pt x="28633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57332" y="370836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8633" y="0"/>
                </a:moveTo>
                <a:lnTo>
                  <a:pt x="21935" y="0"/>
                </a:lnTo>
                <a:lnTo>
                  <a:pt x="18699" y="640"/>
                </a:lnTo>
                <a:lnTo>
                  <a:pt x="0" y="21935"/>
                </a:lnTo>
                <a:lnTo>
                  <a:pt x="0" y="28633"/>
                </a:lnTo>
                <a:lnTo>
                  <a:pt x="21935" y="50568"/>
                </a:lnTo>
                <a:lnTo>
                  <a:pt x="28633" y="50568"/>
                </a:lnTo>
                <a:lnTo>
                  <a:pt x="50568" y="28633"/>
                </a:lnTo>
                <a:lnTo>
                  <a:pt x="50568" y="25284"/>
                </a:lnTo>
                <a:lnTo>
                  <a:pt x="50568" y="21935"/>
                </a:lnTo>
                <a:lnTo>
                  <a:pt x="31858" y="640"/>
                </a:lnTo>
                <a:lnTo>
                  <a:pt x="28633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310920" y="4058076"/>
            <a:ext cx="926465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114" dirty="0">
                <a:solidFill>
                  <a:srgbClr val="091C52"/>
                </a:solidFill>
                <a:latin typeface="Calibri"/>
                <a:cs typeface="Calibri"/>
              </a:rPr>
              <a:t>Reasons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357332" y="4694456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8633" y="0"/>
                </a:moveTo>
                <a:lnTo>
                  <a:pt x="21935" y="0"/>
                </a:lnTo>
                <a:lnTo>
                  <a:pt x="18699" y="640"/>
                </a:lnTo>
                <a:lnTo>
                  <a:pt x="0" y="21935"/>
                </a:lnTo>
                <a:lnTo>
                  <a:pt x="0" y="28633"/>
                </a:lnTo>
                <a:lnTo>
                  <a:pt x="21935" y="50568"/>
                </a:lnTo>
                <a:lnTo>
                  <a:pt x="28633" y="50568"/>
                </a:lnTo>
                <a:lnTo>
                  <a:pt x="50568" y="28633"/>
                </a:lnTo>
                <a:lnTo>
                  <a:pt x="50568" y="25284"/>
                </a:lnTo>
                <a:lnTo>
                  <a:pt x="50568" y="21935"/>
                </a:lnTo>
                <a:lnTo>
                  <a:pt x="31858" y="640"/>
                </a:lnTo>
                <a:lnTo>
                  <a:pt x="28633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553492" y="4597475"/>
            <a:ext cx="2800985" cy="1387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95" dirty="0">
                <a:solidFill>
                  <a:srgbClr val="1E2F62"/>
                </a:solidFill>
                <a:latin typeface="Calibri"/>
                <a:cs typeface="Calibri"/>
              </a:rPr>
              <a:t>Weak</a:t>
            </a:r>
            <a:r>
              <a:rPr sz="1200" spc="-2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1E2F62"/>
                </a:solidFill>
                <a:latin typeface="Calibri"/>
                <a:cs typeface="Calibri"/>
              </a:rPr>
              <a:t>network</a:t>
            </a:r>
            <a:r>
              <a:rPr sz="1200" spc="-2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45" dirty="0">
                <a:solidFill>
                  <a:srgbClr val="1E2F62"/>
                </a:solidFill>
                <a:latin typeface="Calibri"/>
                <a:cs typeface="Calibri"/>
              </a:rPr>
              <a:t>security.</a:t>
            </a:r>
            <a:endParaRPr sz="1200">
              <a:latin typeface="Calibri"/>
              <a:cs typeface="Calibri"/>
            </a:endParaRPr>
          </a:p>
          <a:p>
            <a:pPr marL="12700" marR="734695">
              <a:lnSpc>
                <a:spcPct val="161300"/>
              </a:lnSpc>
            </a:pPr>
            <a:r>
              <a:rPr sz="1200" spc="114" dirty="0">
                <a:solidFill>
                  <a:srgbClr val="1E2F62"/>
                </a:solidFill>
                <a:latin typeface="Calibri"/>
                <a:cs typeface="Calibri"/>
              </a:rPr>
              <a:t>Lack</a:t>
            </a:r>
            <a:r>
              <a:rPr sz="1200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1E2F62"/>
                </a:solidFill>
                <a:latin typeface="Calibri"/>
                <a:cs typeface="Calibri"/>
              </a:rPr>
              <a:t>of</a:t>
            </a:r>
            <a:r>
              <a:rPr sz="1200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1E2F62"/>
                </a:solidFill>
                <a:latin typeface="Calibri"/>
                <a:cs typeface="Calibri"/>
              </a:rPr>
              <a:t>real-</a:t>
            </a:r>
            <a:r>
              <a:rPr sz="1200" spc="75" dirty="0">
                <a:solidFill>
                  <a:srgbClr val="1E2F62"/>
                </a:solidFill>
                <a:latin typeface="Calibri"/>
                <a:cs typeface="Calibri"/>
              </a:rPr>
              <a:t>time</a:t>
            </a:r>
            <a:r>
              <a:rPr sz="1200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1E2F62"/>
                </a:solidFill>
                <a:latin typeface="Calibri"/>
                <a:cs typeface="Calibri"/>
              </a:rPr>
              <a:t>monitoring. </a:t>
            </a:r>
            <a:r>
              <a:rPr sz="1200" spc="70" dirty="0">
                <a:solidFill>
                  <a:srgbClr val="1E2F62"/>
                </a:solidFill>
                <a:latin typeface="Calibri"/>
                <a:cs typeface="Calibri"/>
              </a:rPr>
              <a:t>Poor</a:t>
            </a:r>
            <a:r>
              <a:rPr sz="1200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75" dirty="0">
                <a:solidFill>
                  <a:srgbClr val="1E2F62"/>
                </a:solidFill>
                <a:latin typeface="Calibri"/>
                <a:cs typeface="Calibri"/>
              </a:rPr>
              <a:t>security</a:t>
            </a:r>
            <a:r>
              <a:rPr sz="1200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45" dirty="0">
                <a:solidFill>
                  <a:srgbClr val="1E2F62"/>
                </a:solidFill>
                <a:latin typeface="Calibri"/>
                <a:cs typeface="Calibri"/>
              </a:rPr>
              <a:t>controls.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61300"/>
              </a:lnSpc>
            </a:pPr>
            <a:r>
              <a:rPr sz="1200" spc="65" dirty="0">
                <a:solidFill>
                  <a:srgbClr val="1E2F62"/>
                </a:solidFill>
                <a:latin typeface="Calibri"/>
                <a:cs typeface="Calibri"/>
              </a:rPr>
              <a:t>Inadequate</a:t>
            </a:r>
            <a:r>
              <a:rPr sz="1200" spc="-2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70" dirty="0">
                <a:solidFill>
                  <a:srgbClr val="1E2F62"/>
                </a:solidFill>
                <a:latin typeface="Calibri"/>
                <a:cs typeface="Calibri"/>
              </a:rPr>
              <a:t>incident</a:t>
            </a:r>
            <a:r>
              <a:rPr sz="1200" spc="-1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80" dirty="0">
                <a:solidFill>
                  <a:srgbClr val="1E2F62"/>
                </a:solidFill>
                <a:latin typeface="Calibri"/>
                <a:cs typeface="Calibri"/>
              </a:rPr>
              <a:t>response</a:t>
            </a:r>
            <a:r>
              <a:rPr sz="1200" spc="-1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1E2F62"/>
                </a:solidFill>
                <a:latin typeface="Calibri"/>
                <a:cs typeface="Calibri"/>
              </a:rPr>
              <a:t>planning. </a:t>
            </a:r>
            <a:r>
              <a:rPr sz="1200" spc="65" dirty="0">
                <a:solidFill>
                  <a:srgbClr val="1E2F62"/>
                </a:solidFill>
                <a:latin typeface="Calibri"/>
                <a:cs typeface="Calibri"/>
              </a:rPr>
              <a:t>Insufficient</a:t>
            </a:r>
            <a:r>
              <a:rPr sz="1200" spc="-2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70" dirty="0">
                <a:solidFill>
                  <a:srgbClr val="1E2F62"/>
                </a:solidFill>
                <a:latin typeface="Calibri"/>
                <a:cs typeface="Calibri"/>
              </a:rPr>
              <a:t>employee</a:t>
            </a:r>
            <a:r>
              <a:rPr sz="1200" spc="-2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1E2F62"/>
                </a:solidFill>
                <a:latin typeface="Calibri"/>
                <a:cs typeface="Calibri"/>
              </a:rPr>
              <a:t>awareness.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357332" y="498944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8633" y="0"/>
                </a:moveTo>
                <a:lnTo>
                  <a:pt x="21935" y="0"/>
                </a:lnTo>
                <a:lnTo>
                  <a:pt x="18699" y="640"/>
                </a:lnTo>
                <a:lnTo>
                  <a:pt x="0" y="21935"/>
                </a:lnTo>
                <a:lnTo>
                  <a:pt x="0" y="28633"/>
                </a:lnTo>
                <a:lnTo>
                  <a:pt x="21935" y="50568"/>
                </a:lnTo>
                <a:lnTo>
                  <a:pt x="28633" y="50568"/>
                </a:lnTo>
                <a:lnTo>
                  <a:pt x="50568" y="28633"/>
                </a:lnTo>
                <a:lnTo>
                  <a:pt x="50568" y="25284"/>
                </a:lnTo>
                <a:lnTo>
                  <a:pt x="50568" y="21935"/>
                </a:lnTo>
                <a:lnTo>
                  <a:pt x="31858" y="640"/>
                </a:lnTo>
                <a:lnTo>
                  <a:pt x="28633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57332" y="528442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8633" y="0"/>
                </a:moveTo>
                <a:lnTo>
                  <a:pt x="21935" y="0"/>
                </a:lnTo>
                <a:lnTo>
                  <a:pt x="18699" y="640"/>
                </a:lnTo>
                <a:lnTo>
                  <a:pt x="0" y="21935"/>
                </a:lnTo>
                <a:lnTo>
                  <a:pt x="0" y="28633"/>
                </a:lnTo>
                <a:lnTo>
                  <a:pt x="21935" y="50565"/>
                </a:lnTo>
                <a:lnTo>
                  <a:pt x="28633" y="50565"/>
                </a:lnTo>
                <a:lnTo>
                  <a:pt x="50568" y="28633"/>
                </a:lnTo>
                <a:lnTo>
                  <a:pt x="50568" y="25284"/>
                </a:lnTo>
                <a:lnTo>
                  <a:pt x="50568" y="21935"/>
                </a:lnTo>
                <a:lnTo>
                  <a:pt x="31858" y="640"/>
                </a:lnTo>
                <a:lnTo>
                  <a:pt x="28633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357332" y="5579409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8633" y="0"/>
                </a:moveTo>
                <a:lnTo>
                  <a:pt x="21935" y="0"/>
                </a:lnTo>
                <a:lnTo>
                  <a:pt x="18699" y="640"/>
                </a:lnTo>
                <a:lnTo>
                  <a:pt x="0" y="21929"/>
                </a:lnTo>
                <a:lnTo>
                  <a:pt x="0" y="28633"/>
                </a:lnTo>
                <a:lnTo>
                  <a:pt x="21935" y="50564"/>
                </a:lnTo>
                <a:lnTo>
                  <a:pt x="28633" y="50564"/>
                </a:lnTo>
                <a:lnTo>
                  <a:pt x="50568" y="28633"/>
                </a:lnTo>
                <a:lnTo>
                  <a:pt x="50568" y="25284"/>
                </a:lnTo>
                <a:lnTo>
                  <a:pt x="50568" y="21929"/>
                </a:lnTo>
                <a:lnTo>
                  <a:pt x="31858" y="640"/>
                </a:lnTo>
                <a:lnTo>
                  <a:pt x="28633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357332" y="587439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8633" y="0"/>
                </a:moveTo>
                <a:lnTo>
                  <a:pt x="21935" y="0"/>
                </a:lnTo>
                <a:lnTo>
                  <a:pt x="18699" y="640"/>
                </a:lnTo>
                <a:lnTo>
                  <a:pt x="0" y="21929"/>
                </a:lnTo>
                <a:lnTo>
                  <a:pt x="0" y="28633"/>
                </a:lnTo>
                <a:lnTo>
                  <a:pt x="21935" y="50564"/>
                </a:lnTo>
                <a:lnTo>
                  <a:pt x="28633" y="50564"/>
                </a:lnTo>
                <a:lnTo>
                  <a:pt x="50568" y="28633"/>
                </a:lnTo>
                <a:lnTo>
                  <a:pt x="50568" y="25284"/>
                </a:lnTo>
                <a:lnTo>
                  <a:pt x="50568" y="21929"/>
                </a:lnTo>
                <a:lnTo>
                  <a:pt x="31858" y="640"/>
                </a:lnTo>
                <a:lnTo>
                  <a:pt x="28633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8387469" y="5907028"/>
            <a:ext cx="1642110" cy="540385"/>
            <a:chOff x="8387469" y="5907028"/>
            <a:chExt cx="1642110" cy="54038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76992" y="5985306"/>
              <a:ext cx="1552457" cy="37083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394396" y="5913955"/>
              <a:ext cx="1614170" cy="527050"/>
            </a:xfrm>
            <a:custGeom>
              <a:avLst/>
              <a:gdLst/>
              <a:ahLst/>
              <a:cxnLst/>
              <a:rect l="l" t="t" r="r" b="b"/>
              <a:pathLst>
                <a:path w="1614170" h="527050">
                  <a:moveTo>
                    <a:pt x="1614040" y="0"/>
                  </a:moveTo>
                  <a:lnTo>
                    <a:pt x="0" y="0"/>
                  </a:lnTo>
                  <a:lnTo>
                    <a:pt x="0" y="526468"/>
                  </a:lnTo>
                  <a:lnTo>
                    <a:pt x="1614040" y="526468"/>
                  </a:lnTo>
                  <a:lnTo>
                    <a:pt x="16140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394396" y="5913955"/>
              <a:ext cx="1614170" cy="527050"/>
            </a:xfrm>
            <a:custGeom>
              <a:avLst/>
              <a:gdLst/>
              <a:ahLst/>
              <a:cxnLst/>
              <a:rect l="l" t="t" r="r" b="b"/>
              <a:pathLst>
                <a:path w="1614170" h="527050">
                  <a:moveTo>
                    <a:pt x="0" y="526468"/>
                  </a:moveTo>
                  <a:lnTo>
                    <a:pt x="1614040" y="526468"/>
                  </a:lnTo>
                  <a:lnTo>
                    <a:pt x="1614040" y="0"/>
                  </a:lnTo>
                  <a:lnTo>
                    <a:pt x="0" y="0"/>
                  </a:lnTo>
                  <a:lnTo>
                    <a:pt x="0" y="526468"/>
                  </a:lnTo>
                  <a:close/>
                </a:path>
              </a:pathLst>
            </a:custGeom>
            <a:ln w="138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626599" y="5898325"/>
              <a:ext cx="1675764" cy="516890"/>
            </a:xfrm>
            <a:custGeom>
              <a:avLst/>
              <a:gdLst/>
              <a:ahLst/>
              <a:cxnLst/>
              <a:rect l="l" t="t" r="r" b="b"/>
              <a:pathLst>
                <a:path w="1675765" h="516889">
                  <a:moveTo>
                    <a:pt x="1675356" y="0"/>
                  </a:moveTo>
                  <a:lnTo>
                    <a:pt x="0" y="0"/>
                  </a:lnTo>
                  <a:lnTo>
                    <a:pt x="0" y="516698"/>
                  </a:lnTo>
                  <a:lnTo>
                    <a:pt x="1675356" y="516698"/>
                  </a:lnTo>
                  <a:lnTo>
                    <a:pt x="16753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26599" y="5898325"/>
              <a:ext cx="1675764" cy="516890"/>
            </a:xfrm>
            <a:custGeom>
              <a:avLst/>
              <a:gdLst/>
              <a:ahLst/>
              <a:cxnLst/>
              <a:rect l="l" t="t" r="r" b="b"/>
              <a:pathLst>
                <a:path w="1675765" h="516889">
                  <a:moveTo>
                    <a:pt x="0" y="516698"/>
                  </a:moveTo>
                  <a:lnTo>
                    <a:pt x="1675356" y="516698"/>
                  </a:lnTo>
                  <a:lnTo>
                    <a:pt x="1675356" y="0"/>
                  </a:lnTo>
                  <a:lnTo>
                    <a:pt x="0" y="0"/>
                  </a:lnTo>
                  <a:lnTo>
                    <a:pt x="0" y="516698"/>
                  </a:lnTo>
                  <a:close/>
                </a:path>
              </a:pathLst>
            </a:custGeom>
            <a:ln w="156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87375" y="1244600"/>
            <a:ext cx="141033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310" dirty="0"/>
              <a:t>Losses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581025" y="2057399"/>
            <a:ext cx="5962650" cy="657225"/>
            <a:chOff x="581025" y="2057399"/>
            <a:chExt cx="5962650" cy="657225"/>
          </a:xfrm>
        </p:grpSpPr>
        <p:sp>
          <p:nvSpPr>
            <p:cNvPr id="9" name="object 9"/>
            <p:cNvSpPr/>
            <p:nvPr/>
          </p:nvSpPr>
          <p:spPr>
            <a:xfrm>
              <a:off x="600075" y="2066924"/>
              <a:ext cx="5934075" cy="638175"/>
            </a:xfrm>
            <a:custGeom>
              <a:avLst/>
              <a:gdLst/>
              <a:ahLst/>
              <a:cxnLst/>
              <a:rect l="l" t="t" r="r" b="b"/>
              <a:pathLst>
                <a:path w="5934075" h="638175">
                  <a:moveTo>
                    <a:pt x="5822835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571500"/>
                  </a:lnTo>
                  <a:lnTo>
                    <a:pt x="0" y="575881"/>
                  </a:lnTo>
                  <a:lnTo>
                    <a:pt x="15622" y="612178"/>
                  </a:lnTo>
                  <a:lnTo>
                    <a:pt x="51663" y="634771"/>
                  </a:lnTo>
                  <a:lnTo>
                    <a:pt x="71194" y="638175"/>
                  </a:lnTo>
                  <a:lnTo>
                    <a:pt x="5822835" y="638175"/>
                  </a:lnTo>
                  <a:lnTo>
                    <a:pt x="5867793" y="626122"/>
                  </a:lnTo>
                  <a:lnTo>
                    <a:pt x="5904725" y="597776"/>
                  </a:lnTo>
                  <a:lnTo>
                    <a:pt x="5928004" y="557453"/>
                  </a:lnTo>
                  <a:lnTo>
                    <a:pt x="5934075" y="526923"/>
                  </a:lnTo>
                  <a:lnTo>
                    <a:pt x="5934075" y="111239"/>
                  </a:lnTo>
                  <a:lnTo>
                    <a:pt x="5922022" y="66268"/>
                  </a:lnTo>
                  <a:lnTo>
                    <a:pt x="5893676" y="29349"/>
                  </a:lnTo>
                  <a:lnTo>
                    <a:pt x="5853353" y="6070"/>
                  </a:lnTo>
                  <a:lnTo>
                    <a:pt x="5830570" y="762"/>
                  </a:lnTo>
                  <a:lnTo>
                    <a:pt x="58228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0913" y="2057412"/>
              <a:ext cx="5942965" cy="657225"/>
            </a:xfrm>
            <a:custGeom>
              <a:avLst/>
              <a:gdLst/>
              <a:ahLst/>
              <a:cxnLst/>
              <a:rect l="l" t="t" r="r" b="b"/>
              <a:pathLst>
                <a:path w="5942965" h="657225">
                  <a:moveTo>
                    <a:pt x="5942749" y="128587"/>
                  </a:moveTo>
                  <a:lnTo>
                    <a:pt x="5932957" y="79375"/>
                  </a:lnTo>
                  <a:lnTo>
                    <a:pt x="5905538" y="38163"/>
                  </a:lnTo>
                  <a:lnTo>
                    <a:pt x="5905373" y="37973"/>
                  </a:lnTo>
                  <a:lnTo>
                    <a:pt x="5905093" y="37655"/>
                  </a:lnTo>
                  <a:lnTo>
                    <a:pt x="5895695" y="29121"/>
                  </a:lnTo>
                  <a:lnTo>
                    <a:pt x="5885624" y="21640"/>
                  </a:lnTo>
                  <a:lnTo>
                    <a:pt x="5881281" y="19050"/>
                  </a:lnTo>
                  <a:lnTo>
                    <a:pt x="5874842" y="15189"/>
                  </a:lnTo>
                  <a:lnTo>
                    <a:pt x="5826836" y="609"/>
                  </a:lnTo>
                  <a:lnTo>
                    <a:pt x="58141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814161" y="19050"/>
                  </a:lnTo>
                  <a:lnTo>
                    <a:pt x="5856071" y="27381"/>
                  </a:lnTo>
                  <a:lnTo>
                    <a:pt x="5891619" y="51130"/>
                  </a:lnTo>
                  <a:lnTo>
                    <a:pt x="5915355" y="86664"/>
                  </a:lnTo>
                  <a:lnTo>
                    <a:pt x="5923699" y="128587"/>
                  </a:lnTo>
                  <a:lnTo>
                    <a:pt x="5923699" y="528637"/>
                  </a:lnTo>
                  <a:lnTo>
                    <a:pt x="5915355" y="570547"/>
                  </a:lnTo>
                  <a:lnTo>
                    <a:pt x="5892076" y="605586"/>
                  </a:lnTo>
                  <a:lnTo>
                    <a:pt x="5891619" y="606094"/>
                  </a:lnTo>
                  <a:lnTo>
                    <a:pt x="5856071" y="629831"/>
                  </a:lnTo>
                  <a:lnTo>
                    <a:pt x="5814161" y="638175"/>
                  </a:lnTo>
                  <a:lnTo>
                    <a:pt x="75349" y="638175"/>
                  </a:lnTo>
                  <a:lnTo>
                    <a:pt x="33007" y="628548"/>
                  </a:lnTo>
                  <a:lnTo>
                    <a:pt x="1092" y="595896"/>
                  </a:lnTo>
                  <a:lnTo>
                    <a:pt x="0" y="591781"/>
                  </a:lnTo>
                  <a:lnTo>
                    <a:pt x="609" y="595896"/>
                  </a:lnTo>
                  <a:lnTo>
                    <a:pt x="2413" y="603097"/>
                  </a:lnTo>
                  <a:lnTo>
                    <a:pt x="4851" y="609892"/>
                  </a:lnTo>
                  <a:lnTo>
                    <a:pt x="4953" y="610184"/>
                  </a:lnTo>
                  <a:lnTo>
                    <a:pt x="33007" y="644385"/>
                  </a:lnTo>
                  <a:lnTo>
                    <a:pt x="75349" y="657225"/>
                  </a:lnTo>
                  <a:lnTo>
                    <a:pt x="5814161" y="657225"/>
                  </a:lnTo>
                  <a:lnTo>
                    <a:pt x="5863374" y="647433"/>
                  </a:lnTo>
                  <a:lnTo>
                    <a:pt x="5905081" y="619556"/>
                  </a:lnTo>
                  <a:lnTo>
                    <a:pt x="5905538" y="619048"/>
                  </a:lnTo>
                  <a:lnTo>
                    <a:pt x="5913602" y="610184"/>
                  </a:lnTo>
                  <a:lnTo>
                    <a:pt x="5937250" y="565899"/>
                  </a:lnTo>
                  <a:lnTo>
                    <a:pt x="5942749" y="528637"/>
                  </a:lnTo>
                  <a:lnTo>
                    <a:pt x="5942749" y="128587"/>
                  </a:lnTo>
                  <a:close/>
                </a:path>
              </a:pathLst>
            </a:custGeom>
            <a:solidFill>
              <a:srgbClr val="B3C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1025" y="2057399"/>
              <a:ext cx="76200" cy="657225"/>
            </a:xfrm>
            <a:custGeom>
              <a:avLst/>
              <a:gdLst/>
              <a:ahLst/>
              <a:cxnLst/>
              <a:rect l="l" t="t" r="r" b="b"/>
              <a:pathLst>
                <a:path w="76200" h="657225">
                  <a:moveTo>
                    <a:pt x="76200" y="0"/>
                  </a:moveTo>
                  <a:lnTo>
                    <a:pt x="71194" y="0"/>
                  </a:lnTo>
                  <a:lnTo>
                    <a:pt x="66243" y="482"/>
                  </a:lnTo>
                  <a:lnTo>
                    <a:pt x="29706" y="15621"/>
                  </a:lnTo>
                  <a:lnTo>
                    <a:pt x="3884" y="51663"/>
                  </a:lnTo>
                  <a:lnTo>
                    <a:pt x="0" y="71196"/>
                  </a:lnTo>
                  <a:lnTo>
                    <a:pt x="0" y="581025"/>
                  </a:lnTo>
                  <a:lnTo>
                    <a:pt x="0" y="586028"/>
                  </a:lnTo>
                  <a:lnTo>
                    <a:pt x="15622" y="627519"/>
                  </a:lnTo>
                  <a:lnTo>
                    <a:pt x="51663" y="653338"/>
                  </a:lnTo>
                  <a:lnTo>
                    <a:pt x="71194" y="657225"/>
                  </a:lnTo>
                  <a:lnTo>
                    <a:pt x="76200" y="6572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581025" y="2886074"/>
            <a:ext cx="5962650" cy="647700"/>
            <a:chOff x="581025" y="2886074"/>
            <a:chExt cx="5962650" cy="647700"/>
          </a:xfrm>
        </p:grpSpPr>
        <p:sp>
          <p:nvSpPr>
            <p:cNvPr id="13" name="object 13"/>
            <p:cNvSpPr/>
            <p:nvPr/>
          </p:nvSpPr>
          <p:spPr>
            <a:xfrm>
              <a:off x="600075" y="2895599"/>
              <a:ext cx="5934075" cy="628650"/>
            </a:xfrm>
            <a:custGeom>
              <a:avLst/>
              <a:gdLst/>
              <a:ahLst/>
              <a:cxnLst/>
              <a:rect l="l" t="t" r="r" b="b"/>
              <a:pathLst>
                <a:path w="5934075" h="628650">
                  <a:moveTo>
                    <a:pt x="5822835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561975"/>
                  </a:lnTo>
                  <a:lnTo>
                    <a:pt x="0" y="566356"/>
                  </a:lnTo>
                  <a:lnTo>
                    <a:pt x="15622" y="602653"/>
                  </a:lnTo>
                  <a:lnTo>
                    <a:pt x="51663" y="625246"/>
                  </a:lnTo>
                  <a:lnTo>
                    <a:pt x="71194" y="628650"/>
                  </a:lnTo>
                  <a:lnTo>
                    <a:pt x="5822835" y="628650"/>
                  </a:lnTo>
                  <a:lnTo>
                    <a:pt x="5867793" y="616597"/>
                  </a:lnTo>
                  <a:lnTo>
                    <a:pt x="5904725" y="588251"/>
                  </a:lnTo>
                  <a:lnTo>
                    <a:pt x="5928004" y="547928"/>
                  </a:lnTo>
                  <a:lnTo>
                    <a:pt x="5934075" y="517398"/>
                  </a:lnTo>
                  <a:lnTo>
                    <a:pt x="5934075" y="111239"/>
                  </a:lnTo>
                  <a:lnTo>
                    <a:pt x="5922022" y="66268"/>
                  </a:lnTo>
                  <a:lnTo>
                    <a:pt x="5893676" y="29349"/>
                  </a:lnTo>
                  <a:lnTo>
                    <a:pt x="5853353" y="6070"/>
                  </a:lnTo>
                  <a:lnTo>
                    <a:pt x="5830570" y="762"/>
                  </a:lnTo>
                  <a:lnTo>
                    <a:pt x="58228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0913" y="2886087"/>
              <a:ext cx="5942965" cy="647700"/>
            </a:xfrm>
            <a:custGeom>
              <a:avLst/>
              <a:gdLst/>
              <a:ahLst/>
              <a:cxnLst/>
              <a:rect l="l" t="t" r="r" b="b"/>
              <a:pathLst>
                <a:path w="5942965" h="647700">
                  <a:moveTo>
                    <a:pt x="5942749" y="128587"/>
                  </a:moveTo>
                  <a:lnTo>
                    <a:pt x="5932957" y="79375"/>
                  </a:lnTo>
                  <a:lnTo>
                    <a:pt x="5905538" y="38163"/>
                  </a:lnTo>
                  <a:lnTo>
                    <a:pt x="5905373" y="37973"/>
                  </a:lnTo>
                  <a:lnTo>
                    <a:pt x="5905093" y="37655"/>
                  </a:lnTo>
                  <a:lnTo>
                    <a:pt x="5895695" y="29121"/>
                  </a:lnTo>
                  <a:lnTo>
                    <a:pt x="5885624" y="21640"/>
                  </a:lnTo>
                  <a:lnTo>
                    <a:pt x="5881281" y="19050"/>
                  </a:lnTo>
                  <a:lnTo>
                    <a:pt x="5874842" y="15189"/>
                  </a:lnTo>
                  <a:lnTo>
                    <a:pt x="5826836" y="609"/>
                  </a:lnTo>
                  <a:lnTo>
                    <a:pt x="58141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814161" y="19050"/>
                  </a:lnTo>
                  <a:lnTo>
                    <a:pt x="5856071" y="27381"/>
                  </a:lnTo>
                  <a:lnTo>
                    <a:pt x="5891619" y="51130"/>
                  </a:lnTo>
                  <a:lnTo>
                    <a:pt x="5915355" y="86664"/>
                  </a:lnTo>
                  <a:lnTo>
                    <a:pt x="5923699" y="128587"/>
                  </a:lnTo>
                  <a:lnTo>
                    <a:pt x="5923699" y="519112"/>
                  </a:lnTo>
                  <a:lnTo>
                    <a:pt x="5915355" y="561022"/>
                  </a:lnTo>
                  <a:lnTo>
                    <a:pt x="5892076" y="596061"/>
                  </a:lnTo>
                  <a:lnTo>
                    <a:pt x="5891619" y="596569"/>
                  </a:lnTo>
                  <a:lnTo>
                    <a:pt x="5856071" y="620306"/>
                  </a:lnTo>
                  <a:lnTo>
                    <a:pt x="5814161" y="628650"/>
                  </a:lnTo>
                  <a:lnTo>
                    <a:pt x="75349" y="628650"/>
                  </a:lnTo>
                  <a:lnTo>
                    <a:pt x="33007" y="619023"/>
                  </a:lnTo>
                  <a:lnTo>
                    <a:pt x="1092" y="586371"/>
                  </a:lnTo>
                  <a:lnTo>
                    <a:pt x="0" y="582256"/>
                  </a:lnTo>
                  <a:lnTo>
                    <a:pt x="609" y="586371"/>
                  </a:lnTo>
                  <a:lnTo>
                    <a:pt x="21475" y="625386"/>
                  </a:lnTo>
                  <a:lnTo>
                    <a:pt x="60490" y="646239"/>
                  </a:lnTo>
                  <a:lnTo>
                    <a:pt x="75349" y="647700"/>
                  </a:lnTo>
                  <a:lnTo>
                    <a:pt x="5814161" y="647700"/>
                  </a:lnTo>
                  <a:lnTo>
                    <a:pt x="5863374" y="637908"/>
                  </a:lnTo>
                  <a:lnTo>
                    <a:pt x="5905081" y="610031"/>
                  </a:lnTo>
                  <a:lnTo>
                    <a:pt x="5905538" y="609523"/>
                  </a:lnTo>
                  <a:lnTo>
                    <a:pt x="5913602" y="600659"/>
                  </a:lnTo>
                  <a:lnTo>
                    <a:pt x="5937250" y="556374"/>
                  </a:lnTo>
                  <a:lnTo>
                    <a:pt x="5942749" y="519112"/>
                  </a:lnTo>
                  <a:lnTo>
                    <a:pt x="5942749" y="128587"/>
                  </a:lnTo>
                  <a:close/>
                </a:path>
              </a:pathLst>
            </a:custGeom>
            <a:solidFill>
              <a:srgbClr val="B3C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1025" y="2886074"/>
              <a:ext cx="76200" cy="647700"/>
            </a:xfrm>
            <a:custGeom>
              <a:avLst/>
              <a:gdLst/>
              <a:ahLst/>
              <a:cxnLst/>
              <a:rect l="l" t="t" r="r" b="b"/>
              <a:pathLst>
                <a:path w="76200" h="647700">
                  <a:moveTo>
                    <a:pt x="76200" y="0"/>
                  </a:moveTo>
                  <a:lnTo>
                    <a:pt x="71194" y="0"/>
                  </a:lnTo>
                  <a:lnTo>
                    <a:pt x="66243" y="482"/>
                  </a:lnTo>
                  <a:lnTo>
                    <a:pt x="29706" y="15621"/>
                  </a:lnTo>
                  <a:lnTo>
                    <a:pt x="3884" y="51663"/>
                  </a:lnTo>
                  <a:lnTo>
                    <a:pt x="0" y="71196"/>
                  </a:lnTo>
                  <a:lnTo>
                    <a:pt x="0" y="571500"/>
                  </a:lnTo>
                  <a:lnTo>
                    <a:pt x="0" y="576503"/>
                  </a:lnTo>
                  <a:lnTo>
                    <a:pt x="15622" y="617994"/>
                  </a:lnTo>
                  <a:lnTo>
                    <a:pt x="51663" y="643813"/>
                  </a:lnTo>
                  <a:lnTo>
                    <a:pt x="71194" y="647700"/>
                  </a:lnTo>
                  <a:lnTo>
                    <a:pt x="76200" y="6477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581025" y="3705225"/>
            <a:ext cx="5962650" cy="647700"/>
            <a:chOff x="581025" y="3705225"/>
            <a:chExt cx="5962650" cy="647700"/>
          </a:xfrm>
        </p:grpSpPr>
        <p:sp>
          <p:nvSpPr>
            <p:cNvPr id="17" name="object 17"/>
            <p:cNvSpPr/>
            <p:nvPr/>
          </p:nvSpPr>
          <p:spPr>
            <a:xfrm>
              <a:off x="600075" y="3714750"/>
              <a:ext cx="5934075" cy="628650"/>
            </a:xfrm>
            <a:custGeom>
              <a:avLst/>
              <a:gdLst/>
              <a:ahLst/>
              <a:cxnLst/>
              <a:rect l="l" t="t" r="r" b="b"/>
              <a:pathLst>
                <a:path w="5934075" h="628650">
                  <a:moveTo>
                    <a:pt x="5822835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561975"/>
                  </a:lnTo>
                  <a:lnTo>
                    <a:pt x="0" y="566356"/>
                  </a:lnTo>
                  <a:lnTo>
                    <a:pt x="15622" y="602653"/>
                  </a:lnTo>
                  <a:lnTo>
                    <a:pt x="51663" y="625246"/>
                  </a:lnTo>
                  <a:lnTo>
                    <a:pt x="71194" y="628650"/>
                  </a:lnTo>
                  <a:lnTo>
                    <a:pt x="5822835" y="628650"/>
                  </a:lnTo>
                  <a:lnTo>
                    <a:pt x="5867793" y="616597"/>
                  </a:lnTo>
                  <a:lnTo>
                    <a:pt x="5904725" y="588251"/>
                  </a:lnTo>
                  <a:lnTo>
                    <a:pt x="5928004" y="547928"/>
                  </a:lnTo>
                  <a:lnTo>
                    <a:pt x="5934075" y="517398"/>
                  </a:lnTo>
                  <a:lnTo>
                    <a:pt x="5934075" y="111239"/>
                  </a:lnTo>
                  <a:lnTo>
                    <a:pt x="5922022" y="66268"/>
                  </a:lnTo>
                  <a:lnTo>
                    <a:pt x="5893676" y="29349"/>
                  </a:lnTo>
                  <a:lnTo>
                    <a:pt x="5853353" y="6070"/>
                  </a:lnTo>
                  <a:lnTo>
                    <a:pt x="5830570" y="762"/>
                  </a:lnTo>
                  <a:lnTo>
                    <a:pt x="58228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0913" y="3705237"/>
              <a:ext cx="5942965" cy="647700"/>
            </a:xfrm>
            <a:custGeom>
              <a:avLst/>
              <a:gdLst/>
              <a:ahLst/>
              <a:cxnLst/>
              <a:rect l="l" t="t" r="r" b="b"/>
              <a:pathLst>
                <a:path w="5942965" h="647700">
                  <a:moveTo>
                    <a:pt x="5942749" y="128587"/>
                  </a:moveTo>
                  <a:lnTo>
                    <a:pt x="5932957" y="79375"/>
                  </a:lnTo>
                  <a:lnTo>
                    <a:pt x="5905538" y="38163"/>
                  </a:lnTo>
                  <a:lnTo>
                    <a:pt x="5905373" y="37973"/>
                  </a:lnTo>
                  <a:lnTo>
                    <a:pt x="5905093" y="37655"/>
                  </a:lnTo>
                  <a:lnTo>
                    <a:pt x="5895695" y="29121"/>
                  </a:lnTo>
                  <a:lnTo>
                    <a:pt x="5885624" y="21640"/>
                  </a:lnTo>
                  <a:lnTo>
                    <a:pt x="5881281" y="19050"/>
                  </a:lnTo>
                  <a:lnTo>
                    <a:pt x="5874842" y="15189"/>
                  </a:lnTo>
                  <a:lnTo>
                    <a:pt x="5826836" y="609"/>
                  </a:lnTo>
                  <a:lnTo>
                    <a:pt x="58141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814161" y="19050"/>
                  </a:lnTo>
                  <a:lnTo>
                    <a:pt x="5856071" y="27381"/>
                  </a:lnTo>
                  <a:lnTo>
                    <a:pt x="5891619" y="51130"/>
                  </a:lnTo>
                  <a:lnTo>
                    <a:pt x="5915355" y="86664"/>
                  </a:lnTo>
                  <a:lnTo>
                    <a:pt x="5923699" y="128587"/>
                  </a:lnTo>
                  <a:lnTo>
                    <a:pt x="5923699" y="519112"/>
                  </a:lnTo>
                  <a:lnTo>
                    <a:pt x="5915355" y="561022"/>
                  </a:lnTo>
                  <a:lnTo>
                    <a:pt x="5892076" y="596061"/>
                  </a:lnTo>
                  <a:lnTo>
                    <a:pt x="5891619" y="596569"/>
                  </a:lnTo>
                  <a:lnTo>
                    <a:pt x="5856071" y="620306"/>
                  </a:lnTo>
                  <a:lnTo>
                    <a:pt x="5814161" y="628650"/>
                  </a:lnTo>
                  <a:lnTo>
                    <a:pt x="75349" y="628650"/>
                  </a:lnTo>
                  <a:lnTo>
                    <a:pt x="33007" y="619023"/>
                  </a:lnTo>
                  <a:lnTo>
                    <a:pt x="1092" y="586371"/>
                  </a:lnTo>
                  <a:lnTo>
                    <a:pt x="0" y="582256"/>
                  </a:lnTo>
                  <a:lnTo>
                    <a:pt x="609" y="586371"/>
                  </a:lnTo>
                  <a:lnTo>
                    <a:pt x="2413" y="593572"/>
                  </a:lnTo>
                  <a:lnTo>
                    <a:pt x="4851" y="600367"/>
                  </a:lnTo>
                  <a:lnTo>
                    <a:pt x="4953" y="600659"/>
                  </a:lnTo>
                  <a:lnTo>
                    <a:pt x="33007" y="634860"/>
                  </a:lnTo>
                  <a:lnTo>
                    <a:pt x="75349" y="647700"/>
                  </a:lnTo>
                  <a:lnTo>
                    <a:pt x="5814161" y="647700"/>
                  </a:lnTo>
                  <a:lnTo>
                    <a:pt x="5863374" y="637908"/>
                  </a:lnTo>
                  <a:lnTo>
                    <a:pt x="5905081" y="610031"/>
                  </a:lnTo>
                  <a:lnTo>
                    <a:pt x="5905538" y="609523"/>
                  </a:lnTo>
                  <a:lnTo>
                    <a:pt x="5913602" y="600659"/>
                  </a:lnTo>
                  <a:lnTo>
                    <a:pt x="5937250" y="556374"/>
                  </a:lnTo>
                  <a:lnTo>
                    <a:pt x="5942749" y="519112"/>
                  </a:lnTo>
                  <a:lnTo>
                    <a:pt x="5942749" y="128587"/>
                  </a:lnTo>
                  <a:close/>
                </a:path>
              </a:pathLst>
            </a:custGeom>
            <a:solidFill>
              <a:srgbClr val="B3C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1025" y="3705225"/>
              <a:ext cx="76200" cy="647700"/>
            </a:xfrm>
            <a:custGeom>
              <a:avLst/>
              <a:gdLst/>
              <a:ahLst/>
              <a:cxnLst/>
              <a:rect l="l" t="t" r="r" b="b"/>
              <a:pathLst>
                <a:path w="76200" h="647700">
                  <a:moveTo>
                    <a:pt x="76200" y="0"/>
                  </a:moveTo>
                  <a:lnTo>
                    <a:pt x="71194" y="0"/>
                  </a:lnTo>
                  <a:lnTo>
                    <a:pt x="66243" y="482"/>
                  </a:lnTo>
                  <a:lnTo>
                    <a:pt x="29706" y="15621"/>
                  </a:lnTo>
                  <a:lnTo>
                    <a:pt x="3884" y="51663"/>
                  </a:lnTo>
                  <a:lnTo>
                    <a:pt x="0" y="71196"/>
                  </a:lnTo>
                  <a:lnTo>
                    <a:pt x="0" y="571500"/>
                  </a:lnTo>
                  <a:lnTo>
                    <a:pt x="0" y="576503"/>
                  </a:lnTo>
                  <a:lnTo>
                    <a:pt x="15622" y="617994"/>
                  </a:lnTo>
                  <a:lnTo>
                    <a:pt x="51663" y="643813"/>
                  </a:lnTo>
                  <a:lnTo>
                    <a:pt x="71194" y="647700"/>
                  </a:lnTo>
                  <a:lnTo>
                    <a:pt x="76200" y="6477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581025" y="4524375"/>
            <a:ext cx="5962650" cy="647700"/>
            <a:chOff x="581025" y="4524375"/>
            <a:chExt cx="5962650" cy="647700"/>
          </a:xfrm>
        </p:grpSpPr>
        <p:sp>
          <p:nvSpPr>
            <p:cNvPr id="21" name="object 21"/>
            <p:cNvSpPr/>
            <p:nvPr/>
          </p:nvSpPr>
          <p:spPr>
            <a:xfrm>
              <a:off x="600075" y="4533900"/>
              <a:ext cx="5934075" cy="628650"/>
            </a:xfrm>
            <a:custGeom>
              <a:avLst/>
              <a:gdLst/>
              <a:ahLst/>
              <a:cxnLst/>
              <a:rect l="l" t="t" r="r" b="b"/>
              <a:pathLst>
                <a:path w="5934075" h="628650">
                  <a:moveTo>
                    <a:pt x="5822835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561975"/>
                  </a:lnTo>
                  <a:lnTo>
                    <a:pt x="0" y="566356"/>
                  </a:lnTo>
                  <a:lnTo>
                    <a:pt x="15622" y="602653"/>
                  </a:lnTo>
                  <a:lnTo>
                    <a:pt x="51663" y="625246"/>
                  </a:lnTo>
                  <a:lnTo>
                    <a:pt x="71194" y="628650"/>
                  </a:lnTo>
                  <a:lnTo>
                    <a:pt x="5822835" y="628650"/>
                  </a:lnTo>
                  <a:lnTo>
                    <a:pt x="5867793" y="616597"/>
                  </a:lnTo>
                  <a:lnTo>
                    <a:pt x="5904725" y="588251"/>
                  </a:lnTo>
                  <a:lnTo>
                    <a:pt x="5928004" y="547928"/>
                  </a:lnTo>
                  <a:lnTo>
                    <a:pt x="5934075" y="517398"/>
                  </a:lnTo>
                  <a:lnTo>
                    <a:pt x="5934075" y="111239"/>
                  </a:lnTo>
                  <a:lnTo>
                    <a:pt x="5922022" y="66268"/>
                  </a:lnTo>
                  <a:lnTo>
                    <a:pt x="5893676" y="29349"/>
                  </a:lnTo>
                  <a:lnTo>
                    <a:pt x="5853353" y="6070"/>
                  </a:lnTo>
                  <a:lnTo>
                    <a:pt x="5830570" y="762"/>
                  </a:lnTo>
                  <a:lnTo>
                    <a:pt x="58228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0913" y="4524387"/>
              <a:ext cx="5942965" cy="647700"/>
            </a:xfrm>
            <a:custGeom>
              <a:avLst/>
              <a:gdLst/>
              <a:ahLst/>
              <a:cxnLst/>
              <a:rect l="l" t="t" r="r" b="b"/>
              <a:pathLst>
                <a:path w="5942965" h="647700">
                  <a:moveTo>
                    <a:pt x="5942749" y="128587"/>
                  </a:moveTo>
                  <a:lnTo>
                    <a:pt x="5932957" y="79375"/>
                  </a:lnTo>
                  <a:lnTo>
                    <a:pt x="5905538" y="38163"/>
                  </a:lnTo>
                  <a:lnTo>
                    <a:pt x="5905373" y="37973"/>
                  </a:lnTo>
                  <a:lnTo>
                    <a:pt x="5905093" y="37655"/>
                  </a:lnTo>
                  <a:lnTo>
                    <a:pt x="5895695" y="29121"/>
                  </a:lnTo>
                  <a:lnTo>
                    <a:pt x="5885624" y="21640"/>
                  </a:lnTo>
                  <a:lnTo>
                    <a:pt x="5881281" y="19050"/>
                  </a:lnTo>
                  <a:lnTo>
                    <a:pt x="5874842" y="15189"/>
                  </a:lnTo>
                  <a:lnTo>
                    <a:pt x="5826836" y="609"/>
                  </a:lnTo>
                  <a:lnTo>
                    <a:pt x="58141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5814161" y="19050"/>
                  </a:lnTo>
                  <a:lnTo>
                    <a:pt x="5856071" y="27381"/>
                  </a:lnTo>
                  <a:lnTo>
                    <a:pt x="5891619" y="51130"/>
                  </a:lnTo>
                  <a:lnTo>
                    <a:pt x="5915355" y="86664"/>
                  </a:lnTo>
                  <a:lnTo>
                    <a:pt x="5923699" y="128587"/>
                  </a:lnTo>
                  <a:lnTo>
                    <a:pt x="5923699" y="519112"/>
                  </a:lnTo>
                  <a:lnTo>
                    <a:pt x="5915355" y="561022"/>
                  </a:lnTo>
                  <a:lnTo>
                    <a:pt x="5892076" y="596061"/>
                  </a:lnTo>
                  <a:lnTo>
                    <a:pt x="5891619" y="596569"/>
                  </a:lnTo>
                  <a:lnTo>
                    <a:pt x="5856071" y="620306"/>
                  </a:lnTo>
                  <a:lnTo>
                    <a:pt x="5814161" y="628650"/>
                  </a:lnTo>
                  <a:lnTo>
                    <a:pt x="75349" y="628650"/>
                  </a:lnTo>
                  <a:lnTo>
                    <a:pt x="33007" y="619023"/>
                  </a:lnTo>
                  <a:lnTo>
                    <a:pt x="1092" y="586371"/>
                  </a:lnTo>
                  <a:lnTo>
                    <a:pt x="0" y="582256"/>
                  </a:lnTo>
                  <a:lnTo>
                    <a:pt x="609" y="586371"/>
                  </a:lnTo>
                  <a:lnTo>
                    <a:pt x="2413" y="593572"/>
                  </a:lnTo>
                  <a:lnTo>
                    <a:pt x="4851" y="600367"/>
                  </a:lnTo>
                  <a:lnTo>
                    <a:pt x="4953" y="600659"/>
                  </a:lnTo>
                  <a:lnTo>
                    <a:pt x="33007" y="634860"/>
                  </a:lnTo>
                  <a:lnTo>
                    <a:pt x="75349" y="647700"/>
                  </a:lnTo>
                  <a:lnTo>
                    <a:pt x="5814161" y="647700"/>
                  </a:lnTo>
                  <a:lnTo>
                    <a:pt x="5863374" y="637908"/>
                  </a:lnTo>
                  <a:lnTo>
                    <a:pt x="5905081" y="610031"/>
                  </a:lnTo>
                  <a:lnTo>
                    <a:pt x="5905538" y="609523"/>
                  </a:lnTo>
                  <a:lnTo>
                    <a:pt x="5913602" y="600659"/>
                  </a:lnTo>
                  <a:lnTo>
                    <a:pt x="5937250" y="556374"/>
                  </a:lnTo>
                  <a:lnTo>
                    <a:pt x="5942749" y="519112"/>
                  </a:lnTo>
                  <a:lnTo>
                    <a:pt x="5942749" y="128587"/>
                  </a:lnTo>
                  <a:close/>
                </a:path>
              </a:pathLst>
            </a:custGeom>
            <a:solidFill>
              <a:srgbClr val="B3C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1025" y="4524375"/>
              <a:ext cx="76200" cy="647700"/>
            </a:xfrm>
            <a:custGeom>
              <a:avLst/>
              <a:gdLst/>
              <a:ahLst/>
              <a:cxnLst/>
              <a:rect l="l" t="t" r="r" b="b"/>
              <a:pathLst>
                <a:path w="76200" h="647700">
                  <a:moveTo>
                    <a:pt x="76200" y="0"/>
                  </a:moveTo>
                  <a:lnTo>
                    <a:pt x="71194" y="0"/>
                  </a:lnTo>
                  <a:lnTo>
                    <a:pt x="66243" y="482"/>
                  </a:lnTo>
                  <a:lnTo>
                    <a:pt x="29706" y="15621"/>
                  </a:lnTo>
                  <a:lnTo>
                    <a:pt x="3884" y="51663"/>
                  </a:lnTo>
                  <a:lnTo>
                    <a:pt x="0" y="71196"/>
                  </a:lnTo>
                  <a:lnTo>
                    <a:pt x="0" y="571500"/>
                  </a:lnTo>
                  <a:lnTo>
                    <a:pt x="0" y="576503"/>
                  </a:lnTo>
                  <a:lnTo>
                    <a:pt x="15622" y="617994"/>
                  </a:lnTo>
                  <a:lnTo>
                    <a:pt x="51663" y="643813"/>
                  </a:lnTo>
                  <a:lnTo>
                    <a:pt x="71194" y="647701"/>
                  </a:lnTo>
                  <a:lnTo>
                    <a:pt x="76200" y="64770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70" dirty="0"/>
              <a:t>Huge</a:t>
            </a:r>
            <a:r>
              <a:rPr spc="-50" dirty="0"/>
              <a:t> </a:t>
            </a:r>
            <a:r>
              <a:rPr spc="100" dirty="0"/>
              <a:t>financial</a:t>
            </a:r>
            <a:r>
              <a:rPr spc="-50" dirty="0"/>
              <a:t> </a:t>
            </a:r>
            <a:r>
              <a:rPr spc="125" dirty="0"/>
              <a:t>loss</a:t>
            </a:r>
            <a:r>
              <a:rPr spc="-45" dirty="0"/>
              <a:t> </a:t>
            </a:r>
            <a:r>
              <a:rPr spc="185" dirty="0"/>
              <a:t>(</a:t>
            </a:r>
            <a:r>
              <a:rPr b="0" spc="185" dirty="0">
                <a:latin typeface="Times New Roman"/>
                <a:cs typeface="Times New Roman"/>
              </a:rPr>
              <a:t>₹</a:t>
            </a:r>
            <a:r>
              <a:rPr spc="185" dirty="0"/>
              <a:t>94</a:t>
            </a:r>
            <a:r>
              <a:rPr spc="-50" dirty="0"/>
              <a:t> </a:t>
            </a:r>
            <a:r>
              <a:rPr spc="65" dirty="0"/>
              <a:t>crore).</a:t>
            </a:r>
          </a:p>
          <a:p>
            <a:pPr marL="12700" marR="2477135">
              <a:lnSpc>
                <a:spcPct val="325800"/>
              </a:lnSpc>
              <a:spcBef>
                <a:spcPts val="75"/>
              </a:spcBef>
            </a:pPr>
            <a:r>
              <a:rPr spc="105" dirty="0"/>
              <a:t>Reputation</a:t>
            </a:r>
            <a:r>
              <a:rPr spc="-10" dirty="0"/>
              <a:t> </a:t>
            </a:r>
            <a:r>
              <a:rPr spc="125" dirty="0"/>
              <a:t>damage. </a:t>
            </a:r>
            <a:r>
              <a:rPr spc="165" dirty="0"/>
              <a:t>Loss</a:t>
            </a:r>
            <a:r>
              <a:rPr spc="-45" dirty="0"/>
              <a:t> </a:t>
            </a:r>
            <a:r>
              <a:rPr spc="95" dirty="0"/>
              <a:t>of</a:t>
            </a:r>
            <a:r>
              <a:rPr spc="-40" dirty="0"/>
              <a:t> </a:t>
            </a:r>
            <a:r>
              <a:rPr spc="140" dirty="0"/>
              <a:t>customer</a:t>
            </a:r>
            <a:r>
              <a:rPr spc="-45" dirty="0"/>
              <a:t> </a:t>
            </a:r>
            <a:r>
              <a:rPr spc="75" dirty="0"/>
              <a:t>trust.</a:t>
            </a:r>
          </a:p>
          <a:p>
            <a:pPr>
              <a:lnSpc>
                <a:spcPct val="100000"/>
              </a:lnSpc>
            </a:pPr>
            <a:endParaRPr spc="75" dirty="0"/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pc="75" dirty="0"/>
          </a:p>
          <a:p>
            <a:pPr marL="12700">
              <a:lnSpc>
                <a:spcPct val="100000"/>
              </a:lnSpc>
            </a:pPr>
            <a:r>
              <a:rPr spc="114" dirty="0"/>
              <a:t>Regulatory</a:t>
            </a:r>
            <a:r>
              <a:rPr spc="-35" dirty="0"/>
              <a:t> </a:t>
            </a:r>
            <a:r>
              <a:rPr spc="105" dirty="0"/>
              <a:t>investigation</a:t>
            </a:r>
            <a:r>
              <a:rPr spc="-35" dirty="0"/>
              <a:t> </a:t>
            </a:r>
            <a:r>
              <a:rPr spc="135" dirty="0"/>
              <a:t>and</a:t>
            </a:r>
            <a:r>
              <a:rPr spc="-35" dirty="0"/>
              <a:t> </a:t>
            </a:r>
            <a:r>
              <a:rPr spc="120" dirty="0"/>
              <a:t>pressure</a:t>
            </a:r>
            <a:r>
              <a:rPr spc="-30" dirty="0"/>
              <a:t> </a:t>
            </a:r>
            <a:r>
              <a:rPr spc="125" dirty="0"/>
              <a:t>from</a:t>
            </a:r>
            <a:r>
              <a:rPr spc="-35" dirty="0"/>
              <a:t> </a:t>
            </a:r>
            <a:r>
              <a:rPr spc="70" dirty="0"/>
              <a:t>RBI.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7375" y="1130300"/>
            <a:ext cx="980440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29" dirty="0"/>
              <a:t>How</a:t>
            </a:r>
            <a:r>
              <a:rPr spc="-105" dirty="0"/>
              <a:t> </a:t>
            </a:r>
            <a:r>
              <a:rPr spc="305" dirty="0"/>
              <a:t>They</a:t>
            </a:r>
            <a:r>
              <a:rPr spc="-100" dirty="0"/>
              <a:t> </a:t>
            </a:r>
            <a:r>
              <a:rPr spc="295" dirty="0"/>
              <a:t>Secured</a:t>
            </a:r>
            <a:r>
              <a:rPr spc="-100" dirty="0"/>
              <a:t> </a:t>
            </a:r>
            <a:r>
              <a:rPr spc="229" dirty="0"/>
              <a:t>the</a:t>
            </a:r>
            <a:r>
              <a:rPr spc="-100" dirty="0"/>
              <a:t> </a:t>
            </a:r>
            <a:r>
              <a:rPr spc="305" dirty="0"/>
              <a:t>System</a:t>
            </a:r>
            <a:r>
              <a:rPr spc="-100" dirty="0"/>
              <a:t> </a:t>
            </a:r>
            <a:r>
              <a:rPr spc="200" dirty="0"/>
              <a:t>(After</a:t>
            </a:r>
            <a:r>
              <a:rPr spc="-100" dirty="0"/>
              <a:t> </a:t>
            </a:r>
            <a:r>
              <a:rPr spc="229" dirty="0"/>
              <a:t>the</a:t>
            </a:r>
            <a:r>
              <a:rPr spc="-100" dirty="0"/>
              <a:t> </a:t>
            </a:r>
            <a:r>
              <a:rPr spc="245" dirty="0"/>
              <a:t>Attack)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3505" y="2006600"/>
            <a:ext cx="205104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25" dirty="0">
                <a:solidFill>
                  <a:srgbClr val="1E2F62"/>
                </a:solidFill>
                <a:latin typeface="Calibri"/>
                <a:cs typeface="Calibri"/>
              </a:rPr>
              <a:t>01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0075" y="2305049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50" y="0"/>
                </a:moveTo>
                <a:lnTo>
                  <a:pt x="0" y="0"/>
                </a:lnTo>
                <a:lnTo>
                  <a:pt x="0" y="19050"/>
                </a:lnTo>
                <a:lnTo>
                  <a:pt x="3295650" y="19050"/>
                </a:lnTo>
                <a:lnTo>
                  <a:pt x="3295650" y="0"/>
                </a:lnTo>
                <a:close/>
              </a:path>
            </a:pathLst>
          </a:custGeom>
          <a:solidFill>
            <a:srgbClr val="83C1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87375" y="2411412"/>
            <a:ext cx="3315970" cy="5492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sz="1650" b="1" spc="130" dirty="0">
                <a:solidFill>
                  <a:srgbClr val="1E2F62"/>
                </a:solidFill>
                <a:latin typeface="Calibri"/>
                <a:cs typeface="Calibri"/>
              </a:rPr>
              <a:t>Implemented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35" dirty="0">
                <a:solidFill>
                  <a:srgbClr val="1E2F62"/>
                </a:solidFill>
                <a:latin typeface="Calibri"/>
                <a:cs typeface="Calibri"/>
              </a:rPr>
              <a:t>strong</a:t>
            </a:r>
            <a:r>
              <a:rPr sz="1650" b="1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80" dirty="0">
                <a:solidFill>
                  <a:srgbClr val="1E2F62"/>
                </a:solidFill>
                <a:latin typeface="Calibri"/>
                <a:cs typeface="Calibri"/>
              </a:rPr>
              <a:t>Information </a:t>
            </a:r>
            <a:r>
              <a:rPr sz="1650" b="1" spc="130" dirty="0">
                <a:solidFill>
                  <a:srgbClr val="1E2F62"/>
                </a:solidFill>
                <a:latin typeface="Calibri"/>
                <a:cs typeface="Calibri"/>
              </a:rPr>
              <a:t>Security</a:t>
            </a:r>
            <a:r>
              <a:rPr sz="1650" b="1" spc="-2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90" dirty="0">
                <a:solidFill>
                  <a:srgbClr val="1E2F62"/>
                </a:solidFill>
                <a:latin typeface="Calibri"/>
                <a:cs typeface="Calibri"/>
              </a:rPr>
              <a:t>Policies.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36910" y="2006600"/>
            <a:ext cx="23241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85" dirty="0">
                <a:solidFill>
                  <a:srgbClr val="1E2F62"/>
                </a:solidFill>
                <a:latin typeface="Calibri"/>
                <a:cs typeface="Calibri"/>
              </a:rPr>
              <a:t>02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67175" y="2305049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50" y="0"/>
                </a:moveTo>
                <a:lnTo>
                  <a:pt x="0" y="0"/>
                </a:lnTo>
                <a:lnTo>
                  <a:pt x="0" y="19050"/>
                </a:lnTo>
                <a:lnTo>
                  <a:pt x="3295650" y="19050"/>
                </a:lnTo>
                <a:lnTo>
                  <a:pt x="3295650" y="0"/>
                </a:lnTo>
                <a:close/>
              </a:path>
            </a:pathLst>
          </a:custGeom>
          <a:solidFill>
            <a:srgbClr val="83C1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54475" y="2411412"/>
            <a:ext cx="2414270" cy="5492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sz="1650" b="1" spc="114" dirty="0">
                <a:solidFill>
                  <a:srgbClr val="1E2F62"/>
                </a:solidFill>
                <a:latin typeface="Calibri"/>
                <a:cs typeface="Calibri"/>
              </a:rPr>
              <a:t>Introduced</a:t>
            </a:r>
            <a:r>
              <a:rPr sz="1650" b="1" spc="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10" dirty="0">
                <a:solidFill>
                  <a:srgbClr val="1E2F62"/>
                </a:solidFill>
                <a:latin typeface="Calibri"/>
                <a:cs typeface="Calibri"/>
              </a:rPr>
              <a:t>real-</a:t>
            </a:r>
            <a:r>
              <a:rPr sz="1650" b="1" spc="105" dirty="0">
                <a:solidFill>
                  <a:srgbClr val="1E2F62"/>
                </a:solidFill>
                <a:latin typeface="Calibri"/>
                <a:cs typeface="Calibri"/>
              </a:rPr>
              <a:t>time </a:t>
            </a:r>
            <a:r>
              <a:rPr sz="1650" b="1" spc="114" dirty="0">
                <a:solidFill>
                  <a:srgbClr val="1E2F62"/>
                </a:solidFill>
                <a:latin typeface="Calibri"/>
                <a:cs typeface="Calibri"/>
              </a:rPr>
              <a:t>transaction</a:t>
            </a:r>
            <a:r>
              <a:rPr sz="1650" b="1" spc="-1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95" dirty="0">
                <a:solidFill>
                  <a:srgbClr val="1E2F62"/>
                </a:solidFill>
                <a:latin typeface="Calibri"/>
                <a:cs typeface="Calibri"/>
              </a:rPr>
              <a:t>monitoring.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01775" y="2006600"/>
            <a:ext cx="236854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10" dirty="0">
                <a:solidFill>
                  <a:srgbClr val="1E2F62"/>
                </a:solidFill>
                <a:latin typeface="Calibri"/>
                <a:cs typeface="Calibri"/>
              </a:rPr>
              <a:t>03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534275" y="2305049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50" y="0"/>
                </a:moveTo>
                <a:lnTo>
                  <a:pt x="0" y="0"/>
                </a:lnTo>
                <a:lnTo>
                  <a:pt x="0" y="19050"/>
                </a:lnTo>
                <a:lnTo>
                  <a:pt x="3295650" y="19050"/>
                </a:lnTo>
                <a:lnTo>
                  <a:pt x="3295650" y="0"/>
                </a:lnTo>
                <a:close/>
              </a:path>
            </a:pathLst>
          </a:custGeom>
          <a:solidFill>
            <a:srgbClr val="83C1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521575" y="2411412"/>
            <a:ext cx="2073910" cy="5492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sz="1650" b="1" spc="125" dirty="0">
                <a:solidFill>
                  <a:srgbClr val="1E2F62"/>
                </a:solidFill>
                <a:latin typeface="Calibri"/>
                <a:cs typeface="Calibri"/>
              </a:rPr>
              <a:t>Applied</a:t>
            </a:r>
            <a:r>
              <a:rPr sz="1650" b="1" spc="-2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14" dirty="0">
                <a:solidFill>
                  <a:srgbClr val="1E2F62"/>
                </a:solidFill>
                <a:latin typeface="Calibri"/>
                <a:cs typeface="Calibri"/>
              </a:rPr>
              <a:t>multi-</a:t>
            </a:r>
            <a:r>
              <a:rPr sz="1650" b="1" spc="95" dirty="0">
                <a:solidFill>
                  <a:srgbClr val="1E2F62"/>
                </a:solidFill>
                <a:latin typeface="Calibri"/>
                <a:cs typeface="Calibri"/>
              </a:rPr>
              <a:t>factor </a:t>
            </a:r>
            <a:r>
              <a:rPr sz="1650" b="1" spc="85" dirty="0">
                <a:solidFill>
                  <a:srgbClr val="1E2F62"/>
                </a:solidFill>
                <a:latin typeface="Calibri"/>
                <a:cs typeface="Calibri"/>
              </a:rPr>
              <a:t>authentication.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5353" y="3235325"/>
            <a:ext cx="24130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25" dirty="0">
                <a:solidFill>
                  <a:srgbClr val="1E2F62"/>
                </a:solidFill>
                <a:latin typeface="Calibri"/>
                <a:cs typeface="Calibri"/>
              </a:rPr>
              <a:t>04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0075" y="3533775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50" y="0"/>
                </a:moveTo>
                <a:lnTo>
                  <a:pt x="0" y="0"/>
                </a:lnTo>
                <a:lnTo>
                  <a:pt x="0" y="19050"/>
                </a:lnTo>
                <a:lnTo>
                  <a:pt x="3295650" y="19050"/>
                </a:lnTo>
                <a:lnTo>
                  <a:pt x="3295650" y="0"/>
                </a:lnTo>
                <a:close/>
              </a:path>
            </a:pathLst>
          </a:custGeom>
          <a:solidFill>
            <a:srgbClr val="83C1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87375" y="3640137"/>
            <a:ext cx="3115310" cy="5492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sz="1650" b="1" spc="95" dirty="0">
                <a:solidFill>
                  <a:srgbClr val="1E2F62"/>
                </a:solidFill>
                <a:latin typeface="Calibri"/>
                <a:cs typeface="Calibri"/>
              </a:rPr>
              <a:t>Installed</a:t>
            </a:r>
            <a:r>
              <a:rPr sz="1650" b="1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40" dirty="0">
                <a:solidFill>
                  <a:srgbClr val="1E2F62"/>
                </a:solidFill>
                <a:latin typeface="Calibri"/>
                <a:cs typeface="Calibri"/>
              </a:rPr>
              <a:t>advanced</a:t>
            </a:r>
            <a:r>
              <a:rPr sz="1650" b="1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65" dirty="0">
                <a:solidFill>
                  <a:srgbClr val="1E2F62"/>
                </a:solidFill>
                <a:latin typeface="Calibri"/>
                <a:cs typeface="Calibri"/>
              </a:rPr>
              <a:t>firewall</a:t>
            </a:r>
            <a:r>
              <a:rPr sz="1650" b="1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10" dirty="0">
                <a:solidFill>
                  <a:srgbClr val="1E2F62"/>
                </a:solidFill>
                <a:latin typeface="Calibri"/>
                <a:cs typeface="Calibri"/>
              </a:rPr>
              <a:t>and </a:t>
            </a:r>
            <a:r>
              <a:rPr sz="1650" b="1" spc="90" dirty="0">
                <a:solidFill>
                  <a:srgbClr val="1E2F62"/>
                </a:solidFill>
                <a:latin typeface="Calibri"/>
                <a:cs typeface="Calibri"/>
              </a:rPr>
              <a:t>anti-</a:t>
            </a:r>
            <a:r>
              <a:rPr sz="1650" b="1" spc="135" dirty="0">
                <a:solidFill>
                  <a:srgbClr val="1E2F62"/>
                </a:solidFill>
                <a:latin typeface="Calibri"/>
                <a:cs typeface="Calibri"/>
              </a:rPr>
              <a:t>malware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10" dirty="0">
                <a:solidFill>
                  <a:srgbClr val="1E2F62"/>
                </a:solidFill>
                <a:latin typeface="Calibri"/>
                <a:cs typeface="Calibri"/>
              </a:rPr>
              <a:t>systems.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33939" y="3235325"/>
            <a:ext cx="23812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14" dirty="0">
                <a:solidFill>
                  <a:srgbClr val="1E2F62"/>
                </a:solidFill>
                <a:latin typeface="Calibri"/>
                <a:cs typeface="Calibri"/>
              </a:rPr>
              <a:t>05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067175" y="3533775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50" y="0"/>
                </a:moveTo>
                <a:lnTo>
                  <a:pt x="0" y="0"/>
                </a:lnTo>
                <a:lnTo>
                  <a:pt x="0" y="19050"/>
                </a:lnTo>
                <a:lnTo>
                  <a:pt x="3295650" y="19050"/>
                </a:lnTo>
                <a:lnTo>
                  <a:pt x="3295650" y="0"/>
                </a:lnTo>
                <a:close/>
              </a:path>
            </a:pathLst>
          </a:custGeom>
          <a:solidFill>
            <a:srgbClr val="83C1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054475" y="3640137"/>
            <a:ext cx="2790825" cy="5492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sz="1650" b="1" spc="165" dirty="0">
                <a:solidFill>
                  <a:srgbClr val="1E2F62"/>
                </a:solidFill>
                <a:latin typeface="Calibri"/>
                <a:cs typeface="Calibri"/>
              </a:rPr>
              <a:t>Conducted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14" dirty="0">
                <a:solidFill>
                  <a:srgbClr val="1E2F62"/>
                </a:solidFill>
                <a:latin typeface="Calibri"/>
                <a:cs typeface="Calibri"/>
              </a:rPr>
              <a:t>regular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10" dirty="0">
                <a:solidFill>
                  <a:srgbClr val="1E2F62"/>
                </a:solidFill>
                <a:latin typeface="Calibri"/>
                <a:cs typeface="Calibri"/>
              </a:rPr>
              <a:t>security </a:t>
            </a:r>
            <a:r>
              <a:rPr sz="1650" b="1" spc="80" dirty="0">
                <a:solidFill>
                  <a:srgbClr val="1E2F62"/>
                </a:solidFill>
                <a:latin typeface="Calibri"/>
                <a:cs typeface="Calibri"/>
              </a:rPr>
              <a:t>audits.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97470" y="3235325"/>
            <a:ext cx="24511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45" dirty="0">
                <a:solidFill>
                  <a:srgbClr val="1E2F62"/>
                </a:solidFill>
                <a:latin typeface="Calibri"/>
                <a:cs typeface="Calibri"/>
              </a:rPr>
              <a:t>06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534275" y="3533775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50" y="0"/>
                </a:moveTo>
                <a:lnTo>
                  <a:pt x="0" y="0"/>
                </a:lnTo>
                <a:lnTo>
                  <a:pt x="0" y="19050"/>
                </a:lnTo>
                <a:lnTo>
                  <a:pt x="3295650" y="19050"/>
                </a:lnTo>
                <a:lnTo>
                  <a:pt x="3295650" y="0"/>
                </a:lnTo>
                <a:close/>
              </a:path>
            </a:pathLst>
          </a:custGeom>
          <a:solidFill>
            <a:srgbClr val="83C1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521575" y="3640137"/>
            <a:ext cx="3192145" cy="5492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sz="1650" b="1" spc="120" dirty="0">
                <a:solidFill>
                  <a:srgbClr val="1E2F62"/>
                </a:solidFill>
                <a:latin typeface="Calibri"/>
                <a:cs typeface="Calibri"/>
              </a:rPr>
              <a:t>Provided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25" dirty="0">
                <a:solidFill>
                  <a:srgbClr val="1E2F62"/>
                </a:solidFill>
                <a:latin typeface="Calibri"/>
                <a:cs typeface="Calibri"/>
              </a:rPr>
              <a:t>cybersecurity</a:t>
            </a:r>
            <a:r>
              <a:rPr sz="1650" b="1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95" dirty="0">
                <a:solidFill>
                  <a:srgbClr val="1E2F62"/>
                </a:solidFill>
                <a:latin typeface="Calibri"/>
                <a:cs typeface="Calibri"/>
              </a:rPr>
              <a:t>training to</a:t>
            </a:r>
            <a:r>
              <a:rPr sz="1650" b="1" spc="-5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05" dirty="0">
                <a:solidFill>
                  <a:srgbClr val="1E2F62"/>
                </a:solidFill>
                <a:latin typeface="Calibri"/>
                <a:cs typeface="Calibri"/>
              </a:rPr>
              <a:t>employees.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00075" y="4762500"/>
            <a:ext cx="10229850" cy="19050"/>
          </a:xfrm>
          <a:custGeom>
            <a:avLst/>
            <a:gdLst/>
            <a:ahLst/>
            <a:cxnLst/>
            <a:rect l="l" t="t" r="r" b="b"/>
            <a:pathLst>
              <a:path w="10229850" h="19050">
                <a:moveTo>
                  <a:pt x="10229850" y="0"/>
                </a:moveTo>
                <a:lnTo>
                  <a:pt x="0" y="0"/>
                </a:lnTo>
                <a:lnTo>
                  <a:pt x="0" y="19050"/>
                </a:lnTo>
                <a:lnTo>
                  <a:pt x="10229850" y="19050"/>
                </a:lnTo>
                <a:lnTo>
                  <a:pt x="10229850" y="0"/>
                </a:lnTo>
                <a:close/>
              </a:path>
            </a:pathLst>
          </a:custGeom>
          <a:solidFill>
            <a:srgbClr val="83C1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73531" y="4473575"/>
            <a:ext cx="4954270" cy="678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65" dirty="0">
                <a:solidFill>
                  <a:srgbClr val="1E2F62"/>
                </a:solidFill>
                <a:latin typeface="Calibri"/>
                <a:cs typeface="Calibri"/>
              </a:rPr>
              <a:t>07</a:t>
            </a:r>
            <a:endParaRPr sz="1350">
              <a:latin typeface="Calibri"/>
              <a:cs typeface="Calibri"/>
            </a:endParaRPr>
          </a:p>
          <a:p>
            <a:pPr marL="26034">
              <a:lnSpc>
                <a:spcPct val="100000"/>
              </a:lnSpc>
              <a:spcBef>
                <a:spcPts val="1530"/>
              </a:spcBef>
            </a:pPr>
            <a:r>
              <a:rPr sz="1650" b="1" spc="130" dirty="0">
                <a:solidFill>
                  <a:srgbClr val="1E2F62"/>
                </a:solidFill>
                <a:latin typeface="Calibri"/>
                <a:cs typeface="Calibri"/>
              </a:rPr>
              <a:t>Developed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10" dirty="0">
                <a:solidFill>
                  <a:srgbClr val="1E2F62"/>
                </a:solidFill>
                <a:latin typeface="Calibri"/>
                <a:cs typeface="Calibri"/>
              </a:rPr>
              <a:t>proper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14" dirty="0">
                <a:solidFill>
                  <a:srgbClr val="1E2F62"/>
                </a:solidFill>
                <a:latin typeface="Calibri"/>
                <a:cs typeface="Calibri"/>
              </a:rPr>
              <a:t>incident</a:t>
            </a:r>
            <a:r>
              <a:rPr sz="1650" b="1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35" dirty="0">
                <a:solidFill>
                  <a:srgbClr val="1E2F62"/>
                </a:solidFill>
                <a:latin typeface="Calibri"/>
                <a:cs typeface="Calibri"/>
              </a:rPr>
              <a:t>response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10" dirty="0">
                <a:solidFill>
                  <a:srgbClr val="1E2F62"/>
                </a:solidFill>
                <a:latin typeface="Calibri"/>
                <a:cs typeface="Calibri"/>
              </a:rPr>
              <a:t>procedures.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504471" y="5922855"/>
            <a:ext cx="1830705" cy="462280"/>
            <a:chOff x="9504471" y="5922855"/>
            <a:chExt cx="1830705" cy="46228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0244" y="5926074"/>
              <a:ext cx="1754504" cy="4191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9512299" y="5930684"/>
              <a:ext cx="1808480" cy="446405"/>
            </a:xfrm>
            <a:custGeom>
              <a:avLst/>
              <a:gdLst/>
              <a:ahLst/>
              <a:cxnLst/>
              <a:rect l="l" t="t" r="r" b="b"/>
              <a:pathLst>
                <a:path w="1808479" h="446404">
                  <a:moveTo>
                    <a:pt x="1808445" y="0"/>
                  </a:moveTo>
                  <a:lnTo>
                    <a:pt x="0" y="0"/>
                  </a:lnTo>
                  <a:lnTo>
                    <a:pt x="0" y="446239"/>
                  </a:lnTo>
                  <a:lnTo>
                    <a:pt x="1808445" y="446239"/>
                  </a:lnTo>
                  <a:lnTo>
                    <a:pt x="18084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512299" y="5930684"/>
              <a:ext cx="1808480" cy="446405"/>
            </a:xfrm>
            <a:custGeom>
              <a:avLst/>
              <a:gdLst/>
              <a:ahLst/>
              <a:cxnLst/>
              <a:rect l="l" t="t" r="r" b="b"/>
              <a:pathLst>
                <a:path w="1808479" h="446404">
                  <a:moveTo>
                    <a:pt x="0" y="446239"/>
                  </a:moveTo>
                  <a:lnTo>
                    <a:pt x="1808445" y="446239"/>
                  </a:lnTo>
                  <a:lnTo>
                    <a:pt x="1808445" y="0"/>
                  </a:lnTo>
                  <a:lnTo>
                    <a:pt x="0" y="0"/>
                  </a:lnTo>
                  <a:lnTo>
                    <a:pt x="0" y="446239"/>
                  </a:lnTo>
                  <a:close/>
                </a:path>
              </a:pathLst>
            </a:custGeom>
            <a:ln w="1565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73625" y="815975"/>
            <a:ext cx="3411220" cy="107696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pc="310" dirty="0"/>
              <a:t>Lessons</a:t>
            </a:r>
            <a:r>
              <a:rPr spc="-105" dirty="0"/>
              <a:t> </a:t>
            </a:r>
            <a:r>
              <a:rPr spc="240" dirty="0"/>
              <a:t>Learned</a:t>
            </a: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000" spc="125" dirty="0"/>
              <a:t>Important</a:t>
            </a:r>
            <a:r>
              <a:rPr sz="2000" spc="-45" dirty="0"/>
              <a:t> </a:t>
            </a:r>
            <a:r>
              <a:rPr sz="2000" spc="175" dirty="0"/>
              <a:t>Lessons</a:t>
            </a:r>
            <a:endParaRPr sz="2000"/>
          </a:p>
        </p:txBody>
      </p:sp>
      <p:sp>
        <p:nvSpPr>
          <p:cNvPr id="4" name="object 4"/>
          <p:cNvSpPr/>
          <p:nvPr/>
        </p:nvSpPr>
        <p:spPr>
          <a:xfrm>
            <a:off x="4886325" y="2162174"/>
            <a:ext cx="390525" cy="381000"/>
          </a:xfrm>
          <a:custGeom>
            <a:avLst/>
            <a:gdLst/>
            <a:ahLst/>
            <a:cxnLst/>
            <a:rect l="l" t="t" r="r" b="b"/>
            <a:pathLst>
              <a:path w="390525" h="381000">
                <a:moveTo>
                  <a:pt x="270383" y="0"/>
                </a:moveTo>
                <a:lnTo>
                  <a:pt x="120142" y="0"/>
                </a:lnTo>
                <a:lnTo>
                  <a:pt x="111785" y="825"/>
                </a:lnTo>
                <a:lnTo>
                  <a:pt x="71577" y="13017"/>
                </a:lnTo>
                <a:lnTo>
                  <a:pt x="31686" y="43637"/>
                </a:lnTo>
                <a:lnTo>
                  <a:pt x="6553" y="87185"/>
                </a:lnTo>
                <a:lnTo>
                  <a:pt x="0" y="120142"/>
                </a:lnTo>
                <a:lnTo>
                  <a:pt x="0" y="252412"/>
                </a:lnTo>
                <a:lnTo>
                  <a:pt x="0" y="260858"/>
                </a:lnTo>
                <a:lnTo>
                  <a:pt x="13017" y="309422"/>
                </a:lnTo>
                <a:lnTo>
                  <a:pt x="43637" y="349300"/>
                </a:lnTo>
                <a:lnTo>
                  <a:pt x="87172" y="374446"/>
                </a:lnTo>
                <a:lnTo>
                  <a:pt x="120142" y="381000"/>
                </a:lnTo>
                <a:lnTo>
                  <a:pt x="270383" y="381000"/>
                </a:lnTo>
                <a:lnTo>
                  <a:pt x="318947" y="367982"/>
                </a:lnTo>
                <a:lnTo>
                  <a:pt x="358838" y="337362"/>
                </a:lnTo>
                <a:lnTo>
                  <a:pt x="383971" y="293814"/>
                </a:lnTo>
                <a:lnTo>
                  <a:pt x="390525" y="260858"/>
                </a:lnTo>
                <a:lnTo>
                  <a:pt x="390525" y="120142"/>
                </a:lnTo>
                <a:lnTo>
                  <a:pt x="377507" y="71577"/>
                </a:lnTo>
                <a:lnTo>
                  <a:pt x="346887" y="31686"/>
                </a:lnTo>
                <a:lnTo>
                  <a:pt x="303352" y="6553"/>
                </a:lnTo>
                <a:lnTo>
                  <a:pt x="278739" y="825"/>
                </a:lnTo>
                <a:lnTo>
                  <a:pt x="270383" y="0"/>
                </a:lnTo>
                <a:close/>
              </a:path>
            </a:pathLst>
          </a:custGeom>
          <a:solidFill>
            <a:srgbClr val="CEE6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30837" y="2201862"/>
            <a:ext cx="4108450" cy="31972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20" dirty="0">
                <a:solidFill>
                  <a:srgbClr val="1E2F62"/>
                </a:solidFill>
                <a:latin typeface="Calibri"/>
                <a:cs typeface="Calibri"/>
              </a:rPr>
              <a:t>Every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05" dirty="0">
                <a:solidFill>
                  <a:srgbClr val="1E2F62"/>
                </a:solidFill>
                <a:latin typeface="Calibri"/>
                <a:cs typeface="Calibri"/>
              </a:rPr>
              <a:t>organization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50" dirty="0">
                <a:solidFill>
                  <a:srgbClr val="1E2F62"/>
                </a:solidFill>
                <a:latin typeface="Calibri"/>
                <a:cs typeface="Calibri"/>
              </a:rPr>
              <a:t>must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10" dirty="0">
                <a:solidFill>
                  <a:srgbClr val="1E2F62"/>
                </a:solidFill>
                <a:latin typeface="Calibri"/>
                <a:cs typeface="Calibri"/>
              </a:rPr>
              <a:t>plan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90" dirty="0">
                <a:solidFill>
                  <a:srgbClr val="1E2F62"/>
                </a:solidFill>
                <a:latin typeface="Calibri"/>
                <a:cs typeface="Calibri"/>
              </a:rPr>
              <a:t>in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05" dirty="0">
                <a:solidFill>
                  <a:srgbClr val="1E2F62"/>
                </a:solidFill>
                <a:latin typeface="Calibri"/>
                <a:cs typeface="Calibri"/>
              </a:rPr>
              <a:t>advance.</a:t>
            </a:r>
            <a:endParaRPr sz="1650">
              <a:latin typeface="Calibri"/>
              <a:cs typeface="Calibri"/>
            </a:endParaRPr>
          </a:p>
          <a:p>
            <a:pPr marL="12700" marR="102235">
              <a:lnSpc>
                <a:spcPct val="289800"/>
              </a:lnSpc>
              <a:spcBef>
                <a:spcPts val="40"/>
              </a:spcBef>
            </a:pPr>
            <a:r>
              <a:rPr sz="1650" b="1" spc="114" dirty="0">
                <a:solidFill>
                  <a:srgbClr val="1E2F62"/>
                </a:solidFill>
                <a:latin typeface="Calibri"/>
                <a:cs typeface="Calibri"/>
              </a:rPr>
              <a:t>Policies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20" dirty="0">
                <a:solidFill>
                  <a:srgbClr val="1E2F62"/>
                </a:solidFill>
                <a:latin typeface="Calibri"/>
                <a:cs typeface="Calibri"/>
              </a:rPr>
              <a:t>should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50" dirty="0">
                <a:solidFill>
                  <a:srgbClr val="1E2F62"/>
                </a:solidFill>
                <a:latin typeface="Calibri"/>
                <a:cs typeface="Calibri"/>
              </a:rPr>
              <a:t>be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25" dirty="0">
                <a:solidFill>
                  <a:srgbClr val="1E2F62"/>
                </a:solidFill>
                <a:latin typeface="Calibri"/>
                <a:cs typeface="Calibri"/>
              </a:rPr>
              <a:t>updated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70" dirty="0">
                <a:solidFill>
                  <a:srgbClr val="1E2F62"/>
                </a:solidFill>
                <a:latin typeface="Calibri"/>
                <a:cs typeface="Calibri"/>
              </a:rPr>
              <a:t>regularly. </a:t>
            </a:r>
            <a:r>
              <a:rPr sz="1650" b="1" spc="145" dirty="0">
                <a:solidFill>
                  <a:srgbClr val="1E2F62"/>
                </a:solidFill>
                <a:latin typeface="Calibri"/>
                <a:cs typeface="Calibri"/>
              </a:rPr>
              <a:t>Employees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45" dirty="0">
                <a:solidFill>
                  <a:srgbClr val="1E2F62"/>
                </a:solidFill>
                <a:latin typeface="Calibri"/>
                <a:cs typeface="Calibri"/>
              </a:rPr>
              <a:t>need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25" dirty="0">
                <a:solidFill>
                  <a:srgbClr val="1E2F62"/>
                </a:solidFill>
                <a:latin typeface="Calibri"/>
                <a:cs typeface="Calibri"/>
              </a:rPr>
              <a:t>cybersecurity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85" dirty="0">
                <a:solidFill>
                  <a:srgbClr val="1E2F62"/>
                </a:solidFill>
                <a:latin typeface="Calibri"/>
                <a:cs typeface="Calibri"/>
              </a:rPr>
              <a:t>training. </a:t>
            </a:r>
            <a:r>
              <a:rPr sz="1650" b="1" spc="155" dirty="0">
                <a:solidFill>
                  <a:srgbClr val="1E2F62"/>
                </a:solidFill>
                <a:latin typeface="Calibri"/>
                <a:cs typeface="Calibri"/>
              </a:rPr>
              <a:t>Strong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14" dirty="0">
                <a:solidFill>
                  <a:srgbClr val="1E2F62"/>
                </a:solidFill>
                <a:latin typeface="Calibri"/>
                <a:cs typeface="Calibri"/>
              </a:rPr>
              <a:t>monitoring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40" dirty="0">
                <a:solidFill>
                  <a:srgbClr val="1E2F62"/>
                </a:solidFill>
                <a:latin typeface="Calibri"/>
                <a:cs typeface="Calibri"/>
              </a:rPr>
              <a:t>system</a:t>
            </a:r>
            <a:r>
              <a:rPr sz="1650" b="1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95" dirty="0">
                <a:solidFill>
                  <a:srgbClr val="1E2F62"/>
                </a:solidFill>
                <a:latin typeface="Calibri"/>
                <a:cs typeface="Calibri"/>
              </a:rPr>
              <a:t>is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80" dirty="0">
                <a:solidFill>
                  <a:srgbClr val="1E2F62"/>
                </a:solidFill>
                <a:latin typeface="Calibri"/>
                <a:cs typeface="Calibri"/>
              </a:rPr>
              <a:t>required.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05"/>
              </a:spcBef>
            </a:pP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50" b="1" spc="120" dirty="0">
                <a:solidFill>
                  <a:srgbClr val="1E2F62"/>
                </a:solidFill>
                <a:latin typeface="Calibri"/>
                <a:cs typeface="Calibri"/>
              </a:rPr>
              <a:t>Vendor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20" dirty="0">
                <a:solidFill>
                  <a:srgbClr val="1E2F62"/>
                </a:solidFill>
                <a:latin typeface="Calibri"/>
                <a:cs typeface="Calibri"/>
              </a:rPr>
              <a:t>security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50" dirty="0">
                <a:solidFill>
                  <a:srgbClr val="1E2F62"/>
                </a:solidFill>
                <a:latin typeface="Calibri"/>
                <a:cs typeface="Calibri"/>
              </a:rPr>
              <a:t>must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50" dirty="0">
                <a:solidFill>
                  <a:srgbClr val="1E2F62"/>
                </a:solidFill>
                <a:latin typeface="Calibri"/>
                <a:cs typeface="Calibri"/>
              </a:rPr>
              <a:t>be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35" dirty="0">
                <a:solidFill>
                  <a:srgbClr val="1E2F62"/>
                </a:solidFill>
                <a:latin typeface="Calibri"/>
                <a:cs typeface="Calibri"/>
              </a:rPr>
              <a:t>checked.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86325" y="2886074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270383" y="0"/>
                </a:moveTo>
                <a:lnTo>
                  <a:pt x="120142" y="0"/>
                </a:lnTo>
                <a:lnTo>
                  <a:pt x="111785" y="825"/>
                </a:lnTo>
                <a:lnTo>
                  <a:pt x="71577" y="13017"/>
                </a:lnTo>
                <a:lnTo>
                  <a:pt x="31686" y="43637"/>
                </a:lnTo>
                <a:lnTo>
                  <a:pt x="6553" y="87185"/>
                </a:lnTo>
                <a:lnTo>
                  <a:pt x="0" y="120142"/>
                </a:lnTo>
                <a:lnTo>
                  <a:pt x="0" y="261937"/>
                </a:lnTo>
                <a:lnTo>
                  <a:pt x="0" y="270383"/>
                </a:lnTo>
                <a:lnTo>
                  <a:pt x="13017" y="318947"/>
                </a:lnTo>
                <a:lnTo>
                  <a:pt x="43637" y="358825"/>
                </a:lnTo>
                <a:lnTo>
                  <a:pt x="87172" y="383971"/>
                </a:lnTo>
                <a:lnTo>
                  <a:pt x="120142" y="390525"/>
                </a:lnTo>
                <a:lnTo>
                  <a:pt x="270383" y="390525"/>
                </a:lnTo>
                <a:lnTo>
                  <a:pt x="318947" y="377507"/>
                </a:lnTo>
                <a:lnTo>
                  <a:pt x="358838" y="346887"/>
                </a:lnTo>
                <a:lnTo>
                  <a:pt x="383971" y="303339"/>
                </a:lnTo>
                <a:lnTo>
                  <a:pt x="390525" y="270383"/>
                </a:lnTo>
                <a:lnTo>
                  <a:pt x="390525" y="120142"/>
                </a:lnTo>
                <a:lnTo>
                  <a:pt x="377507" y="71577"/>
                </a:lnTo>
                <a:lnTo>
                  <a:pt x="346887" y="31686"/>
                </a:lnTo>
                <a:lnTo>
                  <a:pt x="303352" y="6553"/>
                </a:lnTo>
                <a:lnTo>
                  <a:pt x="278739" y="825"/>
                </a:lnTo>
                <a:lnTo>
                  <a:pt x="270383" y="0"/>
                </a:lnTo>
                <a:close/>
              </a:path>
            </a:pathLst>
          </a:custGeom>
          <a:solidFill>
            <a:srgbClr val="CEE6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86325" y="3619500"/>
            <a:ext cx="390525" cy="381000"/>
          </a:xfrm>
          <a:custGeom>
            <a:avLst/>
            <a:gdLst/>
            <a:ahLst/>
            <a:cxnLst/>
            <a:rect l="l" t="t" r="r" b="b"/>
            <a:pathLst>
              <a:path w="390525" h="381000">
                <a:moveTo>
                  <a:pt x="270383" y="0"/>
                </a:moveTo>
                <a:lnTo>
                  <a:pt x="120142" y="0"/>
                </a:lnTo>
                <a:lnTo>
                  <a:pt x="111785" y="825"/>
                </a:lnTo>
                <a:lnTo>
                  <a:pt x="71577" y="13017"/>
                </a:lnTo>
                <a:lnTo>
                  <a:pt x="31686" y="43637"/>
                </a:lnTo>
                <a:lnTo>
                  <a:pt x="6553" y="87185"/>
                </a:lnTo>
                <a:lnTo>
                  <a:pt x="0" y="120142"/>
                </a:lnTo>
                <a:lnTo>
                  <a:pt x="0" y="252412"/>
                </a:lnTo>
                <a:lnTo>
                  <a:pt x="0" y="260858"/>
                </a:lnTo>
                <a:lnTo>
                  <a:pt x="13017" y="309422"/>
                </a:lnTo>
                <a:lnTo>
                  <a:pt x="43637" y="349300"/>
                </a:lnTo>
                <a:lnTo>
                  <a:pt x="87172" y="374446"/>
                </a:lnTo>
                <a:lnTo>
                  <a:pt x="120142" y="381000"/>
                </a:lnTo>
                <a:lnTo>
                  <a:pt x="270383" y="381000"/>
                </a:lnTo>
                <a:lnTo>
                  <a:pt x="318947" y="367982"/>
                </a:lnTo>
                <a:lnTo>
                  <a:pt x="358838" y="337362"/>
                </a:lnTo>
                <a:lnTo>
                  <a:pt x="383971" y="293814"/>
                </a:lnTo>
                <a:lnTo>
                  <a:pt x="390525" y="260858"/>
                </a:lnTo>
                <a:lnTo>
                  <a:pt x="390525" y="120142"/>
                </a:lnTo>
                <a:lnTo>
                  <a:pt x="377507" y="71577"/>
                </a:lnTo>
                <a:lnTo>
                  <a:pt x="346887" y="31686"/>
                </a:lnTo>
                <a:lnTo>
                  <a:pt x="303352" y="6553"/>
                </a:lnTo>
                <a:lnTo>
                  <a:pt x="278739" y="825"/>
                </a:lnTo>
                <a:lnTo>
                  <a:pt x="270383" y="0"/>
                </a:lnTo>
                <a:close/>
              </a:path>
            </a:pathLst>
          </a:custGeom>
          <a:solidFill>
            <a:srgbClr val="CEE6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86325" y="4343400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270383" y="0"/>
                </a:moveTo>
                <a:lnTo>
                  <a:pt x="120142" y="0"/>
                </a:lnTo>
                <a:lnTo>
                  <a:pt x="111785" y="825"/>
                </a:lnTo>
                <a:lnTo>
                  <a:pt x="71577" y="13017"/>
                </a:lnTo>
                <a:lnTo>
                  <a:pt x="31686" y="43637"/>
                </a:lnTo>
                <a:lnTo>
                  <a:pt x="6553" y="87185"/>
                </a:lnTo>
                <a:lnTo>
                  <a:pt x="0" y="120142"/>
                </a:lnTo>
                <a:lnTo>
                  <a:pt x="0" y="261937"/>
                </a:lnTo>
                <a:lnTo>
                  <a:pt x="0" y="270383"/>
                </a:lnTo>
                <a:lnTo>
                  <a:pt x="13017" y="318947"/>
                </a:lnTo>
                <a:lnTo>
                  <a:pt x="43637" y="358825"/>
                </a:lnTo>
                <a:lnTo>
                  <a:pt x="87172" y="383971"/>
                </a:lnTo>
                <a:lnTo>
                  <a:pt x="120142" y="390525"/>
                </a:lnTo>
                <a:lnTo>
                  <a:pt x="270383" y="390525"/>
                </a:lnTo>
                <a:lnTo>
                  <a:pt x="318947" y="377507"/>
                </a:lnTo>
                <a:lnTo>
                  <a:pt x="358838" y="346887"/>
                </a:lnTo>
                <a:lnTo>
                  <a:pt x="383971" y="303339"/>
                </a:lnTo>
                <a:lnTo>
                  <a:pt x="390525" y="270383"/>
                </a:lnTo>
                <a:lnTo>
                  <a:pt x="390525" y="120142"/>
                </a:lnTo>
                <a:lnTo>
                  <a:pt x="377507" y="71577"/>
                </a:lnTo>
                <a:lnTo>
                  <a:pt x="346887" y="31686"/>
                </a:lnTo>
                <a:lnTo>
                  <a:pt x="303352" y="6553"/>
                </a:lnTo>
                <a:lnTo>
                  <a:pt x="278739" y="825"/>
                </a:lnTo>
                <a:lnTo>
                  <a:pt x="270383" y="0"/>
                </a:lnTo>
                <a:close/>
              </a:path>
            </a:pathLst>
          </a:custGeom>
          <a:solidFill>
            <a:srgbClr val="CEE6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86325" y="5076825"/>
            <a:ext cx="390525" cy="381000"/>
          </a:xfrm>
          <a:custGeom>
            <a:avLst/>
            <a:gdLst/>
            <a:ahLst/>
            <a:cxnLst/>
            <a:rect l="l" t="t" r="r" b="b"/>
            <a:pathLst>
              <a:path w="390525" h="381000">
                <a:moveTo>
                  <a:pt x="270383" y="0"/>
                </a:moveTo>
                <a:lnTo>
                  <a:pt x="120142" y="0"/>
                </a:lnTo>
                <a:lnTo>
                  <a:pt x="111785" y="825"/>
                </a:lnTo>
                <a:lnTo>
                  <a:pt x="71577" y="13017"/>
                </a:lnTo>
                <a:lnTo>
                  <a:pt x="31686" y="43637"/>
                </a:lnTo>
                <a:lnTo>
                  <a:pt x="6553" y="87185"/>
                </a:lnTo>
                <a:lnTo>
                  <a:pt x="0" y="120144"/>
                </a:lnTo>
                <a:lnTo>
                  <a:pt x="0" y="252413"/>
                </a:lnTo>
                <a:lnTo>
                  <a:pt x="0" y="260856"/>
                </a:lnTo>
                <a:lnTo>
                  <a:pt x="13017" y="309418"/>
                </a:lnTo>
                <a:lnTo>
                  <a:pt x="43637" y="349305"/>
                </a:lnTo>
                <a:lnTo>
                  <a:pt x="87172" y="374442"/>
                </a:lnTo>
                <a:lnTo>
                  <a:pt x="120142" y="381001"/>
                </a:lnTo>
                <a:lnTo>
                  <a:pt x="270383" y="381001"/>
                </a:lnTo>
                <a:lnTo>
                  <a:pt x="318947" y="367978"/>
                </a:lnTo>
                <a:lnTo>
                  <a:pt x="358838" y="337364"/>
                </a:lnTo>
                <a:lnTo>
                  <a:pt x="383971" y="293817"/>
                </a:lnTo>
                <a:lnTo>
                  <a:pt x="390525" y="260856"/>
                </a:lnTo>
                <a:lnTo>
                  <a:pt x="390525" y="120144"/>
                </a:lnTo>
                <a:lnTo>
                  <a:pt x="377507" y="71577"/>
                </a:lnTo>
                <a:lnTo>
                  <a:pt x="346887" y="31686"/>
                </a:lnTo>
                <a:lnTo>
                  <a:pt x="303352" y="6553"/>
                </a:lnTo>
                <a:lnTo>
                  <a:pt x="278739" y="825"/>
                </a:lnTo>
                <a:lnTo>
                  <a:pt x="270383" y="0"/>
                </a:lnTo>
                <a:close/>
              </a:path>
            </a:pathLst>
          </a:custGeom>
          <a:solidFill>
            <a:srgbClr val="CEE6F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9529871" y="5902326"/>
            <a:ext cx="1816735" cy="469900"/>
            <a:chOff x="9529871" y="5902326"/>
            <a:chExt cx="1816735" cy="46990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537699" y="5910155"/>
              <a:ext cx="1800860" cy="454659"/>
            </a:xfrm>
            <a:custGeom>
              <a:avLst/>
              <a:gdLst/>
              <a:ahLst/>
              <a:cxnLst/>
              <a:rect l="l" t="t" r="r" b="b"/>
              <a:pathLst>
                <a:path w="1800859" h="454660">
                  <a:moveTo>
                    <a:pt x="1800616" y="0"/>
                  </a:moveTo>
                  <a:lnTo>
                    <a:pt x="0" y="0"/>
                  </a:lnTo>
                  <a:lnTo>
                    <a:pt x="0" y="454068"/>
                  </a:lnTo>
                  <a:lnTo>
                    <a:pt x="1800616" y="454068"/>
                  </a:lnTo>
                  <a:lnTo>
                    <a:pt x="1800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537699" y="5910155"/>
              <a:ext cx="1800860" cy="454659"/>
            </a:xfrm>
            <a:custGeom>
              <a:avLst/>
              <a:gdLst/>
              <a:ahLst/>
              <a:cxnLst/>
              <a:rect l="l" t="t" r="r" b="b"/>
              <a:pathLst>
                <a:path w="1800859" h="454660">
                  <a:moveTo>
                    <a:pt x="0" y="454068"/>
                  </a:moveTo>
                  <a:lnTo>
                    <a:pt x="1800616" y="454068"/>
                  </a:lnTo>
                  <a:lnTo>
                    <a:pt x="1800616" y="0"/>
                  </a:lnTo>
                  <a:lnTo>
                    <a:pt x="0" y="0"/>
                  </a:lnTo>
                  <a:lnTo>
                    <a:pt x="0" y="454068"/>
                  </a:lnTo>
                  <a:close/>
                </a:path>
              </a:pathLst>
            </a:custGeom>
            <a:ln w="1565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7375" y="682625"/>
            <a:ext cx="2310130" cy="107696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pc="265" dirty="0"/>
              <a:t>Conclusion</a:t>
            </a: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000" spc="120" dirty="0"/>
              <a:t>Final</a:t>
            </a:r>
            <a:r>
              <a:rPr sz="2000" spc="-55" dirty="0"/>
              <a:t> </a:t>
            </a:r>
            <a:r>
              <a:rPr sz="2000" spc="180" dirty="0"/>
              <a:t>Summary</a:t>
            </a:r>
            <a:endParaRPr sz="2000"/>
          </a:p>
        </p:txBody>
      </p:sp>
      <p:grpSp>
        <p:nvGrpSpPr>
          <p:cNvPr id="3" name="object 3"/>
          <p:cNvGrpSpPr/>
          <p:nvPr/>
        </p:nvGrpSpPr>
        <p:grpSpPr>
          <a:xfrm>
            <a:off x="600075" y="2028824"/>
            <a:ext cx="3295650" cy="1828800"/>
            <a:chOff x="600075" y="2028824"/>
            <a:chExt cx="3295650" cy="1828800"/>
          </a:xfrm>
        </p:grpSpPr>
        <p:sp>
          <p:nvSpPr>
            <p:cNvPr id="4" name="object 4"/>
            <p:cNvSpPr/>
            <p:nvPr/>
          </p:nvSpPr>
          <p:spPr>
            <a:xfrm>
              <a:off x="600075" y="2028824"/>
              <a:ext cx="3295650" cy="1828800"/>
            </a:xfrm>
            <a:custGeom>
              <a:avLst/>
              <a:gdLst/>
              <a:ahLst/>
              <a:cxnLst/>
              <a:rect l="l" t="t" r="r" b="b"/>
              <a:pathLst>
                <a:path w="3295650" h="1828800">
                  <a:moveTo>
                    <a:pt x="3175508" y="0"/>
                  </a:moveTo>
                  <a:lnTo>
                    <a:pt x="120144" y="0"/>
                  </a:lnTo>
                  <a:lnTo>
                    <a:pt x="111780" y="825"/>
                  </a:lnTo>
                  <a:lnTo>
                    <a:pt x="71575" y="13017"/>
                  </a:lnTo>
                  <a:lnTo>
                    <a:pt x="31690" y="43637"/>
                  </a:lnTo>
                  <a:lnTo>
                    <a:pt x="6558" y="87185"/>
                  </a:lnTo>
                  <a:lnTo>
                    <a:pt x="0" y="120142"/>
                  </a:lnTo>
                  <a:lnTo>
                    <a:pt x="0" y="1700212"/>
                  </a:lnTo>
                  <a:lnTo>
                    <a:pt x="0" y="1708658"/>
                  </a:lnTo>
                  <a:lnTo>
                    <a:pt x="13017" y="1757222"/>
                  </a:lnTo>
                  <a:lnTo>
                    <a:pt x="43630" y="1797100"/>
                  </a:lnTo>
                  <a:lnTo>
                    <a:pt x="87179" y="1822246"/>
                  </a:lnTo>
                  <a:lnTo>
                    <a:pt x="120144" y="1828800"/>
                  </a:lnTo>
                  <a:lnTo>
                    <a:pt x="3175508" y="1828800"/>
                  </a:lnTo>
                  <a:lnTo>
                    <a:pt x="3224072" y="1815782"/>
                  </a:lnTo>
                  <a:lnTo>
                    <a:pt x="3263963" y="1785162"/>
                  </a:lnTo>
                  <a:lnTo>
                    <a:pt x="3289096" y="1741614"/>
                  </a:lnTo>
                  <a:lnTo>
                    <a:pt x="3295650" y="1708658"/>
                  </a:lnTo>
                  <a:lnTo>
                    <a:pt x="3295650" y="120142"/>
                  </a:lnTo>
                  <a:lnTo>
                    <a:pt x="3282632" y="71577"/>
                  </a:lnTo>
                  <a:lnTo>
                    <a:pt x="3252012" y="31686"/>
                  </a:lnTo>
                  <a:lnTo>
                    <a:pt x="3208477" y="6553"/>
                  </a:lnTo>
                  <a:lnTo>
                    <a:pt x="3183864" y="825"/>
                  </a:lnTo>
                  <a:lnTo>
                    <a:pt x="3175508" y="0"/>
                  </a:lnTo>
                  <a:close/>
                </a:path>
              </a:pathLst>
            </a:custGeom>
            <a:solidFill>
              <a:srgbClr val="CEE6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1525" y="2200274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0"/>
                  </a:moveTo>
                  <a:lnTo>
                    <a:pt x="248751" y="0"/>
                  </a:lnTo>
                  <a:lnTo>
                    <a:pt x="240347" y="406"/>
                  </a:lnTo>
                  <a:lnTo>
                    <a:pt x="198739" y="6578"/>
                  </a:lnTo>
                  <a:lnTo>
                    <a:pt x="150976" y="22796"/>
                  </a:lnTo>
                  <a:lnTo>
                    <a:pt x="107294" y="48018"/>
                  </a:lnTo>
                  <a:lnTo>
                    <a:pt x="69368" y="81280"/>
                  </a:lnTo>
                  <a:lnTo>
                    <a:pt x="38660" y="121297"/>
                  </a:lnTo>
                  <a:lnTo>
                    <a:pt x="16351" y="166535"/>
                  </a:lnTo>
                  <a:lnTo>
                    <a:pt x="3299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83" y="315607"/>
                  </a:lnTo>
                  <a:lnTo>
                    <a:pt x="22800" y="363372"/>
                  </a:lnTo>
                  <a:lnTo>
                    <a:pt x="48022" y="407060"/>
                  </a:lnTo>
                  <a:lnTo>
                    <a:pt x="81280" y="444982"/>
                  </a:lnTo>
                  <a:lnTo>
                    <a:pt x="121300" y="475691"/>
                  </a:lnTo>
                  <a:lnTo>
                    <a:pt x="166538" y="497992"/>
                  </a:lnTo>
                  <a:lnTo>
                    <a:pt x="215265" y="511048"/>
                  </a:lnTo>
                  <a:lnTo>
                    <a:pt x="248751" y="514350"/>
                  </a:lnTo>
                  <a:lnTo>
                    <a:pt x="265598" y="514350"/>
                  </a:lnTo>
                  <a:lnTo>
                    <a:pt x="315610" y="507758"/>
                  </a:lnTo>
                  <a:lnTo>
                    <a:pt x="363373" y="491553"/>
                  </a:lnTo>
                  <a:lnTo>
                    <a:pt x="407055" y="466331"/>
                  </a:lnTo>
                  <a:lnTo>
                    <a:pt x="444981" y="433070"/>
                  </a:lnTo>
                  <a:lnTo>
                    <a:pt x="475689" y="393052"/>
                  </a:lnTo>
                  <a:lnTo>
                    <a:pt x="497998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49" y="150977"/>
                  </a:lnTo>
                  <a:lnTo>
                    <a:pt x="466328" y="107289"/>
                  </a:lnTo>
                  <a:lnTo>
                    <a:pt x="433070" y="69367"/>
                  </a:lnTo>
                  <a:lnTo>
                    <a:pt x="393049" y="38658"/>
                  </a:lnTo>
                  <a:lnTo>
                    <a:pt x="347811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8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9275" y="2351830"/>
              <a:ext cx="241676" cy="21385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58825" y="2868612"/>
            <a:ext cx="2787650" cy="8159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sz="1650" b="1" spc="140" dirty="0">
                <a:solidFill>
                  <a:srgbClr val="1E2F62"/>
                </a:solidFill>
                <a:latin typeface="Calibri"/>
                <a:cs typeface="Calibri"/>
              </a:rPr>
              <a:t>Planning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35" dirty="0">
                <a:solidFill>
                  <a:srgbClr val="1E2F62"/>
                </a:solidFill>
                <a:latin typeface="Calibri"/>
                <a:cs typeface="Calibri"/>
              </a:rPr>
              <a:t>and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05" dirty="0">
                <a:solidFill>
                  <a:srgbClr val="1E2F62"/>
                </a:solidFill>
                <a:latin typeface="Calibri"/>
                <a:cs typeface="Calibri"/>
              </a:rPr>
              <a:t>Preparation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70" dirty="0">
                <a:solidFill>
                  <a:srgbClr val="1E2F62"/>
                </a:solidFill>
                <a:latin typeface="Calibri"/>
                <a:cs typeface="Calibri"/>
              </a:rPr>
              <a:t>is </a:t>
            </a:r>
            <a:r>
              <a:rPr sz="1650" b="1" spc="125" dirty="0">
                <a:solidFill>
                  <a:srgbClr val="1E2F62"/>
                </a:solidFill>
                <a:latin typeface="Calibri"/>
                <a:cs typeface="Calibri"/>
              </a:rPr>
              <a:t>the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85" dirty="0">
                <a:solidFill>
                  <a:srgbClr val="1E2F62"/>
                </a:solidFill>
                <a:latin typeface="Calibri"/>
                <a:cs typeface="Calibri"/>
              </a:rPr>
              <a:t>first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30" dirty="0">
                <a:solidFill>
                  <a:srgbClr val="1E2F62"/>
                </a:solidFill>
                <a:latin typeface="Calibri"/>
                <a:cs typeface="Calibri"/>
              </a:rPr>
              <a:t>step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65" dirty="0">
                <a:solidFill>
                  <a:srgbClr val="1E2F62"/>
                </a:solidFill>
                <a:latin typeface="Calibri"/>
                <a:cs typeface="Calibri"/>
              </a:rPr>
              <a:t>in </a:t>
            </a:r>
            <a:r>
              <a:rPr sz="1650" b="1" spc="95" dirty="0">
                <a:solidFill>
                  <a:srgbClr val="1E2F62"/>
                </a:solidFill>
                <a:latin typeface="Calibri"/>
                <a:cs typeface="Calibri"/>
              </a:rPr>
              <a:t>cybersecurity.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67175" y="2028824"/>
            <a:ext cx="3295650" cy="1828800"/>
            <a:chOff x="4067175" y="2028824"/>
            <a:chExt cx="3295650" cy="1828800"/>
          </a:xfrm>
        </p:grpSpPr>
        <p:sp>
          <p:nvSpPr>
            <p:cNvPr id="9" name="object 9"/>
            <p:cNvSpPr/>
            <p:nvPr/>
          </p:nvSpPr>
          <p:spPr>
            <a:xfrm>
              <a:off x="4067175" y="2028824"/>
              <a:ext cx="3295650" cy="1828800"/>
            </a:xfrm>
            <a:custGeom>
              <a:avLst/>
              <a:gdLst/>
              <a:ahLst/>
              <a:cxnLst/>
              <a:rect l="l" t="t" r="r" b="b"/>
              <a:pathLst>
                <a:path w="3295650" h="1828800">
                  <a:moveTo>
                    <a:pt x="3175508" y="0"/>
                  </a:moveTo>
                  <a:lnTo>
                    <a:pt x="120142" y="0"/>
                  </a:lnTo>
                  <a:lnTo>
                    <a:pt x="111785" y="825"/>
                  </a:lnTo>
                  <a:lnTo>
                    <a:pt x="71577" y="13017"/>
                  </a:lnTo>
                  <a:lnTo>
                    <a:pt x="31686" y="43637"/>
                  </a:lnTo>
                  <a:lnTo>
                    <a:pt x="6553" y="87185"/>
                  </a:lnTo>
                  <a:lnTo>
                    <a:pt x="0" y="120142"/>
                  </a:lnTo>
                  <a:lnTo>
                    <a:pt x="0" y="1700212"/>
                  </a:lnTo>
                  <a:lnTo>
                    <a:pt x="0" y="1708658"/>
                  </a:lnTo>
                  <a:lnTo>
                    <a:pt x="13017" y="1757222"/>
                  </a:lnTo>
                  <a:lnTo>
                    <a:pt x="43637" y="1797100"/>
                  </a:lnTo>
                  <a:lnTo>
                    <a:pt x="87172" y="1822246"/>
                  </a:lnTo>
                  <a:lnTo>
                    <a:pt x="120142" y="1828800"/>
                  </a:lnTo>
                  <a:lnTo>
                    <a:pt x="3175508" y="1828800"/>
                  </a:lnTo>
                  <a:lnTo>
                    <a:pt x="3224072" y="1815782"/>
                  </a:lnTo>
                  <a:lnTo>
                    <a:pt x="3263950" y="1785162"/>
                  </a:lnTo>
                  <a:lnTo>
                    <a:pt x="3289096" y="1741614"/>
                  </a:lnTo>
                  <a:lnTo>
                    <a:pt x="3295650" y="1708658"/>
                  </a:lnTo>
                  <a:lnTo>
                    <a:pt x="3295650" y="120142"/>
                  </a:lnTo>
                  <a:lnTo>
                    <a:pt x="3282632" y="71577"/>
                  </a:lnTo>
                  <a:lnTo>
                    <a:pt x="3252012" y="31686"/>
                  </a:lnTo>
                  <a:lnTo>
                    <a:pt x="3208477" y="6553"/>
                  </a:lnTo>
                  <a:lnTo>
                    <a:pt x="3183864" y="825"/>
                  </a:lnTo>
                  <a:lnTo>
                    <a:pt x="3175508" y="0"/>
                  </a:lnTo>
                  <a:close/>
                </a:path>
              </a:pathLst>
            </a:custGeom>
            <a:solidFill>
              <a:srgbClr val="CEE6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38625" y="2200274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7992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96313" y="2338024"/>
              <a:ext cx="201805" cy="241683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225925" y="2868612"/>
            <a:ext cx="274383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30" dirty="0">
                <a:solidFill>
                  <a:srgbClr val="1E2F62"/>
                </a:solidFill>
                <a:latin typeface="Calibri"/>
                <a:cs typeface="Calibri"/>
              </a:rPr>
              <a:t>Security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14" dirty="0">
                <a:solidFill>
                  <a:srgbClr val="1E2F62"/>
                </a:solidFill>
                <a:latin typeface="Calibri"/>
                <a:cs typeface="Calibri"/>
              </a:rPr>
              <a:t>Policies</a:t>
            </a:r>
            <a:r>
              <a:rPr sz="1650" b="1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25" dirty="0">
                <a:solidFill>
                  <a:srgbClr val="1E2F62"/>
                </a:solidFill>
                <a:latin typeface="Calibri"/>
                <a:cs typeface="Calibri"/>
              </a:rPr>
              <a:t>give</a:t>
            </a:r>
            <a:r>
              <a:rPr sz="1650" b="1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75" dirty="0">
                <a:solidFill>
                  <a:srgbClr val="1E2F62"/>
                </a:solidFill>
                <a:latin typeface="Calibri"/>
                <a:cs typeface="Calibri"/>
              </a:rPr>
              <a:t>rules.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534275" y="2028824"/>
            <a:ext cx="3295650" cy="1828800"/>
            <a:chOff x="7534275" y="2028824"/>
            <a:chExt cx="3295650" cy="1828800"/>
          </a:xfrm>
        </p:grpSpPr>
        <p:sp>
          <p:nvSpPr>
            <p:cNvPr id="14" name="object 14"/>
            <p:cNvSpPr/>
            <p:nvPr/>
          </p:nvSpPr>
          <p:spPr>
            <a:xfrm>
              <a:off x="7534275" y="2028824"/>
              <a:ext cx="3295650" cy="1828800"/>
            </a:xfrm>
            <a:custGeom>
              <a:avLst/>
              <a:gdLst/>
              <a:ahLst/>
              <a:cxnLst/>
              <a:rect l="l" t="t" r="r" b="b"/>
              <a:pathLst>
                <a:path w="3295650" h="1828800">
                  <a:moveTo>
                    <a:pt x="3175508" y="0"/>
                  </a:moveTo>
                  <a:lnTo>
                    <a:pt x="120142" y="0"/>
                  </a:lnTo>
                  <a:lnTo>
                    <a:pt x="111785" y="825"/>
                  </a:lnTo>
                  <a:lnTo>
                    <a:pt x="71577" y="13017"/>
                  </a:lnTo>
                  <a:lnTo>
                    <a:pt x="31686" y="43637"/>
                  </a:lnTo>
                  <a:lnTo>
                    <a:pt x="6553" y="87185"/>
                  </a:lnTo>
                  <a:lnTo>
                    <a:pt x="0" y="120142"/>
                  </a:lnTo>
                  <a:lnTo>
                    <a:pt x="0" y="1700212"/>
                  </a:lnTo>
                  <a:lnTo>
                    <a:pt x="0" y="1708658"/>
                  </a:lnTo>
                  <a:lnTo>
                    <a:pt x="13017" y="1757222"/>
                  </a:lnTo>
                  <a:lnTo>
                    <a:pt x="43637" y="1797100"/>
                  </a:lnTo>
                  <a:lnTo>
                    <a:pt x="87172" y="1822246"/>
                  </a:lnTo>
                  <a:lnTo>
                    <a:pt x="120142" y="1828800"/>
                  </a:lnTo>
                  <a:lnTo>
                    <a:pt x="3175508" y="1828800"/>
                  </a:lnTo>
                  <a:lnTo>
                    <a:pt x="3224072" y="1815782"/>
                  </a:lnTo>
                  <a:lnTo>
                    <a:pt x="3263963" y="1785162"/>
                  </a:lnTo>
                  <a:lnTo>
                    <a:pt x="3289096" y="1741614"/>
                  </a:lnTo>
                  <a:lnTo>
                    <a:pt x="3295650" y="1708658"/>
                  </a:lnTo>
                  <a:lnTo>
                    <a:pt x="3295650" y="120142"/>
                  </a:lnTo>
                  <a:lnTo>
                    <a:pt x="3282632" y="71577"/>
                  </a:lnTo>
                  <a:lnTo>
                    <a:pt x="3252012" y="31686"/>
                  </a:lnTo>
                  <a:lnTo>
                    <a:pt x="3208477" y="6553"/>
                  </a:lnTo>
                  <a:lnTo>
                    <a:pt x="3183864" y="825"/>
                  </a:lnTo>
                  <a:lnTo>
                    <a:pt x="3175508" y="0"/>
                  </a:lnTo>
                  <a:close/>
                </a:path>
              </a:pathLst>
            </a:custGeom>
            <a:solidFill>
              <a:srgbClr val="CEE6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705725" y="2200274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7992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51543" y="2337825"/>
              <a:ext cx="225240" cy="24208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693025" y="2868612"/>
            <a:ext cx="2422525" cy="5492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sz="1650" b="1" spc="130" dirty="0">
                <a:solidFill>
                  <a:srgbClr val="1E2F62"/>
                </a:solidFill>
                <a:latin typeface="Calibri"/>
                <a:cs typeface="Calibri"/>
              </a:rPr>
              <a:t>Security</a:t>
            </a:r>
            <a:r>
              <a:rPr sz="1650" b="1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40" dirty="0">
                <a:solidFill>
                  <a:srgbClr val="1E2F62"/>
                </a:solidFill>
                <a:latin typeface="Calibri"/>
                <a:cs typeface="Calibri"/>
              </a:rPr>
              <a:t>Standards</a:t>
            </a:r>
            <a:r>
              <a:rPr sz="1650" b="1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05" dirty="0">
                <a:solidFill>
                  <a:srgbClr val="1E2F62"/>
                </a:solidFill>
                <a:latin typeface="Calibri"/>
                <a:cs typeface="Calibri"/>
              </a:rPr>
              <a:t>give </a:t>
            </a:r>
            <a:r>
              <a:rPr sz="1650" b="1" spc="125" dirty="0">
                <a:solidFill>
                  <a:srgbClr val="1E2F62"/>
                </a:solidFill>
                <a:latin typeface="Calibri"/>
                <a:cs typeface="Calibri"/>
              </a:rPr>
              <a:t>technical</a:t>
            </a:r>
            <a:r>
              <a:rPr sz="1650" b="1" spc="-3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95" dirty="0">
                <a:solidFill>
                  <a:srgbClr val="1E2F62"/>
                </a:solidFill>
                <a:latin typeface="Calibri"/>
                <a:cs typeface="Calibri"/>
              </a:rPr>
              <a:t>requirements.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00075" y="4029075"/>
            <a:ext cx="5029200" cy="1562100"/>
            <a:chOff x="600075" y="4029075"/>
            <a:chExt cx="5029200" cy="1562100"/>
          </a:xfrm>
        </p:grpSpPr>
        <p:sp>
          <p:nvSpPr>
            <p:cNvPr id="19" name="object 19"/>
            <p:cNvSpPr/>
            <p:nvPr/>
          </p:nvSpPr>
          <p:spPr>
            <a:xfrm>
              <a:off x="600075" y="4029075"/>
              <a:ext cx="5029200" cy="1562100"/>
            </a:xfrm>
            <a:custGeom>
              <a:avLst/>
              <a:gdLst/>
              <a:ahLst/>
              <a:cxnLst/>
              <a:rect l="l" t="t" r="r" b="b"/>
              <a:pathLst>
                <a:path w="5029200" h="1562100">
                  <a:moveTo>
                    <a:pt x="4909058" y="0"/>
                  </a:moveTo>
                  <a:lnTo>
                    <a:pt x="120144" y="0"/>
                  </a:lnTo>
                  <a:lnTo>
                    <a:pt x="111780" y="825"/>
                  </a:lnTo>
                  <a:lnTo>
                    <a:pt x="71575" y="13017"/>
                  </a:lnTo>
                  <a:lnTo>
                    <a:pt x="31690" y="43637"/>
                  </a:lnTo>
                  <a:lnTo>
                    <a:pt x="6558" y="87185"/>
                  </a:lnTo>
                  <a:lnTo>
                    <a:pt x="0" y="120142"/>
                  </a:lnTo>
                  <a:lnTo>
                    <a:pt x="0" y="1433513"/>
                  </a:lnTo>
                  <a:lnTo>
                    <a:pt x="0" y="1441956"/>
                  </a:lnTo>
                  <a:lnTo>
                    <a:pt x="13017" y="1490519"/>
                  </a:lnTo>
                  <a:lnTo>
                    <a:pt x="43630" y="1530405"/>
                  </a:lnTo>
                  <a:lnTo>
                    <a:pt x="87179" y="1555543"/>
                  </a:lnTo>
                  <a:lnTo>
                    <a:pt x="120144" y="1562101"/>
                  </a:lnTo>
                  <a:lnTo>
                    <a:pt x="4909058" y="1562101"/>
                  </a:lnTo>
                  <a:lnTo>
                    <a:pt x="4957622" y="1549078"/>
                  </a:lnTo>
                  <a:lnTo>
                    <a:pt x="4997513" y="1518464"/>
                  </a:lnTo>
                  <a:lnTo>
                    <a:pt x="5022646" y="1474917"/>
                  </a:lnTo>
                  <a:lnTo>
                    <a:pt x="5029200" y="1441956"/>
                  </a:lnTo>
                  <a:lnTo>
                    <a:pt x="5029200" y="120142"/>
                  </a:lnTo>
                  <a:lnTo>
                    <a:pt x="5016182" y="71577"/>
                  </a:lnTo>
                  <a:lnTo>
                    <a:pt x="4985562" y="31686"/>
                  </a:lnTo>
                  <a:lnTo>
                    <a:pt x="4942027" y="6553"/>
                  </a:lnTo>
                  <a:lnTo>
                    <a:pt x="4917414" y="825"/>
                  </a:lnTo>
                  <a:lnTo>
                    <a:pt x="4909058" y="0"/>
                  </a:lnTo>
                  <a:close/>
                </a:path>
              </a:pathLst>
            </a:custGeom>
            <a:solidFill>
              <a:srgbClr val="CEE6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71525" y="42005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0"/>
                  </a:moveTo>
                  <a:lnTo>
                    <a:pt x="248751" y="0"/>
                  </a:lnTo>
                  <a:lnTo>
                    <a:pt x="240347" y="406"/>
                  </a:lnTo>
                  <a:lnTo>
                    <a:pt x="198739" y="6578"/>
                  </a:lnTo>
                  <a:lnTo>
                    <a:pt x="150976" y="22796"/>
                  </a:lnTo>
                  <a:lnTo>
                    <a:pt x="107294" y="48018"/>
                  </a:lnTo>
                  <a:lnTo>
                    <a:pt x="69368" y="81280"/>
                  </a:lnTo>
                  <a:lnTo>
                    <a:pt x="38660" y="121297"/>
                  </a:lnTo>
                  <a:lnTo>
                    <a:pt x="16351" y="166535"/>
                  </a:lnTo>
                  <a:lnTo>
                    <a:pt x="3299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83" y="315607"/>
                  </a:lnTo>
                  <a:lnTo>
                    <a:pt x="22800" y="363372"/>
                  </a:lnTo>
                  <a:lnTo>
                    <a:pt x="48022" y="407060"/>
                  </a:lnTo>
                  <a:lnTo>
                    <a:pt x="81280" y="444982"/>
                  </a:lnTo>
                  <a:lnTo>
                    <a:pt x="121300" y="475691"/>
                  </a:lnTo>
                  <a:lnTo>
                    <a:pt x="166538" y="497992"/>
                  </a:lnTo>
                  <a:lnTo>
                    <a:pt x="215265" y="511048"/>
                  </a:lnTo>
                  <a:lnTo>
                    <a:pt x="248751" y="514350"/>
                  </a:lnTo>
                  <a:lnTo>
                    <a:pt x="265598" y="514350"/>
                  </a:lnTo>
                  <a:lnTo>
                    <a:pt x="315610" y="507758"/>
                  </a:lnTo>
                  <a:lnTo>
                    <a:pt x="363373" y="491553"/>
                  </a:lnTo>
                  <a:lnTo>
                    <a:pt x="407055" y="466331"/>
                  </a:lnTo>
                  <a:lnTo>
                    <a:pt x="444981" y="433070"/>
                  </a:lnTo>
                  <a:lnTo>
                    <a:pt x="475689" y="393052"/>
                  </a:lnTo>
                  <a:lnTo>
                    <a:pt x="497998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49" y="150977"/>
                  </a:lnTo>
                  <a:lnTo>
                    <a:pt x="466328" y="107289"/>
                  </a:lnTo>
                  <a:lnTo>
                    <a:pt x="433070" y="69367"/>
                  </a:lnTo>
                  <a:lnTo>
                    <a:pt x="393049" y="38658"/>
                  </a:lnTo>
                  <a:lnTo>
                    <a:pt x="347811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8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9481" y="4338274"/>
              <a:ext cx="181263" cy="236557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58825" y="4868862"/>
            <a:ext cx="3902075" cy="5492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sz="1650" b="1" spc="130" dirty="0">
                <a:solidFill>
                  <a:srgbClr val="1E2F62"/>
                </a:solidFill>
                <a:latin typeface="Calibri"/>
                <a:cs typeface="Calibri"/>
              </a:rPr>
              <a:t>Security</a:t>
            </a:r>
            <a:r>
              <a:rPr sz="1650" b="1" spc="-2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40" dirty="0">
                <a:solidFill>
                  <a:srgbClr val="1E2F62"/>
                </a:solidFill>
                <a:latin typeface="Calibri"/>
                <a:cs typeface="Calibri"/>
              </a:rPr>
              <a:t>Procedures</a:t>
            </a:r>
            <a:r>
              <a:rPr sz="1650" b="1" spc="-2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25" dirty="0">
                <a:solidFill>
                  <a:srgbClr val="1E2F62"/>
                </a:solidFill>
                <a:latin typeface="Calibri"/>
                <a:cs typeface="Calibri"/>
              </a:rPr>
              <a:t>give</a:t>
            </a:r>
            <a:r>
              <a:rPr sz="1650" b="1" spc="-2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30" dirty="0">
                <a:solidFill>
                  <a:srgbClr val="1E2F62"/>
                </a:solidFill>
                <a:latin typeface="Calibri"/>
                <a:cs typeface="Calibri"/>
              </a:rPr>
              <a:t>step-</a:t>
            </a:r>
            <a:r>
              <a:rPr sz="1650" b="1" spc="180" dirty="0">
                <a:solidFill>
                  <a:srgbClr val="1E2F62"/>
                </a:solidFill>
                <a:latin typeface="Calibri"/>
                <a:cs typeface="Calibri"/>
              </a:rPr>
              <a:t>by-</a:t>
            </a:r>
            <a:r>
              <a:rPr sz="1650" b="1" spc="110" dirty="0">
                <a:solidFill>
                  <a:srgbClr val="1E2F62"/>
                </a:solidFill>
                <a:latin typeface="Calibri"/>
                <a:cs typeface="Calibri"/>
              </a:rPr>
              <a:t>step </a:t>
            </a:r>
            <a:r>
              <a:rPr sz="1650" b="1" spc="95" dirty="0">
                <a:solidFill>
                  <a:srgbClr val="1E2F62"/>
                </a:solidFill>
                <a:latin typeface="Calibri"/>
                <a:cs typeface="Calibri"/>
              </a:rPr>
              <a:t>instructions.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800725" y="4029075"/>
            <a:ext cx="5029200" cy="1562100"/>
            <a:chOff x="5800725" y="4029075"/>
            <a:chExt cx="5029200" cy="1562100"/>
          </a:xfrm>
        </p:grpSpPr>
        <p:sp>
          <p:nvSpPr>
            <p:cNvPr id="24" name="object 24"/>
            <p:cNvSpPr/>
            <p:nvPr/>
          </p:nvSpPr>
          <p:spPr>
            <a:xfrm>
              <a:off x="5800725" y="4029075"/>
              <a:ext cx="5029200" cy="1562100"/>
            </a:xfrm>
            <a:custGeom>
              <a:avLst/>
              <a:gdLst/>
              <a:ahLst/>
              <a:cxnLst/>
              <a:rect l="l" t="t" r="r" b="b"/>
              <a:pathLst>
                <a:path w="5029200" h="1562100">
                  <a:moveTo>
                    <a:pt x="4909058" y="0"/>
                  </a:moveTo>
                  <a:lnTo>
                    <a:pt x="120142" y="0"/>
                  </a:lnTo>
                  <a:lnTo>
                    <a:pt x="111785" y="825"/>
                  </a:lnTo>
                  <a:lnTo>
                    <a:pt x="71577" y="13017"/>
                  </a:lnTo>
                  <a:lnTo>
                    <a:pt x="31686" y="43637"/>
                  </a:lnTo>
                  <a:lnTo>
                    <a:pt x="6553" y="87185"/>
                  </a:lnTo>
                  <a:lnTo>
                    <a:pt x="0" y="120142"/>
                  </a:lnTo>
                  <a:lnTo>
                    <a:pt x="0" y="1433513"/>
                  </a:lnTo>
                  <a:lnTo>
                    <a:pt x="0" y="1441956"/>
                  </a:lnTo>
                  <a:lnTo>
                    <a:pt x="13017" y="1490519"/>
                  </a:lnTo>
                  <a:lnTo>
                    <a:pt x="43637" y="1530405"/>
                  </a:lnTo>
                  <a:lnTo>
                    <a:pt x="87172" y="1555543"/>
                  </a:lnTo>
                  <a:lnTo>
                    <a:pt x="120142" y="1562101"/>
                  </a:lnTo>
                  <a:lnTo>
                    <a:pt x="4909058" y="1562101"/>
                  </a:lnTo>
                  <a:lnTo>
                    <a:pt x="4957622" y="1549078"/>
                  </a:lnTo>
                  <a:lnTo>
                    <a:pt x="4997513" y="1518464"/>
                  </a:lnTo>
                  <a:lnTo>
                    <a:pt x="5022646" y="1474917"/>
                  </a:lnTo>
                  <a:lnTo>
                    <a:pt x="5029200" y="1441956"/>
                  </a:lnTo>
                  <a:lnTo>
                    <a:pt x="5029200" y="120142"/>
                  </a:lnTo>
                  <a:lnTo>
                    <a:pt x="5016182" y="71577"/>
                  </a:lnTo>
                  <a:lnTo>
                    <a:pt x="4985562" y="31686"/>
                  </a:lnTo>
                  <a:lnTo>
                    <a:pt x="4942027" y="6553"/>
                  </a:lnTo>
                  <a:lnTo>
                    <a:pt x="4917414" y="825"/>
                  </a:lnTo>
                  <a:lnTo>
                    <a:pt x="4909058" y="0"/>
                  </a:lnTo>
                  <a:close/>
                </a:path>
              </a:pathLst>
            </a:custGeom>
            <a:solidFill>
              <a:srgbClr val="CEE6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72175" y="42005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78" y="393052"/>
                  </a:lnTo>
                  <a:lnTo>
                    <a:pt x="497992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58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83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9792" y="4351147"/>
              <a:ext cx="241908" cy="215734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959475" y="4868862"/>
            <a:ext cx="4471035" cy="5492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sz="1650" b="1" spc="125" dirty="0">
                <a:solidFill>
                  <a:srgbClr val="1E2F62"/>
                </a:solidFill>
                <a:latin typeface="Calibri"/>
                <a:cs typeface="Calibri"/>
              </a:rPr>
              <a:t>Without</a:t>
            </a:r>
            <a:r>
              <a:rPr sz="1650" b="1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10" dirty="0">
                <a:solidFill>
                  <a:srgbClr val="1E2F62"/>
                </a:solidFill>
                <a:latin typeface="Calibri"/>
                <a:cs typeface="Calibri"/>
              </a:rPr>
              <a:t>proper</a:t>
            </a:r>
            <a:r>
              <a:rPr sz="1650" b="1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14" dirty="0">
                <a:solidFill>
                  <a:srgbClr val="1E2F62"/>
                </a:solidFill>
                <a:latin typeface="Calibri"/>
                <a:cs typeface="Calibri"/>
              </a:rPr>
              <a:t>planning,</a:t>
            </a:r>
            <a:r>
              <a:rPr sz="1650" b="1" spc="-2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10" dirty="0">
                <a:solidFill>
                  <a:srgbClr val="1E2F62"/>
                </a:solidFill>
                <a:latin typeface="Calibri"/>
                <a:cs typeface="Calibri"/>
              </a:rPr>
              <a:t>organizations</a:t>
            </a:r>
            <a:r>
              <a:rPr sz="1650" b="1" spc="-3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05" dirty="0">
                <a:solidFill>
                  <a:srgbClr val="1E2F62"/>
                </a:solidFill>
                <a:latin typeface="Calibri"/>
                <a:cs typeface="Calibri"/>
              </a:rPr>
              <a:t>face </a:t>
            </a:r>
            <a:r>
              <a:rPr sz="1650" b="1" spc="110" dirty="0">
                <a:solidFill>
                  <a:srgbClr val="1E2F62"/>
                </a:solidFill>
                <a:latin typeface="Calibri"/>
                <a:cs typeface="Calibri"/>
              </a:rPr>
              <a:t>heavy</a:t>
            </a:r>
            <a:r>
              <a:rPr sz="1650" b="1" spc="-4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00" dirty="0">
                <a:solidFill>
                  <a:srgbClr val="1E2F62"/>
                </a:solidFill>
                <a:latin typeface="Calibri"/>
                <a:cs typeface="Calibri"/>
              </a:rPr>
              <a:t>financial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35" dirty="0">
                <a:solidFill>
                  <a:srgbClr val="1E2F62"/>
                </a:solidFill>
                <a:latin typeface="Calibri"/>
                <a:cs typeface="Calibri"/>
              </a:rPr>
              <a:t>and</a:t>
            </a:r>
            <a:r>
              <a:rPr sz="1650" b="1" spc="-45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100" dirty="0">
                <a:solidFill>
                  <a:srgbClr val="1E2F62"/>
                </a:solidFill>
                <a:latin typeface="Calibri"/>
                <a:cs typeface="Calibri"/>
              </a:rPr>
              <a:t>reputation</a:t>
            </a:r>
            <a:r>
              <a:rPr sz="1650" b="1" spc="-40" dirty="0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sz="1650" b="1" spc="75" dirty="0">
                <a:solidFill>
                  <a:srgbClr val="1E2F62"/>
                </a:solidFill>
                <a:latin typeface="Calibri"/>
                <a:cs typeface="Calibri"/>
              </a:rPr>
              <a:t>loss.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529871" y="5919897"/>
            <a:ext cx="1805305" cy="478155"/>
            <a:chOff x="9529871" y="5919897"/>
            <a:chExt cx="1805305" cy="478155"/>
          </a:xfrm>
        </p:grpSpPr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9537699" y="5927726"/>
              <a:ext cx="1784985" cy="462280"/>
            </a:xfrm>
            <a:custGeom>
              <a:avLst/>
              <a:gdLst/>
              <a:ahLst/>
              <a:cxnLst/>
              <a:rect l="l" t="t" r="r" b="b"/>
              <a:pathLst>
                <a:path w="1784984" h="462279">
                  <a:moveTo>
                    <a:pt x="1784958" y="0"/>
                  </a:moveTo>
                  <a:lnTo>
                    <a:pt x="0" y="0"/>
                  </a:lnTo>
                  <a:lnTo>
                    <a:pt x="0" y="461897"/>
                  </a:lnTo>
                  <a:lnTo>
                    <a:pt x="1784958" y="461897"/>
                  </a:lnTo>
                  <a:lnTo>
                    <a:pt x="17849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537699" y="5927726"/>
              <a:ext cx="1784985" cy="462280"/>
            </a:xfrm>
            <a:custGeom>
              <a:avLst/>
              <a:gdLst/>
              <a:ahLst/>
              <a:cxnLst/>
              <a:rect l="l" t="t" r="r" b="b"/>
              <a:pathLst>
                <a:path w="1784984" h="462279">
                  <a:moveTo>
                    <a:pt x="0" y="461897"/>
                  </a:moveTo>
                  <a:lnTo>
                    <a:pt x="1784958" y="461897"/>
                  </a:lnTo>
                  <a:lnTo>
                    <a:pt x="1784958" y="0"/>
                  </a:lnTo>
                  <a:lnTo>
                    <a:pt x="0" y="0"/>
                  </a:lnTo>
                  <a:lnTo>
                    <a:pt x="0" y="461897"/>
                  </a:lnTo>
                  <a:close/>
                </a:path>
              </a:pathLst>
            </a:custGeom>
            <a:ln w="1565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672</Words>
  <Application>Microsoft Office PowerPoint</Application>
  <PresentationFormat>Custom</PresentationFormat>
  <Paragraphs>146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Planning and Preparation Sub: CL (Information Security Policies and Strategies)</vt:lpstr>
      <vt:lpstr>5.1 Introduction – Planning and Preparation What is Planning in Information Security?</vt:lpstr>
      <vt:lpstr>Why Planning and Preparation is Important Key Points</vt:lpstr>
      <vt:lpstr>Main Activities in Planning</vt:lpstr>
      <vt:lpstr>What is a Security Policy? Definition</vt:lpstr>
      <vt:lpstr>Objectives of Security Policy Main Objectives</vt:lpstr>
      <vt:lpstr>Benefits of Security Policies Advantages</vt:lpstr>
      <vt:lpstr>Losses Without Security Policies Disadvantages</vt:lpstr>
      <vt:lpstr>What are Security Standards? Definition</vt:lpstr>
      <vt:lpstr>Objectives of Security Standards Main Objectives</vt:lpstr>
      <vt:lpstr>What are Security Procedures? Definition</vt:lpstr>
      <vt:lpstr>Real Life Cyber Incidents in India Case Study – Cosmos Bank Cyber Attack (2018)</vt:lpstr>
      <vt:lpstr>Losses</vt:lpstr>
      <vt:lpstr>How They Secured the System (After the Attack)</vt:lpstr>
      <vt:lpstr>Lessons Learned Important Lessons</vt:lpstr>
      <vt:lpstr>Conclusion Final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Planning and Preparation Sub: CL (Information Security Policies and Strategies)</dc:title>
  <cp:lastModifiedBy>sahil salunke</cp:lastModifiedBy>
  <cp:revision>1</cp:revision>
  <dcterms:created xsi:type="dcterms:W3CDTF">2026-02-25T06:11:34Z</dcterms:created>
  <dcterms:modified xsi:type="dcterms:W3CDTF">2026-02-28T05:42:34Z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2026-02-25T00:00:00Z</vt:filetime>
  </property>
  <property fmtid="{D5CDD505-2E9C-101B-9397-08002B2CF9AE}" pid="3" name="LastSaved">
    <vt:filetime>2026-02-25T00:00:00Z</vt:filetime>
  </property>
  <property fmtid="{D5CDD505-2E9C-101B-9397-08002B2CF9AE}" pid="4" name="Producer">
    <vt:lpwstr>iLovePDF</vt:lpwstr>
  </property>
</Properties>
</file>